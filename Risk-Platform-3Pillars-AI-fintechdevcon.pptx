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Reframe up front: this is a point of view from the field — patterns learned building risk platforms, not any one company's case study (views are my own). It's about three platform bets and why they're now the cheapest path to AI. Promise: they leave able to sequence these investments and to explain to leadership why AI is an integration, not a rewrite. ~30s.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your whole talk on one slide — walk it as a map. 15s per pillar, then land the payoff strip hard: without these seams, AI is a rewrite; with them, it's an integration. Tell them you'll take each pillar in turn and end on the AI pivot.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roadblocks, same root cause. LEFT is the familiar one (growth broke the vendor). RIGHT is the one landing in every backlog right now: 'add AI everywhere' with no clean data and no seam to insert it. Land the italic line: you optimized for today's answer, not tomorrow's integrations. That framing sets up all three pillars.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Slow down — this is the spine. Engine vs platform. A model is transient, a vendor is replaceable; the platform compounds. Everything after this is unpacking the three things that make a platform. If they remember one slide, this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Quick beat. Pillar one: configurable workflow management. One line to say out loud: 'the goal is to change risk policy without a code deploy.' Note the AI thread at the bottom — plant it now, pay it off on slide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concrete one. Contrast hardcoded flow (every change = deploy + risk review) with workflow-as-config. Walk the YAML briefly — states, transitions, SLA, the emitted event, the guards. The point isn't the syntax; it's that a risk analyst changes this safely, versioned, no engineer in the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Land the reframe: a workflow engine is really a human-AND-agent orchestrator. The third card is the AI payoff — an agent step and a human-review step are just more states. The engine already routes, guards, and audits them. This is why the config investment pays off twice.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Beat. Pillar two: standardize data early. Say it plainly — 'this is the least glamorous slide and the highest-leverage decision in the talk.' Plant the AI thread: canonical data IS the training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Make the pain visceral. Point at the tangle: every source wired to every consumer is N×M, and it gets worse with every addition. This is where most in-house risk platforms quietly drown. Don't over-explain the diagram — the mess is the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fix, visually: one canonical model in the middle. Each source maps once, each consumer reads once. N×M collapses to N+M. Emphasize point-in-time correctness and versioning — that's what makes it trustworthy for both decisions and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compounding argument — this is the slide to sell to leadership. New source in days, new consumer reads one contract, quality solved once. Then the AI row: no canonical data, no AI. The hardest prerequisite is already done if you standardized early. Linger on that last 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Beat. Pillar three: scalable, extensible architecture — event-driven, microservices, micro-frontends. One line: 'this is what makes future integrations subscribe, not rewire.' Plant the AI thread: swap in an LLM service behind the same contract.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Events are the contract. Producers publish facts; consumers subscribe; nothing calls anything directly. The money phrase: 'subscribe, don't rewire.' A model, a report, an agent all tap the same stream and adding one touches nobody else. Replay = audit trail + rebuild button.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Bounded contexts along risk domains, each independently deployable and scalable. The key line for the AI thread: stable contract at the edge means you can swap rules → ML → LLM behind it without the platform noticing. Keep this crisp; don't rathole on service granularity debates.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Extensibility all the way to the glass. The console is assembled from independently shipped UI modules. Land the AI callout explicitly: this is exactly where an AI-assist panel drops in later, no console rewrite. Short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payoff diagram for pillar three — trace it: sources → canonical model → event bus; services hang off the bus; the micro-frontend console sits on top (note the ai-assist tab already has a slot); governance cross-cuts. Every box is a seam. Say: 'this is the platform — and notice how many places AI can plug in.'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climax. Go row by row, fast and confident: each bet you already justified on its own merits turns out to be an AI enabler. Data → features/training. Bus → real-time + agents. Config → human/agent in the loop. Services → swap in a model. Frontends → copilots. This is the emotional peak — let it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Make it tangible so it doesn't feel like hand-waving. Five things you can ship because the seams exist — and the sixth card is the theme: every one is governed, reversible, human-in-the-loop, landing on an existing seam. Pick one or two to expand if you have a real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Screenshot slide — say so, pause. The organizing idea: invest in seams, not features. Eight items map to the three pillars plus the AI prerequisite. This is what they paste into their team channel Monday.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Land the one-liner cleanly: build the seams — data, events, configurable flow — and the AI pivot is an integration, not a rewrite. Fast recap of the three bets, then open Q&amp;A. Seed it if quiet: 'the question I get most is where to start — happy to sequence it for your stage.'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60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100" kern="0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fintech_devcon 2026  ·  denver  ·  roadblock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8368" y="146304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Takes to Build a</a:t>
            </a:r>
            <a:endParaRPr lang="en-US" sz="4400" dirty="0"/>
          </a:p>
          <a:p>
            <a:pPr algn="l"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Production-Grade Risk Engine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85800" y="32918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platform bets — </a:t>
            </a:r>
            <a:pPr algn="l" indent="0" marL="0">
              <a:lnSpc>
                <a:spcPts val="2300"/>
              </a:lnSpc>
              <a:buNone/>
            </a:pPr>
            <a:r>
              <a:rPr lang="en-US" sz="16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configurable workflows</a:t>
            </a:r>
            <a:pPr algn="l"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ts val="2300"/>
              </a:lnSpc>
              <a:buNone/>
            </a:pPr>
            <a:r>
              <a:rPr lang="en-US" sz="16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data</a:t>
            </a:r>
            <a:pPr algn="l"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an </a:t>
            </a:r>
            <a:pPr algn="l" indent="0" marL="0">
              <a:lnSpc>
                <a:spcPts val="2300"/>
              </a:lnSpc>
              <a:buNone/>
            </a:pPr>
            <a:r>
              <a:rPr lang="en-US" sz="1600" b="1" dirty="0">
                <a:solidFill>
                  <a:srgbClr val="BC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event-driven, service-based architecture</a:t>
            </a:r>
            <a:pPr algn="l"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and why each is now your fastest path to AI.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41605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3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 practitioner's point of view — patterns from the field, not one company's playbook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4709160"/>
            <a:ext cx="6858000" cy="123444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484632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Lakshmi Narayana Rasalay
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E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Distinguished Engineer · Capital One
</a:t>
            </a:r>
            <a:pPr algn="l" indent="0" marL="0">
              <a:lnSpc>
                <a:spcPts val="2100"/>
              </a:lnSpc>
              <a:buNone/>
            </a:pPr>
            <a:r>
              <a:rPr lang="en-US" sz="1000" dirty="0">
                <a:solidFill>
                  <a:srgbClr val="5A63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views are my own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26680" y="4709160"/>
            <a:ext cx="3776472" cy="123444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01000" y="484632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000" spc="100" kern="0" dirty="0">
                <a:solidFill>
                  <a:srgbClr val="5A63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
</a:t>
            </a:r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Tuesday · 3:00 PM
</a:t>
            </a:r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Tower 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589520" y="960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build </a:t>
            </a:r>
            <a:pPr algn="r" indent="0" marL="0">
              <a:buNone/>
            </a:pPr>
            <a:r>
              <a:rPr lang="en-US" sz="1500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platform</a:t>
            </a:r>
            <a:pPr algn="r" indent="0" marL="0">
              <a:buNone/>
            </a:pPr>
            <a:r>
              <a:rPr lang="en-US" sz="150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3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risk_platform</a:t>
            </a:r>
            <a:pPr algn="l" indent="0" marL="0">
              <a:buNone/>
            </a:pPr>
            <a:r>
              <a:rPr lang="en-US" sz="900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._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fintech_devcon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00 · the thesis in one slide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investments that compound —</a:t>
            </a:r>
            <a:endParaRPr lang="en-US" sz="3000" dirty="0"/>
          </a:p>
          <a:p>
            <a:pPr algn="l" indent="0" marL="0">
              <a:lnSpc>
                <a:spcPts val="3240"/>
              </a:lnSpc>
              <a:buNone/>
            </a:pPr>
            <a:r>
              <a:rPr lang="en-US" sz="3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all pivot to AI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566160" cy="2514600"/>
          </a:xfrm>
          <a:prstGeom prst="roundRect">
            <a:avLst>
              <a:gd name="adj" fmla="val 3273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55117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04672" y="3081528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Configurable</a:t>
            </a:r>
            <a:endParaRPr lang="en-US" sz="20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04672" y="4023360"/>
            <a:ext cx="305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risk policy in config, not code — no deploy to ship a decision flow.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2331720"/>
            <a:ext cx="3566160" cy="2514600"/>
          </a:xfrm>
          <a:prstGeom prst="roundRect">
            <a:avLst>
              <a:gd name="adj" fmla="val 3273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45152" y="255117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645152" y="3081528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</a:t>
            </a:r>
            <a:endParaRPr lang="en-US" sz="20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early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45152" y="4023360"/>
            <a:ext cx="305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every disparate source once to a canonical model. N×M becomes N+M.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0" y="2331720"/>
            <a:ext cx="3566160" cy="2514600"/>
          </a:xfrm>
          <a:prstGeom prst="roundRect">
            <a:avLst>
              <a:gd name="adj" fmla="val 3273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85632" y="255117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485632" y="3081528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Event-driven,</a:t>
            </a:r>
            <a:endParaRPr lang="en-US" sz="20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service-based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485632" y="4023360"/>
            <a:ext cx="305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+ microservices + micro-frontends: future integrations are subscribe, not rewire.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120640"/>
            <a:ext cx="11091672" cy="914400"/>
          </a:xfrm>
          <a:prstGeom prst="roundRect">
            <a:avLst>
              <a:gd name="adj" fmla="val 9000"/>
            </a:avLst>
          </a:prstGeom>
          <a:solidFill>
            <a:srgbClr val="1C2230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100" b="1" spc="100" kern="0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PAYOFF   </a:t>
            </a:r>
            <a:pPr algn="l"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without these seams do an AI </a:t>
            </a:r>
            <a:pPr algn="l"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rewrite</a:t>
            </a:r>
            <a:pPr algn="l"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With them, AI is an </a:t>
            </a:r>
            <a:pPr algn="l"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2E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pPr algn="l"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3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risk_platform</a:t>
            </a:r>
            <a:pPr algn="l" indent="0" marL="0">
              <a:buNone/>
            </a:pPr>
            <a:r>
              <a:rPr lang="en-US" sz="900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._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fintech_devcon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7572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01 · the roadblock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3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built for a decision —</a:t>
            </a:r>
            <a:endParaRPr lang="en-US" sz="3400" dirty="0"/>
          </a:p>
          <a:p>
            <a:pPr algn="l" indent="0" marL="0">
              <a:lnSpc>
                <a:spcPts val="3700"/>
              </a:lnSpc>
              <a:buNone/>
            </a:pPr>
            <a:r>
              <a:rPr lang="en-US" sz="3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for change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5440680" cy="3566160"/>
          </a:xfrm>
          <a:prstGeom prst="roundRect">
            <a:avLst>
              <a:gd name="adj" fmla="val 2308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514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852928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broke the off-the-shelf stack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3520440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190500" indent="-1905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cost scaled linearly with volume</a:t>
            </a:r>
            <a:endParaRPr lang="en-US" sz="1350" dirty="0"/>
          </a:p>
          <a:p>
            <a:pPr algn="l" marL="190500" indent="-1905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Couldn't ship a fraud rule on your own clock</a:t>
            </a:r>
            <a:endParaRPr lang="en-US" sz="1350" dirty="0"/>
          </a:p>
          <a:p>
            <a:pPr algn="l" marL="190500" indent="-1905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Black-box scores you couldn't explain in an audit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99632" y="2331720"/>
            <a:ext cx="5440680" cy="3566160"/>
          </a:xfrm>
          <a:prstGeom prst="roundRect">
            <a:avLst>
              <a:gd name="adj" fmla="val 2308"/>
            </a:avLst>
          </a:prstGeom>
          <a:solidFill>
            <a:srgbClr val="1C2230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28232" y="2514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28232" y="2852928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"Add AI to everything" — by Q3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19672" y="3520440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190500" indent="-1905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clean, unified data to train or serve on</a:t>
            </a:r>
            <a:endParaRPr lang="en-US" sz="1350" dirty="0"/>
          </a:p>
          <a:p>
            <a:pPr algn="l" marL="190500" indent="-1905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seam to insert a model or an agent safely</a:t>
            </a:r>
            <a:endParaRPr lang="en-US" sz="1350" dirty="0"/>
          </a:p>
          <a:p>
            <a:pPr algn="l" marL="190500" indent="-1905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change is still a deploy and a risk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2E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root cause, twice: you optimized for today's answer instead of tomorrow's integrations.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3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risk_platform</a:t>
            </a:r>
            <a:pPr algn="l" indent="0" marL="0">
              <a:buNone/>
            </a:pPr>
            <a:r>
              <a:rPr lang="en-US" sz="900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._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fintech_devcon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7572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02 · the reframe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15544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build a risk </a:t>
            </a:r>
            <a:pPr algn="l" indent="0" marL="0">
              <a:buNone/>
            </a:pPr>
            <a:r>
              <a:rPr lang="en-US" sz="34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246888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risk </a:t>
            </a:r>
            <a:pPr algn="l" indent="0" marL="0">
              <a:buNone/>
            </a:pPr>
            <a:r>
              <a:rPr lang="en-US" sz="6000" b="1" dirty="0">
                <a:solidFill>
                  <a:srgbClr val="2E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pPr algn="l" indent="0" marL="0">
              <a:buNone/>
            </a:pPr>
            <a:r>
              <a:rPr lang="en-US" sz="6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85800" y="39776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 is transient. A vendor is replaceable. The platform — how data flows, how decisions are configured, how services compose — is the asset that compounds and outlives every model you ship.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0"/>
            <a:ext cx="3566160" cy="960120"/>
          </a:xfrm>
          <a:prstGeom prst="roundRect">
            <a:avLst>
              <a:gd name="adj" fmla="val 8571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02920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Configurable  </a:t>
            </a:r>
            <a:pPr algn="l"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 as data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89120" y="5029200"/>
            <a:ext cx="3566160" cy="960120"/>
          </a:xfrm>
          <a:prstGeom prst="roundRect">
            <a:avLst>
              <a:gd name="adj" fmla="val 8571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502920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 </a:t>
            </a:r>
            <a:pPr algn="l" indent="0" marL="0">
              <a:buNone/>
            </a:pPr>
            <a:r>
              <a:rPr lang="en-US" sz="120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as contract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0" y="5029200"/>
            <a:ext cx="3566160" cy="960120"/>
          </a:xfrm>
          <a:prstGeom prst="roundRect">
            <a:avLst>
              <a:gd name="adj" fmla="val 8571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58200" y="502920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Composable  </a:t>
            </a:r>
            <a:pPr algn="l"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 as seams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3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risk_platform</a:t>
            </a:r>
            <a:pPr algn="l" indent="0" marL="0">
              <a:buNone/>
            </a:pPr>
            <a:r>
              <a:rPr lang="en-US" sz="900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._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fintech_devcon 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7572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spc="200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pillar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4688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3291840" y="27432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Configurable</a:t>
            </a:r>
            <a:endParaRPr lang="en-US" sz="4000" dirty="0"/>
          </a:p>
          <a:p>
            <a:pPr algn="l"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Management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337560" y="39776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risk policy as versioned config — not a code deploy.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337560" y="47091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AI payoff   </a:t>
            </a:r>
            <a:pPr algn="l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config layer is where agent steps and human-in-the-loop review plug in.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3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risk_platform</a:t>
            </a:r>
            <a:pPr algn="l" indent="0" marL="0">
              <a:buNone/>
            </a:pPr>
            <a:r>
              <a:rPr lang="en-US" sz="900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._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fintech_devcon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pillar 1 · workflow-as-config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3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flow lives in config,</a:t>
            </a:r>
            <a:endParaRPr lang="en-US" sz="3400" dirty="0"/>
          </a:p>
          <a:p>
            <a:pPr algn="l" indent="0" marL="0">
              <a:lnSpc>
                <a:spcPts val="3700"/>
              </a:lnSpc>
              <a:buNone/>
            </a:pPr>
            <a:r>
              <a:rPr lang="en-US" sz="3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in application code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Hardcode a decision flow and every threshold, every new step, every jurisdiction variant is a code change, a deploy, and a risk review. Externalize it: states, transitions, SLAs, and assignees become declarative, versioned config a risk analyst can change safely.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4206240"/>
            <a:ext cx="5349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03200" indent="-203200">
              <a:lnSpc>
                <a:spcPts val="1600"/>
              </a:lnSpc>
              <a:spcAft>
                <a:spcPts val="900"/>
              </a:spcAft>
              <a:buSzPct val="100000"/>
              <a:buChar char="✓"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a policy change in minutes, not a sprint</a:t>
            </a:r>
            <a:endParaRPr lang="en-US" sz="1350" dirty="0"/>
          </a:p>
          <a:p>
            <a:pPr algn="l" marL="203200" indent="-203200">
              <a:lnSpc>
                <a:spcPts val="1600"/>
              </a:lnSpc>
              <a:spcAft>
                <a:spcPts val="900"/>
              </a:spcAft>
              <a:buSzPct val="100000"/>
              <a:buChar char="✓"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 / challenger on whole flows</a:t>
            </a:r>
            <a:endParaRPr lang="en-US" sz="1350" dirty="0"/>
          </a:p>
          <a:p>
            <a:pPr algn="l" marL="203200" indent="-203200">
              <a:lnSpc>
                <a:spcPts val="1600"/>
              </a:lnSpc>
              <a:spcAft>
                <a:spcPts val="900"/>
              </a:spcAft>
              <a:buSzPct val="100000"/>
              <a:buChar char="✓"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Per-jurisdiction variants from one engine</a:t>
            </a:r>
            <a:endParaRPr lang="en-US" sz="1350" dirty="0"/>
          </a:p>
          <a:p>
            <a:pPr algn="l" marL="203200" indent="-203200">
              <a:lnSpc>
                <a:spcPts val="1600"/>
              </a:lnSpc>
              <a:spcAft>
                <a:spcPts val="900"/>
              </a:spcAft>
              <a:buSzPct val="100000"/>
              <a:buChar char="✓"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change versioned and auditable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63640" y="1783080"/>
            <a:ext cx="5376672" cy="4160520"/>
          </a:xfrm>
          <a:prstGeom prst="roundRect">
            <a:avLst>
              <a:gd name="adj" fmla="val 1978"/>
            </a:avLst>
          </a:prstGeom>
          <a:solidFill>
            <a:srgbClr val="1C2230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19659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onboarding_review.yaml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92240" y="2331720"/>
            <a:ext cx="5029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workflow: </a:t>
            </a:r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onboarding_review
</a:t>
            </a:r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states:
</a:t>
            </a:r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screen:   </a:t>
            </a:r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on_pass: score,
</a:t>
            </a:r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on_fail: deny }
</a:t>
            </a:r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score:    </a:t>
            </a:r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threshold: </a:t>
            </a:r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0.80</a:t>
            </a:r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
</a:t>
            </a:r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on_high: review }
</a:t>
            </a:r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review:   </a:t>
            </a:r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sla_hrs: </a:t>
            </a:r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
</a:t>
            </a:r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queue: risk_ops }
</a:t>
            </a:r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decide:   </a:t>
            </a:r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emit: </a:t>
            </a:r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onboarding.decided</a:t>
            </a:r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
</a:t>
            </a:r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guards:  </a:t>
            </a:r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jurisdiction, sanctions ]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3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risk_platform</a:t>
            </a:r>
            <a:pPr algn="l" indent="0" marL="0">
              <a:buNone/>
            </a:pPr>
            <a:r>
              <a:rPr lang="en-US" sz="900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._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fintech_devcon 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7572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pillar 1 · why it pays off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3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workflow engine is a</a:t>
            </a:r>
            <a:endParaRPr lang="en-US" sz="3400" dirty="0"/>
          </a:p>
          <a:p>
            <a:pPr algn="l" indent="0" marL="0">
              <a:lnSpc>
                <a:spcPts val="3700"/>
              </a:lnSpc>
              <a:buNone/>
            </a:pPr>
            <a:r>
              <a:rPr lang="en-US" sz="3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human-and-agent orchestrator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566160" cy="3108960"/>
          </a:xfrm>
          <a:prstGeom prst="roundRect">
            <a:avLst>
              <a:gd name="adj" fmla="val 2647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587752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04672" y="3200400"/>
            <a:ext cx="30540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Analysts tune flows; engineers keep the runtime. Risk moves at the speed of config.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9120" y="2331720"/>
            <a:ext cx="3566160" cy="3108960"/>
          </a:xfrm>
          <a:prstGeom prst="roundRect">
            <a:avLst>
              <a:gd name="adj" fmla="val 2647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45152" y="2587752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45152" y="3200400"/>
            <a:ext cx="30540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transition is logged. Approvals, step-ups, and SLAs are enforced by the engine, not by convention.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0" y="2331720"/>
            <a:ext cx="3566160" cy="3108960"/>
          </a:xfrm>
          <a:prstGeom prst="roundRect">
            <a:avLst>
              <a:gd name="adj" fmla="val 2647"/>
            </a:avLst>
          </a:prstGeom>
          <a:solidFill>
            <a:srgbClr val="1C2230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85632" y="2587752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85632" y="3200400"/>
            <a:ext cx="30540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 step is just another state. A human review is just another state. The engine already knows how to route, guard, and audit both.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state: agent_triage  →  state: human_review  →  state: decide — same contract, same audit trail.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3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risk_platform</a:t>
            </a:r>
            <a:pPr algn="l" indent="0" marL="0">
              <a:buNone/>
            </a:pPr>
            <a:r>
              <a:rPr lang="en-US" sz="900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._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fintech_devcon 2026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7572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spc="200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pillar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4688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3291840" y="27432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 Data Early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337560" y="39776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every disparate source once to a canonical model.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337560" y="47091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AI payoff   </a:t>
            </a:r>
            <a:pPr algn="l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canonical data IS your training set and your real-time feature source.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3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risk_platform</a:t>
            </a:r>
            <a:pPr algn="l" indent="0" marL="0">
              <a:buNone/>
            </a:pPr>
            <a:r>
              <a:rPr lang="en-US" sz="900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._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fintech_devcon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pillar 2 · 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Disparate sources, wired point-to-point,</a:t>
            </a:r>
            <a:endParaRPr lang="en-US" sz="3000" dirty="0"/>
          </a:p>
          <a:p>
            <a:pPr algn="l" indent="0" marL="0">
              <a:lnSpc>
                <a:spcPts val="3240"/>
              </a:lnSpc>
              <a:buNone/>
            </a:pPr>
            <a:r>
              <a:rPr lang="en-US" sz="3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explode into N × 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Ledger, KYC, device, bureau, sanctions, streams — each with its own schema, cadence, and semantics. Integrate each consumer directly to each source and the wiring multiplies with every addition.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697480" y="3246120"/>
            <a:ext cx="6675120" cy="0"/>
          </a:xfrm>
          <a:prstGeom prst="line">
            <a:avLst/>
          </a:prstGeom>
          <a:noFill/>
          <a:ln w="12700">
            <a:solidFill>
              <a:srgbClr val="2D33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97480" y="3246120"/>
            <a:ext cx="6675120" cy="731520"/>
          </a:xfrm>
          <a:prstGeom prst="line">
            <a:avLst/>
          </a:prstGeom>
          <a:noFill/>
          <a:ln w="12700">
            <a:solidFill>
              <a:srgbClr val="2D33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97480" y="3246120"/>
            <a:ext cx="6675120" cy="1463040"/>
          </a:xfrm>
          <a:prstGeom prst="line">
            <a:avLst/>
          </a:prstGeom>
          <a:noFill/>
          <a:ln w="12700">
            <a:solidFill>
              <a:srgbClr val="2D33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2697480" y="3246120"/>
            <a:ext cx="6675120" cy="731520"/>
          </a:xfrm>
          <a:prstGeom prst="line">
            <a:avLst/>
          </a:prstGeom>
          <a:noFill/>
          <a:ln w="12700">
            <a:solidFill>
              <a:srgbClr val="2D33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97480" y="3977640"/>
            <a:ext cx="6675120" cy="0"/>
          </a:xfrm>
          <a:prstGeom prst="line">
            <a:avLst/>
          </a:prstGeom>
          <a:noFill/>
          <a:ln w="12700">
            <a:solidFill>
              <a:srgbClr val="2D33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97480" y="3977640"/>
            <a:ext cx="6675120" cy="1463040"/>
          </a:xfrm>
          <a:prstGeom prst="line">
            <a:avLst/>
          </a:prstGeom>
          <a:noFill/>
          <a:ln w="12700">
            <a:solidFill>
              <a:srgbClr val="2D33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2697480" y="3246120"/>
            <a:ext cx="6675120" cy="1463040"/>
          </a:xfrm>
          <a:prstGeom prst="line">
            <a:avLst/>
          </a:prstGeom>
          <a:noFill/>
          <a:ln w="12700">
            <a:solidFill>
              <a:srgbClr val="2D33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97480" y="4709160"/>
            <a:ext cx="6675120" cy="0"/>
          </a:xfrm>
          <a:prstGeom prst="line">
            <a:avLst/>
          </a:prstGeom>
          <a:noFill/>
          <a:ln w="12700">
            <a:solidFill>
              <a:srgbClr val="2D33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97480" y="4709160"/>
            <a:ext cx="6675120" cy="731520"/>
          </a:xfrm>
          <a:prstGeom prst="line">
            <a:avLst/>
          </a:prstGeom>
          <a:noFill/>
          <a:ln w="12700">
            <a:solidFill>
              <a:srgbClr val="2D33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2697480" y="3977640"/>
            <a:ext cx="6675120" cy="1463040"/>
          </a:xfrm>
          <a:prstGeom prst="line">
            <a:avLst/>
          </a:prstGeom>
          <a:noFill/>
          <a:ln w="12700">
            <a:solidFill>
              <a:srgbClr val="2D33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2697480" y="4709160"/>
            <a:ext cx="6675120" cy="731520"/>
          </a:xfrm>
          <a:prstGeom prst="line">
            <a:avLst/>
          </a:prstGeom>
          <a:noFill/>
          <a:ln w="12700">
            <a:solidFill>
              <a:srgbClr val="2D33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97480" y="5440680"/>
            <a:ext cx="6675120" cy="0"/>
          </a:xfrm>
          <a:prstGeom prst="line">
            <a:avLst/>
          </a:prstGeom>
          <a:noFill/>
          <a:ln w="12700">
            <a:solidFill>
              <a:srgbClr val="2D33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25880" y="2971800"/>
            <a:ext cx="1371600" cy="548640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25880" y="29718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ledger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372600" y="2971800"/>
            <a:ext cx="1371600" cy="548640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72600" y="29718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fraud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325880" y="3703320"/>
            <a:ext cx="1371600" cy="548640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25880" y="37033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kyc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372600" y="3703320"/>
            <a:ext cx="1371600" cy="548640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72600" y="37033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325880" y="4434840"/>
            <a:ext cx="1371600" cy="548640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25880" y="4434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bureau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372600" y="4434840"/>
            <a:ext cx="1371600" cy="548640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72600" y="4434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325880" y="5166360"/>
            <a:ext cx="1371600" cy="548640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25880" y="51663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372600" y="5166360"/>
            <a:ext cx="1371600" cy="548640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72600" y="51663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325880" y="2788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372600" y="2788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CONSUMERS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3977640"/>
            <a:ext cx="2834640" cy="914400"/>
          </a:xfrm>
          <a:prstGeom prst="roundRect">
            <a:avLst>
              <a:gd name="adj" fmla="val 9000"/>
            </a:avLst>
          </a:prstGeom>
          <a:solidFill>
            <a:srgbClr val="1C2230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39776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× M
</a:t>
            </a:r>
            <a:pPr algn="ctr" indent="0" marL="0">
              <a:lnSpc>
                <a:spcPts val="26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integrations to maintain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3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risk_platform</a:t>
            </a:r>
            <a:pPr algn="l" indent="0" marL="0">
              <a:buNone/>
            </a:pPr>
            <a:r>
              <a:rPr lang="en-US" sz="900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._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315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fintech_devcon 2026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47572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pillar 2 · the fix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 once: a canonical model</a:t>
            </a:r>
            <a:endParaRPr lang="en-US" sz="3000" dirty="0"/>
          </a:p>
          <a:p>
            <a:pPr algn="l" indent="0" marL="0">
              <a:lnSpc>
                <a:spcPts val="3240"/>
              </a:lnSpc>
              <a:buNone/>
            </a:pPr>
            <a:r>
              <a:rPr lang="en-US" sz="3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N × M into N + 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468880" y="3337560"/>
            <a:ext cx="2743200" cy="1097280"/>
          </a:xfrm>
          <a:prstGeom prst="line">
            <a:avLst/>
          </a:prstGeom>
          <a:noFill/>
          <a:ln w="12700">
            <a:solidFill>
              <a:srgbClr val="2D33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6949440" y="3337560"/>
            <a:ext cx="2743200" cy="1097280"/>
          </a:xfrm>
          <a:prstGeom prst="line">
            <a:avLst/>
          </a:prstGeom>
          <a:noFill/>
          <a:ln w="12700">
            <a:solidFill>
              <a:srgbClr val="2D33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68880" y="4069080"/>
            <a:ext cx="2743200" cy="365760"/>
          </a:xfrm>
          <a:prstGeom prst="line">
            <a:avLst/>
          </a:prstGeom>
          <a:noFill/>
          <a:ln w="12700">
            <a:solidFill>
              <a:srgbClr val="2D33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6949440" y="4069080"/>
            <a:ext cx="2743200" cy="365760"/>
          </a:xfrm>
          <a:prstGeom prst="line">
            <a:avLst/>
          </a:prstGeom>
          <a:noFill/>
          <a:ln w="12700">
            <a:solidFill>
              <a:srgbClr val="2D33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2468880" y="4434840"/>
            <a:ext cx="2743200" cy="365760"/>
          </a:xfrm>
          <a:prstGeom prst="line">
            <a:avLst/>
          </a:prstGeom>
          <a:noFill/>
          <a:ln w="12700">
            <a:solidFill>
              <a:srgbClr val="2D33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0" y="4434840"/>
            <a:ext cx="2743200" cy="365760"/>
          </a:xfrm>
          <a:prstGeom prst="line">
            <a:avLst/>
          </a:prstGeom>
          <a:noFill/>
          <a:ln w="12700">
            <a:solidFill>
              <a:srgbClr val="2D33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2468880" y="4434840"/>
            <a:ext cx="2743200" cy="1097280"/>
          </a:xfrm>
          <a:prstGeom prst="line">
            <a:avLst/>
          </a:prstGeom>
          <a:noFill/>
          <a:ln w="12700">
            <a:solidFill>
              <a:srgbClr val="2D33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4434840"/>
            <a:ext cx="2743200" cy="1097280"/>
          </a:xfrm>
          <a:prstGeom prst="line">
            <a:avLst/>
          </a:prstGeom>
          <a:noFill/>
          <a:ln w="12700">
            <a:solidFill>
              <a:srgbClr val="2D33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88720" y="3081528"/>
            <a:ext cx="1280160" cy="512064"/>
          </a:xfrm>
          <a:prstGeom prst="roundRect">
            <a:avLst>
              <a:gd name="adj" fmla="val 16071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308152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ledger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692640" y="3081528"/>
            <a:ext cx="1280160" cy="512064"/>
          </a:xfrm>
          <a:prstGeom prst="roundRect">
            <a:avLst>
              <a:gd name="adj" fmla="val 16071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0" y="308152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fraud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188720" y="3813048"/>
            <a:ext cx="1280160" cy="512064"/>
          </a:xfrm>
          <a:prstGeom prst="roundRect">
            <a:avLst>
              <a:gd name="adj" fmla="val 16071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381304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kyc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692640" y="3813048"/>
            <a:ext cx="1280160" cy="512064"/>
          </a:xfrm>
          <a:prstGeom prst="roundRect">
            <a:avLst>
              <a:gd name="adj" fmla="val 16071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92640" y="381304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188720" y="4544568"/>
            <a:ext cx="1280160" cy="512064"/>
          </a:xfrm>
          <a:prstGeom prst="roundRect">
            <a:avLst>
              <a:gd name="adj" fmla="val 16071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88720" y="454456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bureau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692640" y="4544568"/>
            <a:ext cx="1280160" cy="512064"/>
          </a:xfrm>
          <a:prstGeom prst="roundRect">
            <a:avLst>
              <a:gd name="adj" fmla="val 16071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92640" y="454456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aml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188720" y="5276088"/>
            <a:ext cx="1280160" cy="512064"/>
          </a:xfrm>
          <a:prstGeom prst="roundRect">
            <a:avLst>
              <a:gd name="adj" fmla="val 16071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88720" y="527608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692640" y="5276088"/>
            <a:ext cx="1280160" cy="512064"/>
          </a:xfrm>
          <a:prstGeom prst="roundRect">
            <a:avLst>
              <a:gd name="adj" fmla="val 16071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92640" y="527608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120640" y="3566160"/>
            <a:ext cx="1920240" cy="1737360"/>
          </a:xfrm>
          <a:prstGeom prst="roundRect">
            <a:avLst>
              <a:gd name="adj" fmla="val 4737"/>
            </a:avLst>
          </a:prstGeom>
          <a:solidFill>
            <a:srgbClr val="1C2230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3566160"/>
            <a:ext cx="1920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canonical
model
</a:t>
            </a:r>
            <a:pPr algn="ctr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schema registry</a:t>
            </a:r>
            <a:endParaRPr lang="en-US" sz="16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feature store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48640" y="5806440"/>
            <a:ext cx="11091672" cy="502920"/>
          </a:xfrm>
          <a:prstGeom prst="roundRect">
            <a:avLst>
              <a:gd name="adj" fmla="val 16364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58064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+ M  </a:t>
            </a:r>
            <a:pPr algn="l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each source once, each consumer once — point-in-time correct, versioned, and reusable by every future integration.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3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risk_platform</a:t>
            </a:r>
            <a:pPr algn="l" indent="0" marL="0">
              <a:buNone/>
            </a:pPr>
            <a:r>
              <a:rPr lang="en-US" sz="900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._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315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fintech_devcon 2026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47572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pillar 2 · the long game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Standardizing early is the highest-</a:t>
            </a:r>
            <a:endParaRPr lang="en-US" sz="3000" dirty="0"/>
          </a:p>
          <a:p>
            <a:pPr algn="l" indent="0" marL="0">
              <a:lnSpc>
                <a:spcPts val="3240"/>
              </a:lnSpc>
              <a:buNone/>
            </a:pPr>
            <a:r>
              <a:rPr lang="en-US" sz="3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compounding decision you'll make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1091672" cy="896112"/>
          </a:xfrm>
          <a:prstGeom prst="roundRect">
            <a:avLst>
              <a:gd name="adj" fmla="val 9184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286000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source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429000" y="2377440"/>
            <a:ext cx="8001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Integrates in days — map to the canonical model once, and every existing consumer gets it for free.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300984"/>
            <a:ext cx="11091672" cy="896112"/>
          </a:xfrm>
          <a:prstGeom prst="roundRect">
            <a:avLst>
              <a:gd name="adj" fmla="val 9184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300984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consumer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429000" y="3392424"/>
            <a:ext cx="8001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model, a report, an agent — all read one clean, documented contract instead of six raw feeds.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315968"/>
            <a:ext cx="11091672" cy="896112"/>
          </a:xfrm>
          <a:prstGeom prst="roundRect">
            <a:avLst>
              <a:gd name="adj" fmla="val 9184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315968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29000" y="4407408"/>
            <a:ext cx="8001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Validation, lineage, and point-in-time correctness enforced in one place, not re-solved per team.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330952"/>
            <a:ext cx="11091672" cy="896112"/>
          </a:xfrm>
          <a:prstGeom prst="roundRect">
            <a:avLst>
              <a:gd name="adj" fmla="val 9184"/>
            </a:avLst>
          </a:prstGeom>
          <a:solidFill>
            <a:srgbClr val="1C2230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5330952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AI readiness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5422392"/>
            <a:ext cx="8001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canonical data, no AI. Your standardized substrate is the training set and the real-time feature source — the single hardest prerequisite, already done.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3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risk_platform</a:t>
            </a:r>
            <a:pPr algn="l" indent="0" marL="0">
              <a:buNone/>
            </a:pPr>
            <a:r>
              <a:rPr lang="en-US" sz="900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._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fintech_devcon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7572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spc="200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pillar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4688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3291840" y="27432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Scalable, Extensible</a:t>
            </a:r>
            <a:endParaRPr lang="en-US" sz="4000" dirty="0"/>
          </a:p>
          <a:p>
            <a:pPr algn="l"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337560" y="39776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Event-driven backbone · microservices · micro-frontends.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337560" y="47091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AI payoff   </a:t>
            </a:r>
            <a:pPr algn="l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 in a model or an LLM service behind the same contract — no rewrite.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3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risk_platform</a:t>
            </a:r>
            <a:pPr algn="l" indent="0" marL="0">
              <a:buNone/>
            </a:pPr>
            <a:r>
              <a:rPr lang="en-US" sz="900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._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fintech_devcon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pillar 3 · event-driven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3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are the integration contract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Producers publish facts; consumers subscribe. Nothing calls anything directly. New capability? Add a subscriber — the producer never changes. This is what makes "future integrations are easy" true instead of aspirational.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3566160" cy="2148840"/>
          </a:xfrm>
          <a:prstGeom prst="roundRect">
            <a:avLst>
              <a:gd name="adj" fmla="val 3830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315468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D1117"/>
          </a:solidFill>
          <a:ln w="19050">
            <a:solidFill>
              <a:srgbClr val="BC8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3154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98448" y="3154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Decouple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3749040"/>
            <a:ext cx="30540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Producers and consumers evolve independently behind a stable event schema.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2880360"/>
            <a:ext cx="3566160" cy="2148840"/>
          </a:xfrm>
          <a:prstGeom prst="roundRect">
            <a:avLst>
              <a:gd name="adj" fmla="val 3830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45152" y="315468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D1117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5152" y="3154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38928" y="3154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 &amp; audit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45152" y="3749040"/>
            <a:ext cx="30540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event log is your audit trail and your rebuild button — reprocess history at will.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0" y="2880360"/>
            <a:ext cx="3566160" cy="2148840"/>
          </a:xfrm>
          <a:prstGeom prst="roundRect">
            <a:avLst>
              <a:gd name="adj" fmla="val 3830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85632" y="315468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D1117"/>
          </a:solidFill>
          <a:ln w="19050">
            <a:solidFill>
              <a:srgbClr val="BC8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85632" y="3154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979408" y="3154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Subscribe, don't rewire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85632" y="3749040"/>
            <a:ext cx="30540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fraud model, a report, an agent all tap the same stream. Adding one touches nobody else.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5394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txn.received → risk.scored → case.opened → onboarding.decided   —  each event, a seam for the next capability.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3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risk_platform</a:t>
            </a:r>
            <a:pPr algn="l" indent="0" marL="0">
              <a:buNone/>
            </a:pPr>
            <a:r>
              <a:rPr lang="en-US" sz="900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._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fintech_devcon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7572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pillar 3 · microservices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3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domains as bounded,</a:t>
            </a:r>
            <a:endParaRPr lang="en-US" sz="3400" dirty="0"/>
          </a:p>
          <a:p>
            <a:pPr algn="l" indent="0" marL="0">
              <a:lnSpc>
                <a:spcPts val="3700"/>
              </a:lnSpc>
              <a:buNone/>
            </a:pPr>
            <a:r>
              <a:rPr lang="en-US" sz="3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swappable services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the platform along risk domains, each owning its data and deployable on its own. A stable contract at the edge means you can swap a rules service for an ML service for an LLM service — without the rest of the platform noticing.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2057400" cy="1737360"/>
          </a:xfrm>
          <a:prstGeom prst="roundRect">
            <a:avLst>
              <a:gd name="adj" fmla="val 4737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1546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3639312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 &amp; publish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807208" y="2926080"/>
            <a:ext cx="2057400" cy="1737360"/>
          </a:xfrm>
          <a:prstGeom prst="roundRect">
            <a:avLst>
              <a:gd name="adj" fmla="val 4737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44368" y="31546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enrichment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944368" y="3639312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on demand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65776" y="2926080"/>
            <a:ext cx="2057400" cy="1737360"/>
          </a:xfrm>
          <a:prstGeom prst="roundRect">
            <a:avLst>
              <a:gd name="adj" fmla="val 4737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02936" y="31546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decisioning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202936" y="3639312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+ model + policy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24344" y="2926080"/>
            <a:ext cx="2057400" cy="1737360"/>
          </a:xfrm>
          <a:prstGeom prst="roundRect">
            <a:avLst>
              <a:gd name="adj" fmla="val 4737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61504" y="31546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case-mgmt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461504" y="3639312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queues &amp; dispositions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582912" y="2926080"/>
            <a:ext cx="2057400" cy="1737360"/>
          </a:xfrm>
          <a:prstGeom prst="roundRect">
            <a:avLst>
              <a:gd name="adj" fmla="val 4737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20072" y="31546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720072" y="3639312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 &amp; webhooks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5074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2E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deploy · independent scale · clear ownership · implementation-agnostic behind the contract.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3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risk_platform</a:t>
            </a:r>
            <a:pPr algn="l" indent="0" marL="0">
              <a:buNone/>
            </a:pPr>
            <a:r>
              <a:rPr lang="en-US" sz="900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._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fintech_devcon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7572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pillar 3 · micro-frontends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3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console composes, too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analyst and ops experience is assembled from independently shipped UI modules on one shell. Teams own their surface end to end; a new tool drops into the console without a coordinated release — the same extensibility, all the way to the glass.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2120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this is exactly where an AI-assist panel lands later, without touching the rest of the console.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63640" y="1783080"/>
            <a:ext cx="5376672" cy="4160520"/>
          </a:xfrm>
          <a:prstGeom prst="roundRect">
            <a:avLst>
              <a:gd name="adj" fmla="val 1978"/>
            </a:avLst>
          </a:prstGeom>
          <a:solidFill>
            <a:srgbClr val="1C2230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19385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3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risk-console  ·  shell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92240" y="2377440"/>
            <a:ext cx="2487168" cy="1481328"/>
          </a:xfrm>
          <a:prstGeom prst="roundRect">
            <a:avLst>
              <a:gd name="adj" fmla="val 5556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56832" y="2523744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queue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656832" y="283464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3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144000" y="2377440"/>
            <a:ext cx="2487168" cy="1481328"/>
          </a:xfrm>
          <a:prstGeom prst="roundRect">
            <a:avLst>
              <a:gd name="adj" fmla="val 5556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08592" y="2523744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detail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308592" y="283464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3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92240" y="4023360"/>
            <a:ext cx="2487168" cy="1481328"/>
          </a:xfrm>
          <a:prstGeom prst="roundRect">
            <a:avLst>
              <a:gd name="adj" fmla="val 5556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56832" y="4169664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 editor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656832" y="448056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3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144000" y="4023360"/>
            <a:ext cx="2487168" cy="1481328"/>
          </a:xfrm>
          <a:prstGeom prst="roundRect">
            <a:avLst>
              <a:gd name="adj" fmla="val 5556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08592" y="4169664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308592" y="448056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3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3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risk_platform</a:t>
            </a:r>
            <a:pPr algn="l" indent="0" marL="0">
              <a:buNone/>
            </a:pPr>
            <a:r>
              <a:rPr lang="en-US" sz="900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._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fintech_devcon 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7572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pillar 3 · assembled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3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platform, built from seams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1C2230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642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MICRO-FRONTEND CONSOLE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1975104" cy="329184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65960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80944" y="1965960"/>
            <a:ext cx="1975104" cy="329184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80944" y="1965960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38928" y="1965960"/>
            <a:ext cx="1975104" cy="329184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38928" y="1965960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296912" y="1965960"/>
            <a:ext cx="1975104" cy="329184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96912" y="1965960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454896" y="1965960"/>
            <a:ext cx="1975104" cy="329184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54896" y="1965960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＋ ai-assist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743200"/>
            <a:ext cx="11091672" cy="731520"/>
          </a:xfrm>
          <a:prstGeom prst="roundRect">
            <a:avLst>
              <a:gd name="adj" fmla="val 11250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7432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  BUS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00400" y="274320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txn.received → risk.scored → case.opened → *.decided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2057400" cy="1005840"/>
          </a:xfrm>
          <a:prstGeom prst="roundRect">
            <a:avLst>
              <a:gd name="adj" fmla="val 8182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404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ingestion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77340" y="3474720"/>
            <a:ext cx="0" cy="365760"/>
          </a:xfrm>
          <a:prstGeom prst="line">
            <a:avLst/>
          </a:prstGeom>
          <a:noFill/>
          <a:ln w="12700">
            <a:solidFill>
              <a:srgbClr val="2D33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07208" y="3840480"/>
            <a:ext cx="2057400" cy="1005840"/>
          </a:xfrm>
          <a:prstGeom prst="roundRect">
            <a:avLst>
              <a:gd name="adj" fmla="val 8182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07208" y="38404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enrichment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835908" y="3474720"/>
            <a:ext cx="0" cy="365760"/>
          </a:xfrm>
          <a:prstGeom prst="line">
            <a:avLst/>
          </a:prstGeom>
          <a:noFill/>
          <a:ln w="12700">
            <a:solidFill>
              <a:srgbClr val="2D33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65776" y="3840480"/>
            <a:ext cx="2057400" cy="1005840"/>
          </a:xfrm>
          <a:prstGeom prst="roundRect">
            <a:avLst>
              <a:gd name="adj" fmla="val 8182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65776" y="38404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decisioning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094476" y="3474720"/>
            <a:ext cx="0" cy="365760"/>
          </a:xfrm>
          <a:prstGeom prst="line">
            <a:avLst/>
          </a:prstGeom>
          <a:noFill/>
          <a:ln w="12700">
            <a:solidFill>
              <a:srgbClr val="2D33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24344" y="3840480"/>
            <a:ext cx="2057400" cy="1005840"/>
          </a:xfrm>
          <a:prstGeom prst="roundRect">
            <a:avLst>
              <a:gd name="adj" fmla="val 8182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24344" y="38404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case-mgmt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353044" y="3474720"/>
            <a:ext cx="0" cy="365760"/>
          </a:xfrm>
          <a:prstGeom prst="line">
            <a:avLst/>
          </a:prstGeom>
          <a:noFill/>
          <a:ln w="12700">
            <a:solidFill>
              <a:srgbClr val="2D333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82912" y="3840480"/>
            <a:ext cx="2057400" cy="1005840"/>
          </a:xfrm>
          <a:prstGeom prst="roundRect">
            <a:avLst>
              <a:gd name="adj" fmla="val 8182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82912" y="38404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notify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10611612" y="3474720"/>
            <a:ext cx="0" cy="365760"/>
          </a:xfrm>
          <a:prstGeom prst="line">
            <a:avLst/>
          </a:prstGeom>
          <a:noFill/>
          <a:ln w="12700">
            <a:solidFill>
              <a:srgbClr val="2D333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5166360"/>
            <a:ext cx="8138160" cy="777240"/>
          </a:xfrm>
          <a:prstGeom prst="roundRect">
            <a:avLst>
              <a:gd name="adj" fmla="val 10588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516636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  </a:t>
            </a:r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ledger · kyc · bureau · device · sanctions → canonical model → bus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869680" y="5166360"/>
            <a:ext cx="2770632" cy="777240"/>
          </a:xfrm>
          <a:prstGeom prst="roundRect">
            <a:avLst>
              <a:gd name="adj" fmla="val 10588"/>
            </a:avLst>
          </a:prstGeom>
          <a:solidFill>
            <a:srgbClr val="1C2230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869680" y="5166360"/>
            <a:ext cx="2770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50" spc="100" kern="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CROSS-CUTTING
</a:t>
            </a:r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· audit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3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risk_platform</a:t>
            </a:r>
            <a:pPr algn="l" indent="0" marL="0">
              <a:buNone/>
            </a:pPr>
            <a:r>
              <a:rPr lang="en-US" sz="900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._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315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fintech_devcon 2026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47572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03 · the pivot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3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one of these bets is</a:t>
            </a:r>
            <a:endParaRPr lang="en-US" sz="3400" dirty="0"/>
          </a:p>
          <a:p>
            <a:pPr algn="l" indent="0" marL="0">
              <a:lnSpc>
                <a:spcPts val="3700"/>
              </a:lnSpc>
              <a:buNone/>
            </a:pPr>
            <a:r>
              <a:rPr lang="en-US" sz="3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investment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11091672" cy="603504"/>
          </a:xfrm>
          <a:prstGeom prst="roundRect">
            <a:avLst>
              <a:gd name="adj" fmla="val 13636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331720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standardized data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611880" y="2331720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3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069080" y="2331720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sets + real-time features — the hardest AI prerequisite, already solved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035808"/>
            <a:ext cx="11091672" cy="603504"/>
          </a:xfrm>
          <a:prstGeom prst="roundRect">
            <a:avLst>
              <a:gd name="adj" fmla="val 13636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035808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event-driven bus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611880" y="3035808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3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069080" y="3035808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inference, streaming features, and agents triggered off events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739896"/>
            <a:ext cx="11091672" cy="603504"/>
          </a:xfrm>
          <a:prstGeom prst="roundRect">
            <a:avLst>
              <a:gd name="adj" fmla="val 13636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739896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configurable flows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611880" y="3739896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3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069080" y="3739896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 and agent steps drop into the same guarded state machine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443984"/>
            <a:ext cx="11091672" cy="603504"/>
          </a:xfrm>
          <a:prstGeom prst="roundRect">
            <a:avLst>
              <a:gd name="adj" fmla="val 13636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443984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microservices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611880" y="4443984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3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069080" y="4443984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 a rules service for an ML or LLM service behind the same contract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148072"/>
            <a:ext cx="11091672" cy="603504"/>
          </a:xfrm>
          <a:prstGeom prst="roundRect">
            <a:avLst>
              <a:gd name="adj" fmla="val 13636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148072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micro-frontends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611880" y="5148072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3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069080" y="5148072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copilots and AI-assist panels compose into the existing console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3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risk_platform</a:t>
            </a:r>
            <a:pPr algn="l" indent="0" marL="0">
              <a:buNone/>
            </a:pPr>
            <a:r>
              <a:rPr lang="en-US" sz="900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._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15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fintech_devcon 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7572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what you can add cheaply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3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 integration, not rewrite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566160" cy="1554480"/>
          </a:xfrm>
          <a:prstGeom prst="roundRect">
            <a:avLst>
              <a:gd name="adj" fmla="val 5294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24871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LLM-assisted casework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86384" y="294436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SAR narratives &amp; case summaries; the analyst reviews and signs off.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0" y="2286000"/>
            <a:ext cx="3566160" cy="1554480"/>
          </a:xfrm>
          <a:prstGeom prst="roundRect">
            <a:avLst>
              <a:gd name="adj" fmla="val 5294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26864" y="24871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investigation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26864" y="294436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 gathers signals across services via events, leaving a full audit trace.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0" y="2286000"/>
            <a:ext cx="3566160" cy="1554480"/>
          </a:xfrm>
          <a:prstGeom prst="roundRect">
            <a:avLst>
              <a:gd name="adj" fmla="val 5294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67344" y="24871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graph features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467344" y="294436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&amp; network signals computed inline off the event stream, not in batch.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078224"/>
            <a:ext cx="3566160" cy="1554480"/>
          </a:xfrm>
          <a:prstGeom prst="roundRect">
            <a:avLst>
              <a:gd name="adj" fmla="val 5294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42793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policy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86384" y="473659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propose workflow-config changes; humans approve before anything ships.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89120" y="4078224"/>
            <a:ext cx="3566160" cy="1554480"/>
          </a:xfrm>
          <a:prstGeom prst="roundRect">
            <a:avLst>
              <a:gd name="adj" fmla="val 5294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42793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C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copilot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26864" y="473659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AI-assist micro-frontend beside the case queue — no console rewrite.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0" y="4078224"/>
            <a:ext cx="3566160" cy="1554480"/>
          </a:xfrm>
          <a:prstGeom prst="roundRect">
            <a:avLst>
              <a:gd name="adj" fmla="val 5294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67344" y="42793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by default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67344" y="473659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one lands on an existing seam: logged, reversible, human-in-the-loop.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3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risk_platform</a:t>
            </a:r>
            <a:pPr algn="l" indent="0" marL="0">
              <a:buNone/>
            </a:pPr>
            <a:r>
              <a:rPr lang="en-US" sz="900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._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15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fintech_devcon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7572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how to start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3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 in seams, not features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94960" cy="786384"/>
          </a:xfrm>
          <a:prstGeom prst="roundRect">
            <a:avLst>
              <a:gd name="adj" fmla="val 10465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965960"/>
            <a:ext cx="457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61872" y="1965960"/>
            <a:ext cx="4480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the canonical schema before the first model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45352" y="1965960"/>
            <a:ext cx="5394960" cy="786384"/>
          </a:xfrm>
          <a:prstGeom prst="roundRect">
            <a:avLst>
              <a:gd name="adj" fmla="val 10465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965960"/>
            <a:ext cx="457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958584" y="1965960"/>
            <a:ext cx="4480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an event bus in on day one — even at low volume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935224"/>
            <a:ext cx="5394960" cy="786384"/>
          </a:xfrm>
          <a:prstGeom prst="roundRect">
            <a:avLst>
              <a:gd name="adj" fmla="val 10465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935224"/>
            <a:ext cx="457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61872" y="2935224"/>
            <a:ext cx="4480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Externalize the decision flow to versioned config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45352" y="2935224"/>
            <a:ext cx="5394960" cy="786384"/>
          </a:xfrm>
          <a:prstGeom prst="roundRect">
            <a:avLst>
              <a:gd name="adj" fmla="val 10465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2935224"/>
            <a:ext cx="457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958584" y="2935224"/>
            <a:ext cx="4480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Carve services along risk domains, stable contracts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904488"/>
            <a:ext cx="5394960" cy="786384"/>
          </a:xfrm>
          <a:prstGeom prst="roundRect">
            <a:avLst>
              <a:gd name="adj" fmla="val 10465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904488"/>
            <a:ext cx="457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61872" y="3904488"/>
            <a:ext cx="4480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console composable — micro-frontends early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45352" y="3904488"/>
            <a:ext cx="5394960" cy="786384"/>
          </a:xfrm>
          <a:prstGeom prst="roundRect">
            <a:avLst>
              <a:gd name="adj" fmla="val 10465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3904488"/>
            <a:ext cx="457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958584" y="3904488"/>
            <a:ext cx="4480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 → canary → cutover; reversible at every step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4873752"/>
            <a:ext cx="5394960" cy="786384"/>
          </a:xfrm>
          <a:prstGeom prst="roundRect">
            <a:avLst>
              <a:gd name="adj" fmla="val 10465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4873752"/>
            <a:ext cx="457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261872" y="4873752"/>
            <a:ext cx="4480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 governance &amp; audit as cross-cutting, not per-team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245352" y="4873752"/>
            <a:ext cx="5394960" cy="786384"/>
          </a:xfrm>
          <a:prstGeom prst="roundRect">
            <a:avLst>
              <a:gd name="adj" fmla="val 10465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4873752"/>
            <a:ext cx="457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958584" y="4873752"/>
            <a:ext cx="4480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clean data as the AI prerequisite it is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3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risk_platform</a:t>
            </a:r>
            <a:pPr algn="l" indent="0" marL="0">
              <a:buNone/>
            </a:pPr>
            <a:r>
              <a:rPr lang="en-US" sz="900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._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15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fintech_devcon 2026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7572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takeaway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1554480"/>
            <a:ext cx="10972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build a risk engine.
</a:t>
            </a:r>
            <a:pPr algn="l"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seams — </a:t>
            </a:r>
            <a:pPr algn="l"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2E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data, events, and configurable flow</a:t>
            </a:r>
            <a:pPr algn="l"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</a:t>
            </a:r>
            <a:endParaRPr lang="en-US" sz="3300" dirty="0"/>
          </a:p>
          <a:p>
            <a:pPr algn="l"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AI pivot becomes an </a:t>
            </a:r>
            <a:endParaRPr lang="en-US" sz="3300" dirty="0"/>
          </a:p>
          <a:p>
            <a:pPr algn="l"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2E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pPr algn="l"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a rewrite.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3977640"/>
            <a:ext cx="3566160" cy="1051560"/>
          </a:xfrm>
          <a:prstGeom prst="roundRect">
            <a:avLst>
              <a:gd name="adj" fmla="val 7826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41422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86384" y="4434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Configurable workflows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86384" y="47365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 as data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3977640"/>
            <a:ext cx="3566160" cy="1051560"/>
          </a:xfrm>
          <a:prstGeom prst="roundRect">
            <a:avLst>
              <a:gd name="adj" fmla="val 7826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26864" y="41422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26864" y="4434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data early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626864" y="47365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N×M → N+M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0" y="3977640"/>
            <a:ext cx="3566160" cy="1051560"/>
          </a:xfrm>
          <a:prstGeom prst="roundRect">
            <a:avLst>
              <a:gd name="adj" fmla="val 7826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67344" y="41422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467344" y="4434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Composable architecture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467344" y="47365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subscribe, don't rewire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349240"/>
            <a:ext cx="7498080" cy="685800"/>
          </a:xfrm>
          <a:prstGeom prst="roundRect">
            <a:avLst>
              <a:gd name="adj" fmla="val 12000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34924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Lakshmi Narayana Rasalay   </a:t>
            </a:r>
            <a:pPr algn="l" indent="0" marL="0">
              <a:buNone/>
            </a:pPr>
            <a:r>
              <a:rPr lang="en-US" sz="1200" dirty="0">
                <a:solidFill>
                  <a:srgbClr val="2E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Distinguished Engineer · Capital One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29600" y="5349240"/>
            <a:ext cx="3410712" cy="685800"/>
          </a:xfrm>
          <a:prstGeom prst="roundRect">
            <a:avLst>
              <a:gd name="adj" fmla="val 12000"/>
            </a:avLst>
          </a:prstGeom>
          <a:solidFill>
            <a:srgbClr val="1C2230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5349240"/>
            <a:ext cx="3410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Q&amp;A  </a:t>
            </a:r>
            <a:pPr algn="ctr"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Tue · 3:00 PM · Tower 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3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risk_platform</a:t>
            </a:r>
            <a:pPr algn="l" indent="0" marL="0">
              <a:buNone/>
            </a:pPr>
            <a:r>
              <a:rPr lang="en-US" sz="900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._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fintech_devcon 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7572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2026-07-28T01:46:42Z</dcterms:created>
  <dcterms:modified xsi:type="dcterms:W3CDTF">2026-07-28T01:46:42Z</dcterms:modified>
</cp:coreProperties>
</file>