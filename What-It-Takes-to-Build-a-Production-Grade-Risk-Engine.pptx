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embeddedFontLst>
    <p:embeddedFont>
      <p:font typeface="Lora"/>
      <p:regular r:id="rId201314"/>
    </p:embeddedFont>
    <p:embeddedFont>
      <p:font typeface="Lora Medium"/>
      <p:regular r:id="rId201315"/>
    </p:embeddedFont>
    <p:embeddedFont>
      <p:font typeface="Lora SemiBold"/>
      <p:regular r:id="rId201316"/>
    </p:embeddedFont>
    <p:embeddedFont>
      <p:font typeface="Lora Bold"/>
      <p:regular r:id="rId201317"/>
    </p:embeddedFont>
    <p:embeddedFont>
      <p:font typeface="Source Sans 3 ExtraLight"/>
      <p:regular r:id="rId201318"/>
    </p:embeddedFont>
    <p:embeddedFont>
      <p:font typeface="Source Sans 3 Light"/>
      <p:regular r:id="rId201319"/>
    </p:embeddedFont>
    <p:embeddedFont>
      <p:font typeface="Source Sans 3"/>
      <p:regular r:id="rId201320"/>
    </p:embeddedFont>
    <p:embeddedFont>
      <p:font typeface="Source Sans 3 Medium"/>
      <p:regular r:id="rId201321"/>
    </p:embeddedFont>
    <p:embeddedFont>
      <p:font typeface="Source Sans 3 SemiBold"/>
      <p:regular r:id="rId201322"/>
    </p:embeddedFont>
    <p:embeddedFont>
      <p:font typeface="Source Sans 3 Bold"/>
      <p:regular r:id="rId201323"/>
    </p:embeddedFont>
    <p:embeddedFont>
      <p:font typeface="Source Sans 3 ExtraBold"/>
      <p:regular r:id="rId201324"/>
    </p:embeddedFont>
    <p:embeddedFont>
      <p:font typeface="Source Sans 3 Black"/>
      <p:regular r:id="rId2013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5E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1.png"/><Relationship Id="rId8" Type="http://schemas.openxmlformats.org/officeDocument/2006/relationships/image" Target="../media/image-4-2.svg"/><Relationship Id="rId9" Type="http://schemas.openxmlformats.org/officeDocument/2006/relationships/image" Target="../media/image-4-1.png"/><Relationship Id="rId10" Type="http://schemas.openxmlformats.org/officeDocument/2006/relationships/image" Target="../media/image-4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7.png"/><Relationship Id="rId10" Type="http://schemas.openxmlformats.org/officeDocument/2006/relationships/image" Target="../media/image-10-8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1.png"/><Relationship Id="rId4" Type="http://schemas.openxmlformats.org/officeDocument/2006/relationships/image" Target="../media/image-12-2.svg"/><Relationship Id="rId5" Type="http://schemas.openxmlformats.org/officeDocument/2006/relationships/image" Target="../media/image-12-1.png"/><Relationship Id="rId6" Type="http://schemas.openxmlformats.org/officeDocument/2006/relationships/image" Target="../media/image-12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1.png"/><Relationship Id="rId4" Type="http://schemas.openxmlformats.org/officeDocument/2006/relationships/image" Target="../media/image-19-2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1.png"/><Relationship Id="rId8" Type="http://schemas.openxmlformats.org/officeDocument/2006/relationships/image" Target="../media/image-19-2.svg"/><Relationship Id="rId9" Type="http://schemas.openxmlformats.org/officeDocument/2006/relationships/image" Target="../media/image-19-1.png"/><Relationship Id="rId10" Type="http://schemas.openxmlformats.org/officeDocument/2006/relationships/image" Target="../media/image-19-2.svg"/><Relationship Id="rId11" Type="http://schemas.openxmlformats.org/officeDocument/2006/relationships/image" Target="../media/image-19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359941"/>
            <a:ext cx="8096845" cy="45544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963418"/>
            <a:ext cx="809684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What It Takes to Build a Production-Grade Risk Engine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23577" y="5204966"/>
            <a:ext cx="8554045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Lakshmi Narayana Rasalay · Distinguished Engineer, Capital One</a:t>
            </a:r>
            <a:endParaRPr lang="en-US" sz="500" dirty="0"/>
          </a:p>
        </p:txBody>
      </p:sp>
      <p:sp>
        <p:nvSpPr>
          <p:cNvPr id="5" name="Shape 2"/>
          <p:cNvSpPr/>
          <p:nvPr/>
        </p:nvSpPr>
        <p:spPr>
          <a:xfrm>
            <a:off x="523577" y="5320308"/>
            <a:ext cx="1105867" cy="99343"/>
          </a:xfrm>
          <a:prstGeom prst="roundRect">
            <a:avLst>
              <a:gd name="adj" fmla="val 7907"/>
            </a:avLst>
          </a:prstGeom>
          <a:solidFill>
            <a:srgbClr val="E2ECDF"/>
          </a:solidFill>
          <a:ln/>
        </p:spPr>
      </p:sp>
      <p:sp>
        <p:nvSpPr>
          <p:cNvPr id="6" name="Text 3"/>
          <p:cNvSpPr/>
          <p:nvPr/>
        </p:nvSpPr>
        <p:spPr>
          <a:xfrm>
            <a:off x="562794" y="5339879"/>
            <a:ext cx="1484635" cy="60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4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FINTECHDEVCON · TUESDAY 3:00 PM · TOWER D</a:t>
            </a:r>
            <a:endParaRPr lang="en-US" sz="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9295" y="382116"/>
            <a:ext cx="2814861" cy="4379268"/>
          </a:xfrm>
          <a:prstGeom prst="roundRect">
            <a:avLst>
              <a:gd name="adj" fmla="val 698"/>
            </a:avLst>
          </a:prstGeom>
          <a:solidFill>
            <a:srgbClr val="38512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189" y="529382"/>
            <a:ext cx="2553072" cy="2553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0189" y="3229719"/>
            <a:ext cx="255307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Lakshmi Narayana Rasalay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0189" y="3553123"/>
            <a:ext cx="3010272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Distinguished Engineer, Capital One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474021" y="513011"/>
            <a:ext cx="515116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About the Speaker</a:t>
            </a:r>
            <a:endParaRPr lang="en-US" sz="2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4021" y="1045220"/>
            <a:ext cx="5151165" cy="10325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76352" y="1190402"/>
            <a:ext cx="4803651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Role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676352" y="1513805"/>
            <a:ext cx="4803651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Distinguished Engineer at Capital One — focused on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application modernization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transformative platform engineering at enterprise fintech scale.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4021" y="2208684"/>
            <a:ext cx="5151165" cy="10325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76352" y="2353866"/>
            <a:ext cx="4803651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Expertise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3676352" y="2677269"/>
            <a:ext cx="4803651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AWS technologies, Artificial Intelligence, and scalable fintech architecture — building systems that process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millions of transactions monthly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sub-second decisioning.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74021" y="3372148"/>
            <a:ext cx="5151165" cy="124197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676352" y="3517329"/>
            <a:ext cx="4803651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This Talk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3676352" y="3840733"/>
            <a:ext cx="4803651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Hard lessons from designing and shipping a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production-grade, multi-layer risk management engine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covering fraud detection, credit scoring, AML monitoring, and transactional risk in a single composable platform.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12949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Vision: A Modern In-House Risk Engine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577" y="1259681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Off-the-shelf risk tools work — until they don't. At scale, they become expensive black boxes. The alternative is a </a:t>
            </a:r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purpose-built, composable risk platform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that gives you control, speed, and full transparency over every decision.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3577" y="1825749"/>
            <a:ext cx="3982938" cy="951607"/>
          </a:xfrm>
          <a:prstGeom prst="roundRect">
            <a:avLst>
              <a:gd name="adj" fmla="val 2064"/>
            </a:avLst>
          </a:prstGeom>
          <a:solidFill>
            <a:srgbClr val="F3E7D4"/>
          </a:solidFill>
          <a:ln/>
        </p:spPr>
      </p:sp>
      <p:sp>
        <p:nvSpPr>
          <p:cNvPr id="5" name="Text 3"/>
          <p:cNvSpPr/>
          <p:nvPr/>
        </p:nvSpPr>
        <p:spPr>
          <a:xfrm>
            <a:off x="654472" y="1956643"/>
            <a:ext cx="372115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Full Ownership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4472" y="2227659"/>
            <a:ext cx="3721150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vendor lock-in — you control the model, the data, and the decision logic end-to-end.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37410" y="1825749"/>
            <a:ext cx="3983013" cy="951607"/>
          </a:xfrm>
          <a:prstGeom prst="roundRect">
            <a:avLst>
              <a:gd name="adj" fmla="val 2064"/>
            </a:avLst>
          </a:prstGeom>
          <a:solidFill>
            <a:srgbClr val="F3E7D4"/>
          </a:solidFill>
          <a:ln/>
        </p:spPr>
      </p:sp>
      <p:sp>
        <p:nvSpPr>
          <p:cNvPr id="8" name="Text 6"/>
          <p:cNvSpPr/>
          <p:nvPr/>
        </p:nvSpPr>
        <p:spPr>
          <a:xfrm>
            <a:off x="4768304" y="1956643"/>
            <a:ext cx="372122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Sub-Second Latency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68304" y="2227659"/>
            <a:ext cx="3721224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decisioning across fraud detection, credit scoring, AML monitoring, and transactional risk.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23577" y="2908250"/>
            <a:ext cx="3982938" cy="951607"/>
          </a:xfrm>
          <a:prstGeom prst="roundRect">
            <a:avLst>
              <a:gd name="adj" fmla="val 2064"/>
            </a:avLst>
          </a:prstGeom>
          <a:solidFill>
            <a:srgbClr val="F3E7D4"/>
          </a:solidFill>
          <a:ln/>
        </p:spPr>
      </p:sp>
      <p:sp>
        <p:nvSpPr>
          <p:cNvPr id="11" name="Text 9"/>
          <p:cNvSpPr/>
          <p:nvPr/>
        </p:nvSpPr>
        <p:spPr>
          <a:xfrm>
            <a:off x="654472" y="3039145"/>
            <a:ext cx="372115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Regulatory Transparency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4472" y="3310161"/>
            <a:ext cx="3721150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Explainable decisions across jurisdictions — not a black box. Audit-ready by design.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37410" y="2908250"/>
            <a:ext cx="3983013" cy="951607"/>
          </a:xfrm>
          <a:prstGeom prst="roundRect">
            <a:avLst>
              <a:gd name="adj" fmla="val 2064"/>
            </a:avLst>
          </a:prstGeom>
          <a:solidFill>
            <a:srgbClr val="F3E7D4"/>
          </a:solidFill>
          <a:ln/>
        </p:spPr>
      </p:sp>
      <p:sp>
        <p:nvSpPr>
          <p:cNvPr id="14" name="Text 12"/>
          <p:cNvSpPr/>
          <p:nvPr/>
        </p:nvSpPr>
        <p:spPr>
          <a:xfrm>
            <a:off x="4768304" y="3039145"/>
            <a:ext cx="372122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Composable by Design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68304" y="3310161"/>
            <a:ext cx="3721224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layer — data, rules, workflow, UI — independently deployable and upgradeable on its own cadence.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3577" y="4007123"/>
            <a:ext cx="8096845" cy="523429"/>
          </a:xfrm>
          <a:prstGeom prst="roundRect">
            <a:avLst>
              <a:gd name="adj" fmla="val 3752"/>
            </a:avLst>
          </a:prstGeom>
          <a:solidFill>
            <a:srgbClr val="E2ECDF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472" y="4194200"/>
            <a:ext cx="163637" cy="13089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49003" y="4170685"/>
            <a:ext cx="7997726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Three architectural pillars: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Scalable modern architecture · Configuration-driven workflow &amp; rules · Medallion data integration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07566"/>
            <a:ext cx="8096845" cy="306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Why Off-the-Shelf Risk Tools Break at Scale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23577" y="880616"/>
            <a:ext cx="8096845" cy="299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economics and operational realities of vendor risk platforms look manageable at low volume. The moment you hit </a:t>
            </a:r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the inflection point</a:t>
            </a:r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when transaction volume, product complexity, and compliance burden all grow simultaneously — the cracks become craters.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273969"/>
            <a:ext cx="8096845" cy="6258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8238" y="1489100"/>
            <a:ext cx="156418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38225" y="1392510"/>
            <a:ext cx="7463656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Cost Explosion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1038225" y="1595735"/>
            <a:ext cx="7463656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Per-transaction pricing models become unsustainable as volume grows to millions of monthly transactions. What was a predictable line item becomes a budget crisis.</a:t>
            </a:r>
            <a:endParaRPr lang="en-US" sz="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1982986"/>
            <a:ext cx="8096845" cy="6258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8238" y="2198117"/>
            <a:ext cx="156418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38225" y="2101528"/>
            <a:ext cx="7463656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Inflexibility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038225" y="2304752"/>
            <a:ext cx="7463656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Vendor update cycles lag behind your product roadmap. Customization is limited or expensive — you're adapting your risk strategy to the vendor's release schedule.</a:t>
            </a:r>
            <a:endParaRPr lang="en-US" sz="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2692003"/>
            <a:ext cx="8096845" cy="6258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68238" y="2907134"/>
            <a:ext cx="156418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038225" y="2810545"/>
            <a:ext cx="7463656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Opacity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1038225" y="3013770"/>
            <a:ext cx="7463656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Black-box models fail regulatory explainability requirements under </a:t>
            </a:r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FCRA, ECOA, and SR 11-7</a:t>
            </a:r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You can't explain a decision you don't own.</a:t>
            </a:r>
            <a:endParaRPr lang="en-US" sz="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577" y="3401020"/>
            <a:ext cx="8096845" cy="62589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68238" y="3616151"/>
            <a:ext cx="156418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038225" y="3519562"/>
            <a:ext cx="7463656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Fragmentation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1038225" y="3722787"/>
            <a:ext cx="7463656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Off-the-shelf tools can't easily ingest your proprietary behavioral, transactional, and contextual signals — your competitive advantage stays siloed.</a:t>
            </a:r>
            <a:endParaRPr lang="en-US" sz="8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77" y="4110038"/>
            <a:ext cx="8096845" cy="62589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68238" y="4325169"/>
            <a:ext cx="156418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1038225" y="4228579"/>
            <a:ext cx="7463656" cy="153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Integration Debt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1038225" y="4431804"/>
            <a:ext cx="7463656" cy="149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Point-to-point integrations across fraud, credit, and AML systems create brittle, unmaintainable pipelines that break silently under load.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703659"/>
            <a:ext cx="750466" cy="198834"/>
          </a:xfrm>
          <a:prstGeom prst="roundRect">
            <a:avLst>
              <a:gd name="adj" fmla="val 7901"/>
            </a:avLst>
          </a:prstGeom>
          <a:solidFill>
            <a:srgbClr val="E2ECDF"/>
          </a:solidFill>
          <a:ln/>
        </p:spPr>
      </p:sp>
      <p:sp>
        <p:nvSpPr>
          <p:cNvPr id="3" name="Text 1"/>
          <p:cNvSpPr/>
          <p:nvPr/>
        </p:nvSpPr>
        <p:spPr>
          <a:xfrm>
            <a:off x="602084" y="742876"/>
            <a:ext cx="1050652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PILLAR 1 OF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23577" y="954807"/>
            <a:ext cx="8096845" cy="531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Scalable, Forward-Looking Architecture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23577" y="1682428"/>
            <a:ext cx="8554045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How to design a risk platform that scales independently, fails gracefully, and ships continuously — without becoming a distributed monolith.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23577" y="2039094"/>
            <a:ext cx="3982938" cy="392683"/>
          </a:xfrm>
          <a:prstGeom prst="roundRect">
            <a:avLst>
              <a:gd name="adj" fmla="val 50000"/>
            </a:avLst>
          </a:prstGeom>
          <a:solidFill>
            <a:srgbClr val="F3E7D4"/>
          </a:solidFill>
          <a:ln/>
        </p:spPr>
      </p:sp>
      <p:sp>
        <p:nvSpPr>
          <p:cNvPr id="7" name="Text 5"/>
          <p:cNvSpPr/>
          <p:nvPr/>
        </p:nvSpPr>
        <p:spPr>
          <a:xfrm>
            <a:off x="2416894" y="2112690"/>
            <a:ext cx="196304" cy="2454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4472" y="2562671"/>
            <a:ext cx="372115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Micro Frontends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4472" y="2833688"/>
            <a:ext cx="3721150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Independent UI modules per risk domain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37410" y="2039094"/>
            <a:ext cx="3983013" cy="392683"/>
          </a:xfrm>
          <a:prstGeom prst="roundRect">
            <a:avLst>
              <a:gd name="adj" fmla="val 50000"/>
            </a:avLst>
          </a:prstGeom>
          <a:solidFill>
            <a:srgbClr val="F3E7D4"/>
          </a:solidFill>
          <a:ln/>
        </p:spPr>
      </p:sp>
      <p:sp>
        <p:nvSpPr>
          <p:cNvPr id="11" name="Text 9"/>
          <p:cNvSpPr/>
          <p:nvPr/>
        </p:nvSpPr>
        <p:spPr>
          <a:xfrm>
            <a:off x="6530727" y="2112690"/>
            <a:ext cx="196304" cy="2454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68304" y="2562671"/>
            <a:ext cx="372122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Microservices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68304" y="2833688"/>
            <a:ext cx="3721224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Bounded-context services per risk function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3577" y="3304877"/>
            <a:ext cx="3982938" cy="392683"/>
          </a:xfrm>
          <a:prstGeom prst="roundRect">
            <a:avLst>
              <a:gd name="adj" fmla="val 50000"/>
            </a:avLst>
          </a:prstGeom>
          <a:solidFill>
            <a:srgbClr val="F3E7D4"/>
          </a:solidFill>
          <a:ln/>
        </p:spPr>
      </p:sp>
      <p:sp>
        <p:nvSpPr>
          <p:cNvPr id="15" name="Text 13"/>
          <p:cNvSpPr/>
          <p:nvPr/>
        </p:nvSpPr>
        <p:spPr>
          <a:xfrm>
            <a:off x="2416894" y="3378473"/>
            <a:ext cx="196304" cy="2454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4472" y="3828455"/>
            <a:ext cx="372115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Event-Driven Architecture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4472" y="4099471"/>
            <a:ext cx="3721150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Async event streams decoupling producers from consumers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37410" y="3304877"/>
            <a:ext cx="3983013" cy="392683"/>
          </a:xfrm>
          <a:prstGeom prst="roundRect">
            <a:avLst>
              <a:gd name="adj" fmla="val 50000"/>
            </a:avLst>
          </a:prstGeom>
          <a:solidFill>
            <a:srgbClr val="F3E7D4"/>
          </a:solidFill>
          <a:ln/>
        </p:spPr>
      </p:sp>
      <p:sp>
        <p:nvSpPr>
          <p:cNvPr id="19" name="Text 17"/>
          <p:cNvSpPr/>
          <p:nvPr/>
        </p:nvSpPr>
        <p:spPr>
          <a:xfrm>
            <a:off x="6530727" y="3378473"/>
            <a:ext cx="196304" cy="2454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68304" y="3828455"/>
            <a:ext cx="372122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Modern Search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68304" y="4099471"/>
            <a:ext cx="3721224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Sub-100ms entity resolution across billions of records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359941"/>
            <a:ext cx="809684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Architecture Blueprint: Four Layers of Scalability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617860"/>
            <a:ext cx="8096845" cy="37055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54570" y="1138883"/>
            <a:ext cx="1685648" cy="210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Microservices Layer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54570" y="1413149"/>
            <a:ext cx="1974217" cy="268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Fraud scoring, rule eval, case mgmt, reporting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44369" y="2356848"/>
            <a:ext cx="1685647" cy="210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Event Bus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5010" y="2631114"/>
            <a:ext cx="1815006" cy="268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Kafka/Kinesis async event streams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54570" y="2985732"/>
            <a:ext cx="1685648" cy="210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Core: Modern Search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54570" y="3259998"/>
            <a:ext cx="1974217" cy="268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Elasticsearch/OpenSearch sub-100ms entity resolution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23577" y="4392811"/>
            <a:ext cx="1904405" cy="9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Micro Frontends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523577" y="4521696"/>
            <a:ext cx="1904405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Independent UI modules per risk domain — fraud dashboard, AML console, credit review. Teams deploy without coordination overhead using Module Federation.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2592437" y="4392811"/>
            <a:ext cx="1904405" cy="9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Microservices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2592437" y="4521696"/>
            <a:ext cx="1904405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Bounded-context services for each risk function — fraud scoring, rule evaluation, case management, reporting — each with its own data store and deployment lifecycle.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4661297" y="4392811"/>
            <a:ext cx="1904405" cy="9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Event-Driven Bus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4661297" y="4521696"/>
            <a:ext cx="1904405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Async event streams (Kafka/Kinesis) decouple producers from consumers. Risk signals flow in real time without tight coupling between systems.</a:t>
            </a:r>
            <a:endParaRPr lang="en-US" sz="500" dirty="0"/>
          </a:p>
        </p:txBody>
      </p:sp>
      <p:sp>
        <p:nvSpPr>
          <p:cNvPr id="16" name="Text 13"/>
          <p:cNvSpPr/>
          <p:nvPr/>
        </p:nvSpPr>
        <p:spPr>
          <a:xfrm>
            <a:off x="6730157" y="4392811"/>
            <a:ext cx="1904405" cy="9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Modern Search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6730157" y="4521696"/>
            <a:ext cx="190440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Elasticsearch / OpenSearch for </a:t>
            </a:r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sub-100ms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entity resolution, transaction lookup, and investigator search across billions of records.</a:t>
            </a:r>
            <a:endParaRPr lang="en-US" sz="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4904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Micro Frontends: Decoupling the Risk UI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577" y="1137047"/>
            <a:ext cx="430954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Problem Solved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23577" y="1460450"/>
            <a:ext cx="4309542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Monolithic risk UIs become bottlenecks — a change to the fraud dashboard blocks the AML team's release cycle. Independent deployment is the only path to team autonomy at scale.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23577" y="2219548"/>
            <a:ext cx="430954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Pattern &amp; Implementation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23577" y="2542952"/>
            <a:ext cx="4309542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Module Federation (Webpack 5)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or single-spa — each risk domain owns its UI bundle, deployed independently. The host application provides auth, navigation, and a shared design system. Domain teams own all feature logic.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23577" y="3302050"/>
            <a:ext cx="4309542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Tradeoff to Manage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3577" y="3625453"/>
            <a:ext cx="4309542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Shared state management (Redux/Zustand) must be carefully scoped to avoid cross-module coupling. Poorly scoped shared state recreates the monolith problem in a distributed wrapper.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62984" y="1006153"/>
            <a:ext cx="3656484" cy="3712369"/>
          </a:xfrm>
          <a:prstGeom prst="roundRect">
            <a:avLst>
              <a:gd name="adj" fmla="val 537"/>
            </a:avLst>
          </a:prstGeom>
          <a:solidFill>
            <a:srgbClr val="38512F"/>
          </a:solidFill>
          <a:ln/>
        </p:spPr>
      </p:sp>
      <p:sp>
        <p:nvSpPr>
          <p:cNvPr id="10" name="Text 8"/>
          <p:cNvSpPr/>
          <p:nvPr/>
        </p:nvSpPr>
        <p:spPr>
          <a:xfrm>
            <a:off x="5193878" y="1137047"/>
            <a:ext cx="339469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Operational Benefits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93878" y="1476821"/>
            <a:ext cx="294531" cy="294531"/>
          </a:xfrm>
          <a:prstGeom prst="roundRect">
            <a:avLst>
              <a:gd name="adj" fmla="val 6667"/>
            </a:avLst>
          </a:prstGeom>
          <a:solidFill>
            <a:srgbClr val="F3E7D4"/>
          </a:solidFill>
          <a:ln/>
        </p:spPr>
      </p:sp>
      <p:sp>
        <p:nvSpPr>
          <p:cNvPr id="12" name="Text 10"/>
          <p:cNvSpPr/>
          <p:nvPr/>
        </p:nvSpPr>
        <p:spPr>
          <a:xfrm>
            <a:off x="5619304" y="1521768"/>
            <a:ext cx="296927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Independent Cadences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19304" y="1845171"/>
            <a:ext cx="2969270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Fraud, credit, and AML teams ship on their own schedules — no release train coordination required.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93878" y="2525762"/>
            <a:ext cx="294531" cy="294531"/>
          </a:xfrm>
          <a:prstGeom prst="roundRect">
            <a:avLst>
              <a:gd name="adj" fmla="val 6667"/>
            </a:avLst>
          </a:prstGeom>
          <a:solidFill>
            <a:srgbClr val="F3E7D4"/>
          </a:solidFill>
          <a:ln/>
        </p:spPr>
      </p:sp>
      <p:sp>
        <p:nvSpPr>
          <p:cNvPr id="15" name="Text 13"/>
          <p:cNvSpPr/>
          <p:nvPr/>
        </p:nvSpPr>
        <p:spPr>
          <a:xfrm>
            <a:off x="5619304" y="2570708"/>
            <a:ext cx="296927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Isolated Failures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19304" y="2894112"/>
            <a:ext cx="2969270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Per-module error boundaries and performance budgets — failures are contained, not cascading across domains.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193878" y="3784104"/>
            <a:ext cx="294531" cy="294531"/>
          </a:xfrm>
          <a:prstGeom prst="roundRect">
            <a:avLst>
              <a:gd name="adj" fmla="val 6667"/>
            </a:avLst>
          </a:prstGeom>
          <a:solidFill>
            <a:srgbClr val="F3E7D4"/>
          </a:solidFill>
          <a:ln/>
        </p:spPr>
      </p:sp>
      <p:sp>
        <p:nvSpPr>
          <p:cNvPr id="18" name="Text 16"/>
          <p:cNvSpPr/>
          <p:nvPr/>
        </p:nvSpPr>
        <p:spPr>
          <a:xfrm>
            <a:off x="5619304" y="3829050"/>
            <a:ext cx="296927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19304" y="4152454"/>
            <a:ext cx="2969270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Per-module performance monitoring enables pinpoint diagnostics without cross-team noise.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64865"/>
            <a:ext cx="8096845" cy="312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Microservices: Bounded Contexts for Risk Domains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523577" y="950416"/>
            <a:ext cx="8096845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core discipline is </a:t>
            </a:r>
            <a:pPr algn="l" indent="0" marL="0">
              <a:lnSpc>
                <a:spcPct val="121000"/>
              </a:lnSpc>
              <a:buNone/>
            </a:pPr>
            <a:r>
              <a:rPr lang="en-US" sz="8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domain decomposition</a:t>
            </a:r>
            <a:pPr algn="l" indent="0" marL="0">
              <a:lnSpc>
                <a:spcPct val="121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every risk function gets its own service, its own data store, and its own deployment pipeline. This is what makes independent scaling possible.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23577" y="1355973"/>
            <a:ext cx="2641327" cy="1134740"/>
          </a:xfrm>
          <a:prstGeom prst="roundRect">
            <a:avLst>
              <a:gd name="adj" fmla="val 1406"/>
            </a:avLst>
          </a:prstGeom>
          <a:solidFill>
            <a:srgbClr val="F3E7D4"/>
          </a:solidFill>
          <a:ln/>
        </p:spPr>
      </p:sp>
      <p:sp>
        <p:nvSpPr>
          <p:cNvPr id="5" name="Shape 3"/>
          <p:cNvSpPr/>
          <p:nvPr/>
        </p:nvSpPr>
        <p:spPr>
          <a:xfrm>
            <a:off x="629915" y="1462311"/>
            <a:ext cx="319088" cy="319087"/>
          </a:xfrm>
          <a:prstGeom prst="ellipse">
            <a:avLst/>
          </a:prstGeom>
          <a:solidFill>
            <a:srgbClr val="38512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649" y="1550045"/>
            <a:ext cx="143545" cy="1435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9915" y="1867793"/>
            <a:ext cx="2428652" cy="156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Fraud Scoring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29915" y="2076004"/>
            <a:ext cx="2428652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ML scoring with sub-200ms SLA. Scales horizontally during transaction spikes.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51299" y="1355973"/>
            <a:ext cx="2641327" cy="1134740"/>
          </a:xfrm>
          <a:prstGeom prst="roundRect">
            <a:avLst>
              <a:gd name="adj" fmla="val 1406"/>
            </a:avLst>
          </a:prstGeom>
          <a:solidFill>
            <a:srgbClr val="F3E7D4"/>
          </a:solidFill>
          <a:ln/>
        </p:spPr>
      </p:sp>
      <p:sp>
        <p:nvSpPr>
          <p:cNvPr id="10" name="Shape 7"/>
          <p:cNvSpPr/>
          <p:nvPr/>
        </p:nvSpPr>
        <p:spPr>
          <a:xfrm>
            <a:off x="3357637" y="1462311"/>
            <a:ext cx="319088" cy="319087"/>
          </a:xfrm>
          <a:prstGeom prst="ellipse">
            <a:avLst/>
          </a:prstGeom>
          <a:solidFill>
            <a:srgbClr val="38512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5371" y="1550045"/>
            <a:ext cx="143545" cy="1435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57637" y="1867793"/>
            <a:ext cx="2428652" cy="156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Rule Evaluation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357637" y="2076004"/>
            <a:ext cx="2428652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Stateless engine evaluating policy rules against enriched transaction context.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979021" y="1355973"/>
            <a:ext cx="2641327" cy="1134740"/>
          </a:xfrm>
          <a:prstGeom prst="roundRect">
            <a:avLst>
              <a:gd name="adj" fmla="val 1406"/>
            </a:avLst>
          </a:prstGeom>
          <a:solidFill>
            <a:srgbClr val="F3E7D4"/>
          </a:solidFill>
          <a:ln/>
        </p:spPr>
      </p:sp>
      <p:sp>
        <p:nvSpPr>
          <p:cNvPr id="15" name="Shape 11"/>
          <p:cNvSpPr/>
          <p:nvPr/>
        </p:nvSpPr>
        <p:spPr>
          <a:xfrm>
            <a:off x="6085359" y="1462311"/>
            <a:ext cx="319088" cy="319087"/>
          </a:xfrm>
          <a:prstGeom prst="ellipse">
            <a:avLst/>
          </a:prstGeom>
          <a:solidFill>
            <a:srgbClr val="38512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3093" y="1550045"/>
            <a:ext cx="143545" cy="14354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85359" y="1867793"/>
            <a:ext cx="2428652" cy="156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Case Management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6085359" y="2076004"/>
            <a:ext cx="2428652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Stateful workflow service for investigator queues, escalations, and resolutions.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523577" y="2577108"/>
            <a:ext cx="4005188" cy="1134740"/>
          </a:xfrm>
          <a:prstGeom prst="roundRect">
            <a:avLst>
              <a:gd name="adj" fmla="val 1406"/>
            </a:avLst>
          </a:prstGeom>
          <a:solidFill>
            <a:srgbClr val="F3E7D4"/>
          </a:solidFill>
          <a:ln/>
        </p:spPr>
      </p:sp>
      <p:sp>
        <p:nvSpPr>
          <p:cNvPr id="20" name="Shape 15"/>
          <p:cNvSpPr/>
          <p:nvPr/>
        </p:nvSpPr>
        <p:spPr>
          <a:xfrm>
            <a:off x="629915" y="2683446"/>
            <a:ext cx="319088" cy="319087"/>
          </a:xfrm>
          <a:prstGeom prst="ellipse">
            <a:avLst/>
          </a:prstGeom>
          <a:solidFill>
            <a:srgbClr val="38512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7649" y="2771180"/>
            <a:ext cx="143545" cy="14354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9915" y="3088928"/>
            <a:ext cx="3792513" cy="156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Alert Routing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629915" y="3297138"/>
            <a:ext cx="3792513" cy="154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Priority-based routing of risk alerts to the appropriate team or automated handler.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4615160" y="2577108"/>
            <a:ext cx="4005188" cy="1134740"/>
          </a:xfrm>
          <a:prstGeom prst="roundRect">
            <a:avLst>
              <a:gd name="adj" fmla="val 1406"/>
            </a:avLst>
          </a:prstGeom>
          <a:solidFill>
            <a:srgbClr val="F3E7D4"/>
          </a:solidFill>
          <a:ln/>
        </p:spPr>
      </p:sp>
      <p:sp>
        <p:nvSpPr>
          <p:cNvPr id="25" name="Shape 19"/>
          <p:cNvSpPr/>
          <p:nvPr/>
        </p:nvSpPr>
        <p:spPr>
          <a:xfrm>
            <a:off x="4721498" y="2683446"/>
            <a:ext cx="319088" cy="319087"/>
          </a:xfrm>
          <a:prstGeom prst="ellipse">
            <a:avLst/>
          </a:prstGeom>
          <a:solidFill>
            <a:srgbClr val="38512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09232" y="2771180"/>
            <a:ext cx="143545" cy="14354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21498" y="3088928"/>
            <a:ext cx="3792513" cy="156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Reporting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4721498" y="3297138"/>
            <a:ext cx="3792513" cy="308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Batch-optimized analytics service — scales for regulatory reporting without impacting transactional services.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523577" y="3895427"/>
            <a:ext cx="2525688" cy="156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Resilience Patterns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523577" y="4138240"/>
            <a:ext cx="2525688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Circuit breakers, bulkheads, and retry policies ensure a slow fraud model doesn't cascade into payment failures. Each service degrades gracefully in isolation.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3313435" y="3895427"/>
            <a:ext cx="2525688" cy="156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3313435" y="4138240"/>
            <a:ext cx="2525688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Containerized (Docker/Kubernetes) with per-service CI/CD pipelines. Blue/green deployments enable zero-downtime rule updates during peak transaction periods.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6103293" y="3895427"/>
            <a:ext cx="2525688" cy="156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Lesson Learned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6103293" y="4138240"/>
            <a:ext cx="2525688" cy="4625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Start with </a:t>
            </a:r>
            <a:pPr algn="l" indent="0" marL="0">
              <a:lnSpc>
                <a:spcPct val="121000"/>
              </a:lnSpc>
              <a:buNone/>
            </a:pPr>
            <a:r>
              <a:rPr lang="en-US" sz="8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5–7 well-defined services</a:t>
            </a:r>
            <a:pPr algn="l" indent="0" marL="0">
              <a:lnSpc>
                <a:spcPct val="121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Premature decomposition creates distributed monolith anti-patterns — the worst of both worlds.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00943"/>
            <a:ext cx="8096845" cy="366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Event-Driven Architecture: Real-Time Risk Signals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3577" y="1065163"/>
            <a:ext cx="4736306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 Pattern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23577" y="1367582"/>
            <a:ext cx="4736306" cy="584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transaction, user action, and risk decision </a:t>
            </a:r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emits an event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Downstream consumers — fraud, AML, credit — react asynchronously without tight coupling to the source system. The event log becomes the system of record.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23577" y="2071390"/>
            <a:ext cx="4736306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Technology Stack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23577" y="2373809"/>
            <a:ext cx="4736306" cy="584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Apache Kafka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high-throughput event streaming. </a:t>
            </a:r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Kafka Streams or Apache Flink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stateful real-time processing — windowed aggregations, pattern detection, and session stitching at scale.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23577" y="3077617"/>
            <a:ext cx="4736306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Event Sourcing &amp; CQRS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23577" y="3380036"/>
            <a:ext cx="4736306" cy="584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audit trail of every risk decision — events can be replayed to reprocess historical transactions with updated models. Command (write) and Query (read) paths are separated: risk decisions write to the event log; dashboards read from materialized views.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79182" y="946249"/>
            <a:ext cx="3235747" cy="3796308"/>
          </a:xfrm>
          <a:prstGeom prst="roundRect">
            <a:avLst>
              <a:gd name="adj" fmla="val 578"/>
            </a:avLst>
          </a:prstGeom>
          <a:solidFill>
            <a:srgbClr val="38512F"/>
          </a:solidFill>
          <a:ln/>
        </p:spPr>
      </p:sp>
      <p:sp>
        <p:nvSpPr>
          <p:cNvPr id="10" name="Text 8"/>
          <p:cNvSpPr/>
          <p:nvPr/>
        </p:nvSpPr>
        <p:spPr>
          <a:xfrm>
            <a:off x="5603900" y="1142330"/>
            <a:ext cx="2986311" cy="4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&lt;200ms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603900" y="1705570"/>
            <a:ext cx="2986311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End-to-End Latency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03900" y="2007989"/>
            <a:ext cx="2986311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Transaction ingestion to risk score emission target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03900" y="2367855"/>
            <a:ext cx="2986311" cy="14288"/>
          </a:xfrm>
          <a:prstGeom prst="roundRect">
            <a:avLst>
              <a:gd name="adj" fmla="val 49998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603900" y="2547045"/>
            <a:ext cx="2986311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Schema Registry: Non-Negotiable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603900" y="2849463"/>
            <a:ext cx="2986311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Confluent Schema Registry or AWS Glue must govern every topic. Schema drift breaks downstream consumers </a:t>
            </a:r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silently</a:t>
            </a:r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by the time you detect it, stale data has already influenced decisions.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03900" y="3748236"/>
            <a:ext cx="2986311" cy="183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Operational Consideration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603900" y="4050655"/>
            <a:ext cx="2986311" cy="584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Partition strategy directly impacts latency. Key by customer ID, not transaction ID, to preserve ordering guarantees for fraud pattern detection.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394692"/>
            <a:ext cx="8096845" cy="360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Modern Search: Sub-Second Entity Resolution at Scale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23577" y="985763"/>
            <a:ext cx="8096845" cy="3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Investigators need to search </a:t>
            </a:r>
            <a:pPr algn="l" indent="0" marL="0">
              <a:lnSpc>
                <a:spcPct val="129000"/>
              </a:lnSpc>
              <a:buNone/>
            </a:pPr>
            <a:r>
              <a:rPr lang="en-US" sz="9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billions of transactions, entities, and alerts in real time</a:t>
            </a:r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SQL queries on OLTP databases don't scale to this use case — the risk platform requires a purpose-built search layer.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495425"/>
            <a:ext cx="2622203" cy="14740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7724" y="1632421"/>
            <a:ext cx="2291060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Core Technology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17724" y="1881857"/>
            <a:ext cx="2291060" cy="95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OpenSearch / Elasticsearch</a:t>
            </a:r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 custom analyzers for financial entity matching — fuzzy name matching, address normalization, and account linkage across all ingested records.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824" y="1495425"/>
            <a:ext cx="2622277" cy="14740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54971" y="1632421"/>
            <a:ext cx="2291135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Graph-Enhanced Search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3454971" y="1881857"/>
            <a:ext cx="2291135" cy="95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Neo4j or Amazon Neptune</a:t>
            </a:r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relationship traversal — "show all accounts linked to this device fingerprint within 30 days." Critical for network fraud and synthetic identity detection.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98146" y="1495425"/>
            <a:ext cx="2622277" cy="14740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92292" y="1632421"/>
            <a:ext cx="2291135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Semantic Search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192292" y="1881857"/>
            <a:ext cx="2291135" cy="95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Vector embeddings (BERT-based)</a:t>
            </a:r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narrative transaction description matching — catches fraud patterns that keyword search misses by understanding meaning, not just terms.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577" y="3084537"/>
            <a:ext cx="2622203" cy="16641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7724" y="3221534"/>
            <a:ext cx="2291060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Performance Target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717724" y="3470970"/>
            <a:ext cx="2291060" cy="1140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p99 query latency under 100ms</a:t>
            </a:r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across 10B+ indexed documents — achieved through proper shard strategy, index lifecycle management, and replica configuration tuned for read-heavy workloads.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0824" y="3084537"/>
            <a:ext cx="2622277" cy="166419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454971" y="3221534"/>
            <a:ext cx="2291135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Compliance Value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3454971" y="3470970"/>
            <a:ext cx="2291135" cy="95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Full-text search across SAR narratives and case notes </a:t>
            </a:r>
            <a:pPr algn="l" indent="0" marL="0">
              <a:lnSpc>
                <a:spcPct val="129000"/>
              </a:lnSpc>
              <a:buNone/>
            </a:pPr>
            <a:r>
              <a:rPr lang="en-US" sz="9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accelerates regulatory reporting by 60–70%</a:t>
            </a:r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auditors get self-service access instead of waiting on analyst data pulls.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378842"/>
            <a:ext cx="738411" cy="195709"/>
          </a:xfrm>
          <a:prstGeom prst="roundRect">
            <a:avLst>
              <a:gd name="adj" fmla="val 7901"/>
            </a:avLst>
          </a:prstGeom>
          <a:solidFill>
            <a:srgbClr val="E2ECDF"/>
          </a:solidFill>
          <a:ln/>
        </p:spPr>
      </p:sp>
      <p:sp>
        <p:nvSpPr>
          <p:cNvPr id="3" name="Text 1"/>
          <p:cNvSpPr/>
          <p:nvPr/>
        </p:nvSpPr>
        <p:spPr>
          <a:xfrm>
            <a:off x="600894" y="417463"/>
            <a:ext cx="1040978" cy="118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PILLAR 2 OF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23577" y="625227"/>
            <a:ext cx="8096845" cy="1045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Configuration-Driven Workflow &amp; Rules Engine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523577" y="1861468"/>
            <a:ext cx="8096845" cy="409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Risk logic trapped in code is a liability — it moves at engineering speed in a domain that must move at business speed. The solution is externalizing every rule, threshold, and workflow into configuration that business and compliance teams own directly.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23577" y="2413248"/>
            <a:ext cx="3985022" cy="386581"/>
          </a:xfrm>
          <a:prstGeom prst="roundRect">
            <a:avLst>
              <a:gd name="adj" fmla="val 50000"/>
            </a:avLst>
          </a:prstGeom>
          <a:solidFill>
            <a:srgbClr val="F3E7D4"/>
          </a:solidFill>
          <a:ln/>
        </p:spPr>
      </p:sp>
      <p:sp>
        <p:nvSpPr>
          <p:cNvPr id="7" name="Text 5"/>
          <p:cNvSpPr/>
          <p:nvPr/>
        </p:nvSpPr>
        <p:spPr>
          <a:xfrm>
            <a:off x="2419424" y="2485727"/>
            <a:ext cx="193253" cy="2416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2388" y="2926631"/>
            <a:ext cx="3727400" cy="189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Rules Engine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2388" y="3192140"/>
            <a:ext cx="3727400" cy="20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DSL-driven rule authoring, versioning, and hot reload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35401" y="2413248"/>
            <a:ext cx="3985022" cy="386581"/>
          </a:xfrm>
          <a:prstGeom prst="roundRect">
            <a:avLst>
              <a:gd name="adj" fmla="val 50000"/>
            </a:avLst>
          </a:prstGeom>
          <a:solidFill>
            <a:srgbClr val="F3E7D4"/>
          </a:solidFill>
          <a:ln/>
        </p:spPr>
      </p:sp>
      <p:sp>
        <p:nvSpPr>
          <p:cNvPr id="11" name="Text 9"/>
          <p:cNvSpPr/>
          <p:nvPr/>
        </p:nvSpPr>
        <p:spPr>
          <a:xfrm>
            <a:off x="6531248" y="2485727"/>
            <a:ext cx="193253" cy="2416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64212" y="2926631"/>
            <a:ext cx="3727400" cy="189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Workflow Management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64212" y="3192140"/>
            <a:ext cx="3727400" cy="20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Configurable state machines for KYC, SAR, disputes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23577" y="3652317"/>
            <a:ext cx="3985022" cy="386581"/>
          </a:xfrm>
          <a:prstGeom prst="roundRect">
            <a:avLst>
              <a:gd name="adj" fmla="val 50000"/>
            </a:avLst>
          </a:prstGeom>
          <a:solidFill>
            <a:srgbClr val="F3E7D4"/>
          </a:solidFill>
          <a:ln/>
        </p:spPr>
      </p:sp>
      <p:sp>
        <p:nvSpPr>
          <p:cNvPr id="15" name="Text 13"/>
          <p:cNvSpPr/>
          <p:nvPr/>
        </p:nvSpPr>
        <p:spPr>
          <a:xfrm>
            <a:off x="2419424" y="3724796"/>
            <a:ext cx="193253" cy="2416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2388" y="4165699"/>
            <a:ext cx="3727400" cy="189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Governance &amp; Auditability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2388" y="4431209"/>
            <a:ext cx="3727400" cy="20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Four-eyes approval, full decision history, conflict detection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35401" y="3652317"/>
            <a:ext cx="3985022" cy="386581"/>
          </a:xfrm>
          <a:prstGeom prst="roundRect">
            <a:avLst>
              <a:gd name="adj" fmla="val 50000"/>
            </a:avLst>
          </a:prstGeom>
          <a:solidFill>
            <a:srgbClr val="F3E7D4"/>
          </a:solidFill>
          <a:ln/>
        </p:spPr>
      </p:sp>
      <p:sp>
        <p:nvSpPr>
          <p:cNvPr id="19" name="Text 17"/>
          <p:cNvSpPr/>
          <p:nvPr/>
        </p:nvSpPr>
        <p:spPr>
          <a:xfrm>
            <a:off x="6531248" y="3724796"/>
            <a:ext cx="193253" cy="2416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64212" y="4165699"/>
            <a:ext cx="3727400" cy="189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Maintainability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64212" y="4431209"/>
            <a:ext cx="3727400" cy="20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Testing frameworks, SLA guardrails, deprecation workflows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395585"/>
            <a:ext cx="8096845" cy="324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Problem: Risk Logic Trapped in Code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3577" y="953393"/>
            <a:ext cx="391373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Status Quo Pain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23577" y="1208931"/>
            <a:ext cx="3913733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rule change — a new fraud threshold, a new AML typology, a new credit policy — requires a developer, a pull request, a review cycle, and a deployment pipeline. This creates three compounding problems that are individually manageable but collectively catastrophic at scale.</a:t>
            </a:r>
            <a:endParaRPr lang="en-US" sz="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964978"/>
            <a:ext cx="3913733" cy="8306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5445" y="2089696"/>
            <a:ext cx="360714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Time-to-Change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05445" y="2345234"/>
            <a:ext cx="360714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typical hardcoded rule update takes </a:t>
            </a:r>
            <a:pPr algn="l" indent="0" marL="0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2–4 weeks</a:t>
            </a:r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from development to production. Fraud patterns evolve in hours.</a:t>
            </a:r>
            <a:endParaRPr lang="en-US" sz="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2888754"/>
            <a:ext cx="3913733" cy="83061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5445" y="3013472"/>
            <a:ext cx="360714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Compliance Risk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05445" y="3269010"/>
            <a:ext cx="360714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Regulatory changes (FinCEN guidance, CFPB rules) require </a:t>
            </a:r>
            <a:pPr algn="l" indent="0" marL="0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immediate</a:t>
            </a:r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policy updates — code-driven systems structurally cannot respond fast enough.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3812530"/>
            <a:ext cx="3913733" cy="8306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5445" y="3937248"/>
            <a:ext cx="360714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Auditability Gap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705445" y="4192786"/>
            <a:ext cx="360714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When rules live in code, auditors cannot easily inspect what logic was active at a given decision point in time. Version control is not a compliance audit trail.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631978" y="860227"/>
            <a:ext cx="4072682" cy="3887688"/>
          </a:xfrm>
          <a:prstGeom prst="roundRect">
            <a:avLst>
              <a:gd name="adj" fmla="val 426"/>
            </a:avLst>
          </a:prstGeom>
          <a:solidFill>
            <a:srgbClr val="38512F"/>
          </a:solidFill>
          <a:ln/>
        </p:spPr>
      </p:sp>
      <p:sp>
        <p:nvSpPr>
          <p:cNvPr id="15" name="Text 10"/>
          <p:cNvSpPr/>
          <p:nvPr/>
        </p:nvSpPr>
        <p:spPr>
          <a:xfrm>
            <a:off x="4742408" y="953393"/>
            <a:ext cx="3851821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742408" y="1208931"/>
            <a:ext cx="3851821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Externalize all risk logic into a </a:t>
            </a:r>
            <a:pPr algn="l" indent="0" marL="0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configuration-driven rules engine</a:t>
            </a:r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Business analysts and compliance officers change rules without touching code — and every change is versioned, tested, and approved through a governance workflow before it reaches production.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4742408" y="1953369"/>
            <a:ext cx="3851821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Who Changes What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42408" y="2220516"/>
            <a:ext cx="3851821" cy="1449139"/>
          </a:xfrm>
          <a:prstGeom prst="roundRect">
            <a:avLst>
              <a:gd name="adj" fmla="val 1143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42408" y="2511772"/>
            <a:ext cx="3851821" cy="690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4742408" y="2800648"/>
            <a:ext cx="3851821" cy="690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4742408" y="3089523"/>
            <a:ext cx="3851821" cy="690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4742408" y="3378398"/>
            <a:ext cx="3851821" cy="690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4857601" y="2285926"/>
            <a:ext cx="2157487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Actor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778749" y="2285926"/>
            <a:ext cx="2157487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Action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4857601" y="2574801"/>
            <a:ext cx="2157487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Compliance Officer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6778749" y="2574801"/>
            <a:ext cx="2157487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Edits rule thresholds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4857601" y="2863676"/>
            <a:ext cx="2157487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Risk Analyst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6778749" y="2863676"/>
            <a:ext cx="2157487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Creates AML typologies</a:t>
            </a:r>
            <a:endParaRPr lang="en-US" sz="850" dirty="0"/>
          </a:p>
        </p:txBody>
      </p:sp>
      <p:sp>
        <p:nvSpPr>
          <p:cNvPr id="29" name="Text 24"/>
          <p:cNvSpPr/>
          <p:nvPr/>
        </p:nvSpPr>
        <p:spPr>
          <a:xfrm>
            <a:off x="4857601" y="3152552"/>
            <a:ext cx="2157487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Credit Team</a:t>
            </a:r>
            <a:endParaRPr lang="en-US" sz="850" dirty="0"/>
          </a:p>
        </p:txBody>
      </p:sp>
      <p:sp>
        <p:nvSpPr>
          <p:cNvPr id="30" name="Text 25"/>
          <p:cNvSpPr/>
          <p:nvPr/>
        </p:nvSpPr>
        <p:spPr>
          <a:xfrm>
            <a:off x="6778749" y="3152552"/>
            <a:ext cx="2157487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Updates policy logic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4857601" y="3441427"/>
            <a:ext cx="2157487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Engineer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6778749" y="3441427"/>
            <a:ext cx="2157487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Maintains engine runtime only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359941"/>
            <a:ext cx="809684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Configuration-Driven Rules Engine: Architecture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915" y="617860"/>
            <a:ext cx="8030096" cy="3462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35" y="3430675"/>
            <a:ext cx="1714487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Rules Engine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7235" y="2629097"/>
            <a:ext cx="1714487" cy="21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Config Store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97235" y="1835615"/>
            <a:ext cx="1714487" cy="21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Version Control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97235" y="1034037"/>
            <a:ext cx="1714487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Author Rules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3577" y="4117404"/>
            <a:ext cx="2677120" cy="403771"/>
          </a:xfrm>
          <a:prstGeom prst="roundRect">
            <a:avLst>
              <a:gd name="adj" fmla="val 2432"/>
            </a:avLst>
          </a:prstGeom>
          <a:solidFill>
            <a:srgbClr val="F3E7D4"/>
          </a:solidFill>
          <a:ln/>
        </p:spPr>
      </p:sp>
      <p:sp>
        <p:nvSpPr>
          <p:cNvPr id="9" name="Text 6"/>
          <p:cNvSpPr/>
          <p:nvPr/>
        </p:nvSpPr>
        <p:spPr>
          <a:xfrm>
            <a:off x="588987" y="4182814"/>
            <a:ext cx="2546300" cy="9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Rule DSL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588987" y="4298603"/>
            <a:ext cx="25463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YAML/JSON-based or visual rule builder. Conditions, thresholds, and actions expressed without code — accessible to compliance and business teams.</a:t>
            </a:r>
            <a:endParaRPr lang="en-US" sz="500" dirty="0"/>
          </a:p>
        </p:txBody>
      </p:sp>
      <p:sp>
        <p:nvSpPr>
          <p:cNvPr id="11" name="Shape 8"/>
          <p:cNvSpPr/>
          <p:nvPr/>
        </p:nvSpPr>
        <p:spPr>
          <a:xfrm>
            <a:off x="3233365" y="4117404"/>
            <a:ext cx="2677195" cy="403771"/>
          </a:xfrm>
          <a:prstGeom prst="roundRect">
            <a:avLst>
              <a:gd name="adj" fmla="val 2432"/>
            </a:avLst>
          </a:prstGeom>
          <a:solidFill>
            <a:srgbClr val="F3E7D4"/>
          </a:solidFill>
          <a:ln/>
        </p:spPr>
      </p:sp>
      <p:sp>
        <p:nvSpPr>
          <p:cNvPr id="12" name="Text 9"/>
          <p:cNvSpPr/>
          <p:nvPr/>
        </p:nvSpPr>
        <p:spPr>
          <a:xfrm>
            <a:off x="3298775" y="4182814"/>
            <a:ext cx="2546375" cy="9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Rule Versioning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3298775" y="4298603"/>
            <a:ext cx="25463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change is versioned and timestamped. Full history of what rule was active at any transaction decision point — essential for regulatory review.</a:t>
            </a:r>
            <a:endParaRPr lang="en-US" sz="500" dirty="0"/>
          </a:p>
        </p:txBody>
      </p:sp>
      <p:sp>
        <p:nvSpPr>
          <p:cNvPr id="14" name="Shape 11"/>
          <p:cNvSpPr/>
          <p:nvPr/>
        </p:nvSpPr>
        <p:spPr>
          <a:xfrm>
            <a:off x="5943228" y="4117404"/>
            <a:ext cx="2677195" cy="403771"/>
          </a:xfrm>
          <a:prstGeom prst="roundRect">
            <a:avLst>
              <a:gd name="adj" fmla="val 2432"/>
            </a:avLst>
          </a:prstGeom>
          <a:solidFill>
            <a:srgbClr val="F3E7D4"/>
          </a:solidFill>
          <a:ln/>
        </p:spPr>
      </p:sp>
      <p:sp>
        <p:nvSpPr>
          <p:cNvPr id="15" name="Text 12"/>
          <p:cNvSpPr/>
          <p:nvPr/>
        </p:nvSpPr>
        <p:spPr>
          <a:xfrm>
            <a:off x="6008638" y="4182814"/>
            <a:ext cx="2546375" cy="9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Hot Reload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6008638" y="4298603"/>
            <a:ext cx="25463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Rules updated in DynamoDB, Redis, or Consul are picked up by the engine </a:t>
            </a:r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without service restart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zero-downtime policy updates.</a:t>
            </a:r>
            <a:endParaRPr lang="en-US" sz="500" dirty="0"/>
          </a:p>
        </p:txBody>
      </p:sp>
      <p:sp>
        <p:nvSpPr>
          <p:cNvPr id="17" name="Shape 14"/>
          <p:cNvSpPr/>
          <p:nvPr/>
        </p:nvSpPr>
        <p:spPr>
          <a:xfrm>
            <a:off x="523577" y="4553843"/>
            <a:ext cx="4032052" cy="403771"/>
          </a:xfrm>
          <a:prstGeom prst="roundRect">
            <a:avLst>
              <a:gd name="adj" fmla="val 2432"/>
            </a:avLst>
          </a:prstGeom>
          <a:solidFill>
            <a:srgbClr val="F3E7D4"/>
          </a:solidFill>
          <a:ln/>
        </p:spPr>
      </p:sp>
      <p:sp>
        <p:nvSpPr>
          <p:cNvPr id="18" name="Text 15"/>
          <p:cNvSpPr/>
          <p:nvPr/>
        </p:nvSpPr>
        <p:spPr>
          <a:xfrm>
            <a:off x="588987" y="4619253"/>
            <a:ext cx="3901232" cy="9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A/B Testing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588987" y="4735041"/>
            <a:ext cx="390123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Shadow mode — run new rules in parallel with existing rules, compare outcomes before promoting to production. Evidence-based policy decisions.</a:t>
            </a:r>
            <a:endParaRPr lang="en-US" sz="500" dirty="0"/>
          </a:p>
        </p:txBody>
      </p:sp>
      <p:sp>
        <p:nvSpPr>
          <p:cNvPr id="20" name="Shape 17"/>
          <p:cNvSpPr/>
          <p:nvPr/>
        </p:nvSpPr>
        <p:spPr>
          <a:xfrm>
            <a:off x="4588297" y="4553843"/>
            <a:ext cx="4032126" cy="403771"/>
          </a:xfrm>
          <a:prstGeom prst="roundRect">
            <a:avLst>
              <a:gd name="adj" fmla="val 2432"/>
            </a:avLst>
          </a:prstGeom>
          <a:solidFill>
            <a:srgbClr val="F3E7D4"/>
          </a:solidFill>
          <a:ln/>
        </p:spPr>
      </p:sp>
      <p:sp>
        <p:nvSpPr>
          <p:cNvPr id="21" name="Text 18"/>
          <p:cNvSpPr/>
          <p:nvPr/>
        </p:nvSpPr>
        <p:spPr>
          <a:xfrm>
            <a:off x="4653707" y="4619253"/>
            <a:ext cx="3901306" cy="9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Governance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4653707" y="4735041"/>
            <a:ext cx="3901306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Four-eyes approval workflow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rule changes — mandatory compliance sign-off before any rule goes live. No unilateral production changes.</a:t>
            </a:r>
            <a:endParaRPr lang="en-US" sz="500" dirty="0"/>
          </a:p>
        </p:txBody>
      </p:sp>
      <p:sp>
        <p:nvSpPr>
          <p:cNvPr id="23" name="Shape 20"/>
          <p:cNvSpPr/>
          <p:nvPr/>
        </p:nvSpPr>
        <p:spPr>
          <a:xfrm>
            <a:off x="523577" y="4994374"/>
            <a:ext cx="8096845" cy="181496"/>
          </a:xfrm>
          <a:prstGeom prst="roundRect">
            <a:avLst>
              <a:gd name="adj" fmla="val 5410"/>
            </a:avLst>
          </a:prstGeom>
          <a:solidFill>
            <a:srgbClr val="E2ECDF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87" y="5076081"/>
            <a:ext cx="81781" cy="6541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36178" y="5043339"/>
            <a:ext cx="8276034" cy="83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Rule chaining example: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00000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fraud_score &gt; 0.8 AND account_age &lt; 30d AND txn_country ≠ home_country → BLOCK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expressed declaratively, not in application code.</a:t>
            </a:r>
            <a:endParaRPr lang="en-US" sz="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05631"/>
            <a:ext cx="8096845" cy="354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Workflow Management: Making Risk Processes Configurable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3577" y="1038671"/>
            <a:ext cx="4320778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Workflow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3577" y="1327398"/>
            <a:ext cx="4320778" cy="742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Temporal.io or Apache Airflow</a:t>
            </a:r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orchestrating multi-step risk workflows — KYC onboarding, SAR filing, dispute resolution. Each workflow step is configurable without code changes, allowing compliance teams to adapt process logic as regulations evolve.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23577" y="2180704"/>
            <a:ext cx="4320778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State Machine Approach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23577" y="2469431"/>
            <a:ext cx="4320778" cy="761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risk case is modeled as a state machine — </a:t>
            </a:r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630"/>
                </a:solidFill>
                <a:highlight>
                  <a:srgbClr val="F1E8D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PENDING → UNDER_REVIEW → ESCALATED → RESOLVED</a:t>
            </a:r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Transitions are driven by configurable rules, not hardcoded conditional logic. New states and transitions are added through configuration, not deployments.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23577" y="3341787"/>
            <a:ext cx="4320778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SLA Management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3577" y="3630513"/>
            <a:ext cx="4320778" cy="55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Configurable SLA timers per workflow type enforce regulatory deadlines automatically. </a:t>
            </a:r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SAR 30-day filing requirements</a:t>
            </a:r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trigger escalation alerts when cases approach the deadline — no manual tracking required.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56584" y="927422"/>
            <a:ext cx="3655442" cy="3810372"/>
          </a:xfrm>
          <a:prstGeom prst="roundRect">
            <a:avLst>
              <a:gd name="adj" fmla="val 495"/>
            </a:avLst>
          </a:prstGeom>
          <a:solidFill>
            <a:srgbClr val="38512F"/>
          </a:solidFill>
          <a:ln/>
        </p:spPr>
      </p:sp>
      <p:sp>
        <p:nvSpPr>
          <p:cNvPr id="10" name="Text 8"/>
          <p:cNvSpPr/>
          <p:nvPr/>
        </p:nvSpPr>
        <p:spPr>
          <a:xfrm>
            <a:off x="5177210" y="1038671"/>
            <a:ext cx="3414192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Dynamic Routing Rules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77210" y="1327398"/>
            <a:ext cx="3414192" cy="742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Case assignment is fully configurable — route high-value fraud cases to senior analysts, low-risk alerts to automated resolution queues. Routing logic updated by risk operations without engineering involvement.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177210" y="2180704"/>
            <a:ext cx="3414192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Integration Hooks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77210" y="2469431"/>
            <a:ext cx="3414192" cy="55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Configurable webhooks and event triggers connect to Salesforce, Jira, or internal ticketing systems </a:t>
            </a:r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without code changes</a:t>
            </a:r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the workflow engine acts as the integration orchestrator.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177210" y="3181201"/>
            <a:ext cx="3414192" cy="14288"/>
          </a:xfrm>
          <a:prstGeom prst="roundRect">
            <a:avLst>
              <a:gd name="adj" fmla="val 49998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177210" y="3410992"/>
            <a:ext cx="3414192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Hours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5177210" y="3952949"/>
            <a:ext cx="3414192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vs. 3–4 Weeks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77210" y="4241676"/>
            <a:ext cx="3414192" cy="3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Time to deploy a risk policy change after adopting configuration-driven workflows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53566"/>
            <a:ext cx="8096845" cy="354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Maintainability: Keeping the Rules Engine Production-Ready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3577" y="1131019"/>
            <a:ext cx="8096845" cy="3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rules engine that business teams can use freely is only an asset if it's also reliable and observable. Without engineering guardrails, a powerful authoring interface becomes a production incident waiting to happen.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627138"/>
            <a:ext cx="301675" cy="3016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4257" y="1627138"/>
            <a:ext cx="3538240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Rule Testing Framework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64257" y="1871365"/>
            <a:ext cx="3538240" cy="742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Unit tests for individual rules, integration tests for rule chains. Automated test suite runs on every rule change before promotion — compliance teams get immediate feedback on logic errors before they reach staging.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1503" y="1627138"/>
            <a:ext cx="301675" cy="3016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82183" y="1627138"/>
            <a:ext cx="3538240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Conflict Detection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082183" y="1871365"/>
            <a:ext cx="3538240" cy="55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Engine detects overlapping or contradictory rules at </a:t>
            </a:r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authoring time</a:t>
            </a:r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prevents silent logic errors in production where two rules fire on the same transaction and produce contradictory outcomes.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2835920"/>
            <a:ext cx="301675" cy="3016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4257" y="2835920"/>
            <a:ext cx="3538240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Performance Guardrails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964257" y="3080147"/>
            <a:ext cx="3538240" cy="742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Rule evaluation SLA enforced at </a:t>
            </a:r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50ms per rule</a:t>
            </a:r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Rules that exceed the threshold are flagged at authoring time and must be optimized before promotion — prevents slow rules from impacting transaction throughput.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1503" y="2835920"/>
            <a:ext cx="301675" cy="3016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82183" y="2835920"/>
            <a:ext cx="3538240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Full Observability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5082183" y="3080147"/>
            <a:ext cx="3538240" cy="742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 rule evaluation logged with input features, matched conditions, and output decision — complete explainability for regulatory review. Auditors can reconstruct exactly why any transaction received any decision.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523577" y="3947294"/>
            <a:ext cx="8096845" cy="642640"/>
          </a:xfrm>
          <a:prstGeom prst="roundRect">
            <a:avLst>
              <a:gd name="adj" fmla="val 2817"/>
            </a:avLst>
          </a:prstGeom>
          <a:solidFill>
            <a:srgbClr val="E2ECD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203" y="4116288"/>
            <a:ext cx="150837" cy="1206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15665" y="4088681"/>
            <a:ext cx="7584132" cy="3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Lesson learned:</a:t>
            </a:r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Invest in the rule authoring UX early. If compliance teams find the interface hard to use, they route around it — and rules end up back in code.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577" y="796082"/>
            <a:ext cx="750466" cy="198834"/>
          </a:xfrm>
          <a:prstGeom prst="roundRect">
            <a:avLst>
              <a:gd name="adj" fmla="val 7901"/>
            </a:avLst>
          </a:prstGeom>
          <a:solidFill>
            <a:srgbClr val="E2ECDF"/>
          </a:solidFill>
          <a:ln/>
        </p:spPr>
      </p:sp>
      <p:sp>
        <p:nvSpPr>
          <p:cNvPr id="3" name="Text 1"/>
          <p:cNvSpPr/>
          <p:nvPr/>
        </p:nvSpPr>
        <p:spPr>
          <a:xfrm>
            <a:off x="602084" y="835298"/>
            <a:ext cx="1050652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PILLAR 3 OF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23577" y="1047229"/>
            <a:ext cx="8096845" cy="1062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Medallion Architecture for Real-Time Data Integration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23577" y="2306166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risk engine is only as good as the data feeding it. Fragmented, stale, or poorly governed data pipelines undermine every model and every rule — no matter how sophisticated the decisioning layer above them.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2872234"/>
            <a:ext cx="2698924" cy="5235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4472" y="3526706"/>
            <a:ext cx="243713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Bronze Layer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54472" y="3797722"/>
            <a:ext cx="243713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Raw ingestion — all source data lands as-is, full fidelity preserved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501" y="2872234"/>
            <a:ext cx="2698924" cy="52357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53395" y="3526706"/>
            <a:ext cx="243713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Silver Layer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353395" y="3797722"/>
            <a:ext cx="243713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Cleansed &amp; conformed — unified entity model across all sources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425" y="2872234"/>
            <a:ext cx="2698924" cy="52357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52319" y="3526706"/>
            <a:ext cx="243713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Gold Layer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052319" y="3797722"/>
            <a:ext cx="243713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Business-ready — aggregated features, pre-computed scores, regulatory datasets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1212"/>
            <a:ext cx="8096845" cy="721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Data Problem: Disparate Sources, Fragmented Risk View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523577" y="1420788"/>
            <a:ext cx="3898702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Reality at Scale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3577" y="1716286"/>
            <a:ext cx="3898702" cy="76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Risk data lives in </a:t>
            </a:r>
            <a:pPr algn="l" indent="0" marL="0">
              <a:lnSpc>
                <a:spcPct val="129000"/>
              </a:lnSpc>
              <a:buNone/>
            </a:pPr>
            <a:r>
              <a:rPr lang="en-US" sz="9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10+ systems</a:t>
            </a:r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core banking, payment processors, KYC vendors, credit bureaus, device intelligence, behavioral analytics, and sanctions lists. Each system has its own schema, latency profile, and quality characteristics. No single system has a complete view of risk.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23577" y="2591842"/>
            <a:ext cx="3898702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Point-to-Point Integration Debt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23577" y="2887340"/>
            <a:ext cx="3898702" cy="760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new data source requires a custom ETL pipeline — brittle, hard to monitor, expensive to maintain. When a source schema changes (and it always does), downstream pipelines break silently. Data quality issues surface as model degradation weeks after the root cause.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23577" y="3762896"/>
            <a:ext cx="3898702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Latency Problem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3577" y="4058394"/>
            <a:ext cx="3898702" cy="570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Batch ETL jobs mean risk decisions are made on data that's </a:t>
            </a:r>
            <a:pPr algn="l" indent="0" marL="0">
              <a:lnSpc>
                <a:spcPct val="129000"/>
              </a:lnSpc>
              <a:buNone/>
            </a:pPr>
            <a:r>
              <a:rPr lang="en-US" sz="9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hours or days old</a:t>
            </a:r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A fraud pattern emerging in real time is invisible to a system looking at last night's data. The detection window is the fraud window.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8080" y="1305744"/>
            <a:ext cx="4075509" cy="3426544"/>
          </a:xfrm>
          <a:prstGeom prst="roundRect">
            <a:avLst>
              <a:gd name="adj" fmla="val 537"/>
            </a:avLst>
          </a:prstGeom>
          <a:solidFill>
            <a:srgbClr val="38512F"/>
          </a:solidFill>
          <a:ln/>
        </p:spPr>
      </p:sp>
      <p:sp>
        <p:nvSpPr>
          <p:cNvPr id="10" name="Text 8"/>
          <p:cNvSpPr/>
          <p:nvPr/>
        </p:nvSpPr>
        <p:spPr>
          <a:xfrm>
            <a:off x="4760788" y="1420788"/>
            <a:ext cx="3830092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Consequences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60788" y="1730648"/>
            <a:ext cx="276076" cy="276076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2" name="Text 10"/>
          <p:cNvSpPr/>
          <p:nvPr/>
        </p:nvSpPr>
        <p:spPr>
          <a:xfrm>
            <a:off x="5151909" y="1772766"/>
            <a:ext cx="1452042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Missed Fraud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51909" y="2068264"/>
            <a:ext cx="1452042" cy="950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Patterns that emerge between batch windows go undetected until the next run — sometimes T+24h or more after the event.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47718" y="1730648"/>
            <a:ext cx="276076" cy="276076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5" name="Text 13"/>
          <p:cNvSpPr/>
          <p:nvPr/>
        </p:nvSpPr>
        <p:spPr>
          <a:xfrm>
            <a:off x="7138839" y="1772766"/>
            <a:ext cx="1452042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Reporting Impossible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138839" y="2068264"/>
            <a:ext cx="1452042" cy="133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Cross-domain analysis ("fraud rate by customer segment by product") requires manual data wrangling — analysts spend more time joining data than finding insight.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60788" y="3629248"/>
            <a:ext cx="276076" cy="276076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8" name="Text 16"/>
          <p:cNvSpPr/>
          <p:nvPr/>
        </p:nvSpPr>
        <p:spPr>
          <a:xfrm>
            <a:off x="5151909" y="3671367"/>
            <a:ext cx="3438971" cy="180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Compliance Gaps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51909" y="3966865"/>
            <a:ext cx="3438971" cy="380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Regulatory reports built from fragmented sources contain inconsistencies that create examination risk during audits.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377130"/>
            <a:ext cx="8096845" cy="324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Medallion Architecture: Bronze → Silver → Gold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23577" y="946547"/>
            <a:ext cx="1583382" cy="304577"/>
          </a:xfrm>
          <a:prstGeom prst="roundRect">
            <a:avLst>
              <a:gd name="adj" fmla="val 5440"/>
            </a:avLst>
          </a:prstGeom>
          <a:solidFill>
            <a:srgbClr val="F3E7D4"/>
          </a:solidFill>
          <a:ln/>
        </p:spPr>
      </p:sp>
      <p:sp>
        <p:nvSpPr>
          <p:cNvPr id="4" name="Text 2"/>
          <p:cNvSpPr/>
          <p:nvPr/>
        </p:nvSpPr>
        <p:spPr>
          <a:xfrm>
            <a:off x="1237580" y="1001762"/>
            <a:ext cx="155302" cy="1941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23577" y="1278731"/>
            <a:ext cx="3166839" cy="304577"/>
          </a:xfrm>
          <a:prstGeom prst="roundRect">
            <a:avLst>
              <a:gd name="adj" fmla="val 5440"/>
            </a:avLst>
          </a:prstGeom>
          <a:solidFill>
            <a:srgbClr val="F3E7D4"/>
          </a:solidFill>
          <a:ln/>
        </p:spPr>
      </p:sp>
      <p:sp>
        <p:nvSpPr>
          <p:cNvPr id="6" name="Text 4"/>
          <p:cNvSpPr/>
          <p:nvPr/>
        </p:nvSpPr>
        <p:spPr>
          <a:xfrm>
            <a:off x="2029346" y="1333946"/>
            <a:ext cx="155302" cy="1941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23577" y="1610916"/>
            <a:ext cx="4750296" cy="304577"/>
          </a:xfrm>
          <a:prstGeom prst="roundRect">
            <a:avLst>
              <a:gd name="adj" fmla="val 5440"/>
            </a:avLst>
          </a:prstGeom>
          <a:solidFill>
            <a:srgbClr val="F3E7D4"/>
          </a:solidFill>
          <a:ln/>
        </p:spPr>
      </p:sp>
      <p:sp>
        <p:nvSpPr>
          <p:cNvPr id="8" name="Text 6"/>
          <p:cNvSpPr/>
          <p:nvPr/>
        </p:nvSpPr>
        <p:spPr>
          <a:xfrm>
            <a:off x="2821037" y="1666131"/>
            <a:ext cx="155302" cy="1941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3577" y="2025923"/>
            <a:ext cx="220861" cy="220861"/>
          </a:xfrm>
          <a:prstGeom prst="roundRect">
            <a:avLst>
              <a:gd name="adj" fmla="val 7502"/>
            </a:avLst>
          </a:prstGeom>
          <a:solidFill>
            <a:srgbClr val="F3E7D4"/>
          </a:solidFill>
          <a:ln/>
        </p:spPr>
      </p:sp>
      <p:sp>
        <p:nvSpPr>
          <p:cNvPr id="10" name="Text 8"/>
          <p:cNvSpPr/>
          <p:nvPr/>
        </p:nvSpPr>
        <p:spPr>
          <a:xfrm>
            <a:off x="569044" y="2055168"/>
            <a:ext cx="12992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7605" y="2050033"/>
            <a:ext cx="443626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Bronze — Raw Ingestion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7605" y="2305571"/>
            <a:ext cx="4436269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source data lands as-is — Kafka topics per source system, no transformation, full fidelity preserved. Schema-on-read via </a:t>
            </a:r>
            <a:pPr algn="l" indent="0" marL="0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Delta Lake or Apache Iceberg</a:t>
            </a:r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Nothing is discarded — the bronze layer is the immutable record of truth.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23577" y="2959671"/>
            <a:ext cx="220861" cy="220861"/>
          </a:xfrm>
          <a:prstGeom prst="roundRect">
            <a:avLst>
              <a:gd name="adj" fmla="val 7502"/>
            </a:avLst>
          </a:prstGeom>
          <a:solidFill>
            <a:srgbClr val="F3E7D4"/>
          </a:solidFill>
          <a:ln/>
        </p:spPr>
      </p:sp>
      <p:sp>
        <p:nvSpPr>
          <p:cNvPr id="14" name="Text 12"/>
          <p:cNvSpPr/>
          <p:nvPr/>
        </p:nvSpPr>
        <p:spPr>
          <a:xfrm>
            <a:off x="569044" y="2988915"/>
            <a:ext cx="12992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37605" y="2983781"/>
            <a:ext cx="443626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Silver — Cleansed &amp; Conformed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7605" y="3239319"/>
            <a:ext cx="4436269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Deduplication, normalization, entity resolution. A </a:t>
            </a:r>
            <a:pPr algn="l" indent="0" marL="0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unified customer/account/transaction entity model</a:t>
            </a:r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across all source systems. Flink or Spark Streaming transforms bronze events in near real-time (&lt;5 min latency).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3577" y="3893418"/>
            <a:ext cx="220861" cy="220861"/>
          </a:xfrm>
          <a:prstGeom prst="roundRect">
            <a:avLst>
              <a:gd name="adj" fmla="val 7502"/>
            </a:avLst>
          </a:prstGeom>
          <a:solidFill>
            <a:srgbClr val="F3E7D4"/>
          </a:solidFill>
          <a:ln/>
        </p:spPr>
      </p:sp>
      <p:sp>
        <p:nvSpPr>
          <p:cNvPr id="18" name="Text 16"/>
          <p:cNvSpPr/>
          <p:nvPr/>
        </p:nvSpPr>
        <p:spPr>
          <a:xfrm>
            <a:off x="569044" y="3922663"/>
            <a:ext cx="12992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7605" y="3917528"/>
            <a:ext cx="443626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Gold — Business-Ready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7605" y="4173066"/>
            <a:ext cx="4436269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Aggregated risk features, pre-computed scores, regulatory reporting datasets. </a:t>
            </a:r>
            <a:pPr algn="l" indent="0" marL="0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Optimized for sub-second query</a:t>
            </a:r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by the rules engine, dashboards, and regulatory reporting workflows. dbt manages Silver-to-Gold transformations declaratively.</a:t>
            </a:r>
            <a:endParaRPr lang="en-US" sz="8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8015" y="946547"/>
            <a:ext cx="3077096" cy="2476351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548015" y="3527673"/>
            <a:ext cx="3077096" cy="390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6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quality score (0–100) and p99 query latency (ms) improve dramatically across layers. Gold achieves 98/100 quality and 50ms p99 — suitable for real-time decisioning.</a:t>
            </a:r>
            <a:endParaRPr lang="en-US" sz="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8402"/>
            <a:ext cx="8096845" cy="264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Centralizing Disparate Data Sources: Integration Patterns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523577" y="816843"/>
            <a:ext cx="809684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Medallion architecture is only as strong as the ingestion patterns feeding the Bronze layer. Each source system type requires a different integration strategy — the wrong pattern introduces latency, data loss, or silent failures.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129308"/>
            <a:ext cx="8096845" cy="6112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4881" y="1228799"/>
            <a:ext cx="7566050" cy="132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CDC — Change Data Capture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54881" y="1398166"/>
            <a:ext cx="75660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Debezium</a:t>
            </a:r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captures row-level changes from core banking systems (Oracle, Postgres) and streams directly to Kafka — </a:t>
            </a:r>
            <a:pPr algn="l" indent="0" marL="0">
              <a:lnSpc>
                <a:spcPct val="113000"/>
              </a:lnSpc>
              <a:buNone/>
            </a:pPr>
            <a:r>
              <a:rPr lang="en-US" sz="7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no polling, no batch windows</a:t>
            </a:r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Every committed transaction appears in the Bronze layer within seconds of write.</a:t>
            </a:r>
            <a:endParaRPr lang="en-US" sz="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1802383"/>
            <a:ext cx="8096845" cy="6112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4881" y="1901875"/>
            <a:ext cx="7566050" cy="132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API-Based Ingestion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954881" y="2071241"/>
            <a:ext cx="75660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KYC vendors, credit bureaus, and sanctions lists — event-driven pull via webhooks or scheduled micro-batch with </a:t>
            </a:r>
            <a:pPr algn="l" indent="0" marL="0">
              <a:lnSpc>
                <a:spcPct val="113000"/>
              </a:lnSpc>
              <a:buNone/>
            </a:pPr>
            <a:r>
              <a:rPr lang="en-US" sz="7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idempotent writes</a:t>
            </a:r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 Deduplication at the Bronze layer prevents double-counting on retry.</a:t>
            </a:r>
            <a:endParaRPr lang="en-US" sz="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2475458"/>
            <a:ext cx="8096845" cy="5399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4881" y="2574950"/>
            <a:ext cx="7566050" cy="132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Behavioral &amp; Device Data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954881" y="2744316"/>
            <a:ext cx="75660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Clickstream and device signals ingested via </a:t>
            </a:r>
            <a:pPr algn="l" indent="0" marL="0">
              <a:lnSpc>
                <a:spcPct val="113000"/>
              </a:lnSpc>
              <a:buNone/>
            </a:pPr>
            <a:r>
              <a:rPr lang="en-US" sz="7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Kinesis Data Firehose → Bronze layer</a:t>
            </a:r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then enriched in Silver with session context — giving the fraud model behavioral signals at the moment of transaction.</a:t>
            </a:r>
            <a:endParaRPr lang="en-US" sz="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577" y="3077245"/>
            <a:ext cx="8096845" cy="61123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4881" y="3176736"/>
            <a:ext cx="7566050" cy="132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External Threat Feeds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954881" y="3346103"/>
            <a:ext cx="75660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OFAC, FinCEN, industry fraud consortia</a:t>
            </a:r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ingested as versioned reference data and joined at the Gold layer for real-time sanctions screening. Reference data versioning enables point-in-time compliance audits.</a:t>
            </a:r>
            <a:endParaRPr lang="en-US" sz="7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77" y="3750320"/>
            <a:ext cx="8096845" cy="61123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54881" y="3849812"/>
            <a:ext cx="7566050" cy="132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Contracts</a:t>
            </a:r>
            <a:endParaRPr lang="en-US" sz="800" dirty="0"/>
          </a:p>
        </p:txBody>
      </p:sp>
      <p:sp>
        <p:nvSpPr>
          <p:cNvPr id="18" name="Text 11"/>
          <p:cNvSpPr/>
          <p:nvPr/>
        </p:nvSpPr>
        <p:spPr>
          <a:xfrm>
            <a:off x="954881" y="4019178"/>
            <a:ext cx="756605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Each source system publishes a schema contract. Breaking changes trigger </a:t>
            </a:r>
            <a:pPr algn="l" indent="0" marL="0">
              <a:lnSpc>
                <a:spcPct val="113000"/>
              </a:lnSpc>
              <a:buNone/>
            </a:pPr>
            <a:r>
              <a:rPr lang="en-US" sz="7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automated alerts</a:t>
            </a:r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before they reach production pipelines — eliminating the silent schema drift that causes data quality incidents.</a:t>
            </a:r>
            <a:endParaRPr lang="en-US" sz="700" dirty="0"/>
          </a:p>
        </p:txBody>
      </p:sp>
      <p:sp>
        <p:nvSpPr>
          <p:cNvPr id="19" name="Shape 12"/>
          <p:cNvSpPr/>
          <p:nvPr/>
        </p:nvSpPr>
        <p:spPr>
          <a:xfrm>
            <a:off x="523577" y="4431134"/>
            <a:ext cx="8096845" cy="283890"/>
          </a:xfrm>
          <a:prstGeom prst="roundRect">
            <a:avLst>
              <a:gd name="adj" fmla="val 4755"/>
            </a:avLst>
          </a:prstGeom>
          <a:solidFill>
            <a:srgbClr val="B6FCB8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3544" y="4545806"/>
            <a:ext cx="112440" cy="89967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15950" y="4515445"/>
            <a:ext cx="817170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Outcome:</a:t>
            </a:r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Single unified risk data platform replaces 10+ point-to-point integrations — new data source onboarding reduced from </a:t>
            </a:r>
            <a:pPr algn="l" indent="0" marL="0">
              <a:lnSpc>
                <a:spcPct val="113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6 weeks to 3 days</a:t>
            </a:r>
            <a:pPr algn="l" indent="0" marL="0">
              <a:lnSpc>
                <a:spcPct val="113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397892"/>
            <a:ext cx="8096845" cy="354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Real-Time Reporting: From Hours to Seconds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23577" y="1030932"/>
            <a:ext cx="3901232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Before: Batch Reporting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23577" y="1319659"/>
            <a:ext cx="3901232" cy="9275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Risk reporting ran </a:t>
            </a:r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overnight batch jobs</a:t>
            </a:r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fraud rates, AML alert volumes, and credit performance metrics available next morning at best. Risk operations teams were making decisions with yesterday's data. Regulatory reports required multi-day manual extraction and reconciliation across fragmented systems.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23577" y="2358479"/>
            <a:ext cx="3901232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After: Live Gold Layer Dashboards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23577" y="2647206"/>
            <a:ext cx="3901232" cy="742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Gold layer materialized views power live dashboards — </a:t>
            </a:r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metrics refresh every 60 seconds</a:t>
            </a:r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regulatory reports generated on-demand. Risk ops teams see the same data the engine sees, at the same time it sees it. The information asymmetry between the system and its operators is eliminated.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23577" y="3500512"/>
            <a:ext cx="3901232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3577" y="3789238"/>
            <a:ext cx="3901232" cy="742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Apache Pinot or ClickHouse</a:t>
            </a:r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OLAP queries on streaming data — sub-second aggregations across billions of transactions. Pre-built Gold layer datasets for </a:t>
            </a:r>
            <a:pPr algn="l" indent="0" marL="0">
              <a:lnSpc>
                <a:spcPct val="128000"/>
              </a:lnSpc>
              <a:buNone/>
            </a:pPr>
            <a:r>
              <a:rPr lang="en-US" sz="95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BSA/AML, CCAR, and DFAST</a:t>
            </a:r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reporting enable auditor self-service without manual data extraction.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7038" y="919683"/>
            <a:ext cx="4075063" cy="3825850"/>
          </a:xfrm>
          <a:prstGeom prst="roundRect">
            <a:avLst>
              <a:gd name="adj" fmla="val 473"/>
            </a:avLst>
          </a:prstGeom>
          <a:solidFill>
            <a:srgbClr val="38512F"/>
          </a:solidFill>
          <a:ln/>
        </p:spPr>
      </p:sp>
      <p:sp>
        <p:nvSpPr>
          <p:cNvPr id="10" name="Text 8"/>
          <p:cNvSpPr/>
          <p:nvPr/>
        </p:nvSpPr>
        <p:spPr>
          <a:xfrm>
            <a:off x="4757663" y="1030932"/>
            <a:ext cx="3833813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Measured Business Impact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7663" y="1393775"/>
            <a:ext cx="1847404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T+3min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4757663" y="1935733"/>
            <a:ext cx="1847404" cy="177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Fraud Detection Window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7663" y="2224460"/>
            <a:ext cx="1847404" cy="3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Reduced from T+24h — a 480x improvement in detection speed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744072" y="1393775"/>
            <a:ext cx="1847404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4hrs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6744072" y="1935733"/>
            <a:ext cx="1847404" cy="354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Regulatory Report Generation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44072" y="2401937"/>
            <a:ext cx="1847404" cy="371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Reduced from 3 days — BSA/AML, CCAR, DFAST on-demand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750868" y="3055739"/>
            <a:ext cx="1847404" cy="398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60s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5750868" y="3597697"/>
            <a:ext cx="1847404" cy="354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Dashboard Refresh Cadence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50868" y="4063901"/>
            <a:ext cx="1847404" cy="556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operational metrics for fraud rate, AML queue depth, credit throughput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359941"/>
            <a:ext cx="809684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Putting It All Together: The Integrated Risk Platform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617860"/>
            <a:ext cx="8096845" cy="37055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54570" y="1138883"/>
            <a:ext cx="1685648" cy="210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Microservices &amp; UI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54570" y="1413149"/>
            <a:ext cx="1974217" cy="268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Services, event bus, and micro frontends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44369" y="2356848"/>
            <a:ext cx="1685647" cy="210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Rules &amp; Workflow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5010" y="2631114"/>
            <a:ext cx="1815006" cy="268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Decision logic and orchestrated pipelines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54570" y="2985732"/>
            <a:ext cx="1685648" cy="210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Medallion Data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54570" y="3259998"/>
            <a:ext cx="1974217" cy="268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Bronze/Silver/Gold central risk data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23577" y="4360143"/>
            <a:ext cx="8096845" cy="807541"/>
          </a:xfrm>
          <a:prstGeom prst="roundRect">
            <a:avLst>
              <a:gd name="adj" fmla="val 1216"/>
            </a:avLst>
          </a:prstGeom>
          <a:solidFill>
            <a:srgbClr val="F3E7D4"/>
          </a:solidFill>
          <a:ln/>
        </p:spPr>
      </p:sp>
      <p:sp>
        <p:nvSpPr>
          <p:cNvPr id="11" name="Shape 8"/>
          <p:cNvSpPr/>
          <p:nvPr/>
        </p:nvSpPr>
        <p:spPr>
          <a:xfrm>
            <a:off x="523577" y="4360143"/>
            <a:ext cx="4048423" cy="403771"/>
          </a:xfrm>
          <a:custGeom>
            <a:avLst/>
            <a:gdLst/>
            <a:ahLst/>
            <a:cxnLst/>
            <a:rect l="l" t="t" r="r" b="b"/>
            <a:pathLst>
              <a:path w="4048423" h="403771">
                <a:moveTo>
                  <a:pt x="8182" y="0"/>
                </a:moveTo>
                <a:lnTo>
                  <a:pt x="4048423" y="0"/>
                </a:lnTo>
                <a:lnTo>
                  <a:pt x="4048423" y="403771"/>
                </a:lnTo>
                <a:lnTo>
                  <a:pt x="0" y="403771"/>
                </a:lnTo>
                <a:lnTo>
                  <a:pt x="0" y="8182"/>
                </a:lnTo>
                <a:arcTo hR="8182" wR="8182" stAng="10800000" swAng="5400000"/>
                <a:close/>
              </a:path>
            </a:pathLst>
          </a:custGeom>
          <a:solidFill>
            <a:srgbClr val="F3E7D4"/>
          </a:solidFill>
          <a:ln/>
        </p:spPr>
      </p:sp>
      <p:sp>
        <p:nvSpPr>
          <p:cNvPr id="12" name="Text 9"/>
          <p:cNvSpPr/>
          <p:nvPr/>
        </p:nvSpPr>
        <p:spPr>
          <a:xfrm>
            <a:off x="588987" y="4425553"/>
            <a:ext cx="3917603" cy="9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Layer — Medallion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588987" y="4541341"/>
            <a:ext cx="391760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risk signals centralized, cleansed, and available in near real-time. The </a:t>
            </a:r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single source of truth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every risk decision across fraud, credit, and AML.</a:t>
            </a:r>
            <a:endParaRPr lang="en-US" sz="500" dirty="0"/>
          </a:p>
        </p:txBody>
      </p:sp>
      <p:sp>
        <p:nvSpPr>
          <p:cNvPr id="14" name="Shape 11"/>
          <p:cNvSpPr/>
          <p:nvPr/>
        </p:nvSpPr>
        <p:spPr>
          <a:xfrm>
            <a:off x="4572000" y="4360143"/>
            <a:ext cx="4048423" cy="403771"/>
          </a:xfrm>
          <a:custGeom>
            <a:avLst/>
            <a:gdLst/>
            <a:ahLst/>
            <a:cxnLst/>
            <a:rect l="l" t="t" r="r" b="b"/>
            <a:pathLst>
              <a:path w="4048423" h="403771">
                <a:moveTo>
                  <a:pt x="0" y="0"/>
                </a:moveTo>
                <a:lnTo>
                  <a:pt x="4040241" y="0"/>
                </a:lnTo>
                <a:arcTo hR="8182" wR="8182" stAng="16200000" swAng="5400000"/>
                <a:lnTo>
                  <a:pt x="4048423" y="403771"/>
                </a:lnTo>
                <a:lnTo>
                  <a:pt x="0" y="403771"/>
                </a:lnTo>
                <a:lnTo>
                  <a:pt x="0" y="0"/>
                </a:lnTo>
                <a:close/>
              </a:path>
            </a:pathLst>
          </a:custGeom>
          <a:solidFill>
            <a:srgbClr val="F3E7D4"/>
          </a:solidFill>
          <a:ln/>
        </p:spPr>
      </p:sp>
      <p:sp>
        <p:nvSpPr>
          <p:cNvPr id="15" name="Shape 12"/>
          <p:cNvSpPr/>
          <p:nvPr/>
        </p:nvSpPr>
        <p:spPr>
          <a:xfrm>
            <a:off x="4572000" y="4360143"/>
            <a:ext cx="9525" cy="403771"/>
          </a:xfrm>
          <a:prstGeom prst="roundRect">
            <a:avLst>
              <a:gd name="adj" fmla="val 50000"/>
            </a:avLst>
          </a:prstGeom>
          <a:solidFill>
            <a:srgbClr val="D9CDBA"/>
          </a:solidFill>
          <a:ln/>
        </p:spPr>
      </p:sp>
      <p:sp>
        <p:nvSpPr>
          <p:cNvPr id="16" name="Text 13"/>
          <p:cNvSpPr/>
          <p:nvPr/>
        </p:nvSpPr>
        <p:spPr>
          <a:xfrm>
            <a:off x="4637410" y="4425553"/>
            <a:ext cx="3917603" cy="9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Decision Layer — Rules Engine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4637410" y="4541341"/>
            <a:ext cx="3917603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Configuration-driven rules consume Gold layer features. </a:t>
            </a:r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Business teams change policy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without engineering involvement — hours, not weeks.</a:t>
            </a:r>
            <a:endParaRPr lang="en-US" sz="500" dirty="0"/>
          </a:p>
        </p:txBody>
      </p:sp>
      <p:sp>
        <p:nvSpPr>
          <p:cNvPr id="18" name="Shape 15"/>
          <p:cNvSpPr/>
          <p:nvPr/>
        </p:nvSpPr>
        <p:spPr>
          <a:xfrm>
            <a:off x="523577" y="4763914"/>
            <a:ext cx="4048423" cy="403771"/>
          </a:xfrm>
          <a:custGeom>
            <a:avLst/>
            <a:gdLst/>
            <a:ahLst/>
            <a:cxnLst/>
            <a:rect l="l" t="t" r="r" b="b"/>
            <a:pathLst>
              <a:path w="4048423" h="403771">
                <a:moveTo>
                  <a:pt x="0" y="0"/>
                </a:moveTo>
                <a:lnTo>
                  <a:pt x="4048423" y="0"/>
                </a:lnTo>
                <a:lnTo>
                  <a:pt x="4048423" y="403771"/>
                </a:lnTo>
                <a:lnTo>
                  <a:pt x="8182" y="403771"/>
                </a:lnTo>
                <a:arcTo hR="8182" wR="8182" stAng="5400000" swAng="5400000"/>
                <a:lnTo>
                  <a:pt x="0" y="0"/>
                </a:lnTo>
                <a:close/>
              </a:path>
            </a:pathLst>
          </a:custGeom>
          <a:solidFill>
            <a:srgbClr val="F3E7D4"/>
          </a:solidFill>
          <a:ln/>
        </p:spPr>
      </p:sp>
      <p:sp>
        <p:nvSpPr>
          <p:cNvPr id="19" name="Shape 16"/>
          <p:cNvSpPr/>
          <p:nvPr/>
        </p:nvSpPr>
        <p:spPr>
          <a:xfrm>
            <a:off x="523577" y="4763914"/>
            <a:ext cx="4048423" cy="9525"/>
          </a:xfrm>
          <a:prstGeom prst="roundRect">
            <a:avLst>
              <a:gd name="adj" fmla="val 50000"/>
            </a:avLst>
          </a:prstGeom>
          <a:solidFill>
            <a:srgbClr val="D9CDBA"/>
          </a:solidFill>
          <a:ln/>
        </p:spPr>
      </p:sp>
      <p:sp>
        <p:nvSpPr>
          <p:cNvPr id="20" name="Text 17"/>
          <p:cNvSpPr/>
          <p:nvPr/>
        </p:nvSpPr>
        <p:spPr>
          <a:xfrm>
            <a:off x="588987" y="4829324"/>
            <a:ext cx="3917603" cy="9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Execution Layer — Microservices + Events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588987" y="4945112"/>
            <a:ext cx="391760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Bounded-context services process decisions asynchronously. </a:t>
            </a:r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Scalable, resilient, independently deployable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each domain fails and scales in isolation.</a:t>
            </a:r>
            <a:endParaRPr lang="en-US" sz="500" dirty="0"/>
          </a:p>
        </p:txBody>
      </p:sp>
      <p:sp>
        <p:nvSpPr>
          <p:cNvPr id="22" name="Shape 19"/>
          <p:cNvSpPr/>
          <p:nvPr/>
        </p:nvSpPr>
        <p:spPr>
          <a:xfrm>
            <a:off x="4572000" y="4763914"/>
            <a:ext cx="4048423" cy="403771"/>
          </a:xfrm>
          <a:custGeom>
            <a:avLst/>
            <a:gdLst/>
            <a:ahLst/>
            <a:cxnLst/>
            <a:rect l="l" t="t" r="r" b="b"/>
            <a:pathLst>
              <a:path w="4048423" h="403771">
                <a:moveTo>
                  <a:pt x="0" y="0"/>
                </a:moveTo>
                <a:lnTo>
                  <a:pt x="4048423" y="0"/>
                </a:lnTo>
                <a:lnTo>
                  <a:pt x="4048423" y="395589"/>
                </a:lnTo>
                <a:arcTo hR="8182" wR="8182" stAng="0" swAng="5400000"/>
                <a:lnTo>
                  <a:pt x="0" y="403771"/>
                </a:lnTo>
                <a:lnTo>
                  <a:pt x="0" y="0"/>
                </a:lnTo>
                <a:close/>
              </a:path>
            </a:pathLst>
          </a:custGeom>
          <a:solidFill>
            <a:srgbClr val="F3E7D4"/>
          </a:solidFill>
          <a:ln/>
        </p:spPr>
      </p:sp>
      <p:sp>
        <p:nvSpPr>
          <p:cNvPr id="23" name="Shape 20"/>
          <p:cNvSpPr/>
          <p:nvPr/>
        </p:nvSpPr>
        <p:spPr>
          <a:xfrm>
            <a:off x="4572000" y="4763914"/>
            <a:ext cx="9525" cy="403771"/>
          </a:xfrm>
          <a:prstGeom prst="roundRect">
            <a:avLst>
              <a:gd name="adj" fmla="val 50000"/>
            </a:avLst>
          </a:prstGeom>
          <a:solidFill>
            <a:srgbClr val="D9CDBA"/>
          </a:solidFill>
          <a:ln/>
        </p:spPr>
      </p:sp>
      <p:sp>
        <p:nvSpPr>
          <p:cNvPr id="24" name="Shape 21"/>
          <p:cNvSpPr/>
          <p:nvPr/>
        </p:nvSpPr>
        <p:spPr>
          <a:xfrm>
            <a:off x="4572000" y="4763914"/>
            <a:ext cx="4048423" cy="9525"/>
          </a:xfrm>
          <a:prstGeom prst="roundRect">
            <a:avLst>
              <a:gd name="adj" fmla="val 50000"/>
            </a:avLst>
          </a:prstGeom>
          <a:solidFill>
            <a:srgbClr val="D9CDBA"/>
          </a:solidFill>
          <a:ln/>
        </p:spPr>
      </p:sp>
      <p:sp>
        <p:nvSpPr>
          <p:cNvPr id="25" name="Text 22"/>
          <p:cNvSpPr/>
          <p:nvPr/>
        </p:nvSpPr>
        <p:spPr>
          <a:xfrm>
            <a:off x="4637410" y="4829324"/>
            <a:ext cx="3917603" cy="96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Experience Layer — Micro Frontends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4637410" y="4945112"/>
            <a:ext cx="3917603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Domain-specific UIs for fraud analysts, AML investigators, and credit reviewers. </a:t>
            </a:r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3A363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Each team ships independently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on their own cadence.</a:t>
            </a:r>
            <a:endParaRPr lang="en-US" sz="500" dirty="0"/>
          </a:p>
        </p:txBody>
      </p:sp>
      <p:sp>
        <p:nvSpPr>
          <p:cNvPr id="27" name="Shape 24"/>
          <p:cNvSpPr/>
          <p:nvPr/>
        </p:nvSpPr>
        <p:spPr>
          <a:xfrm>
            <a:off x="523577" y="5204445"/>
            <a:ext cx="8096845" cy="181496"/>
          </a:xfrm>
          <a:prstGeom prst="roundRect">
            <a:avLst>
              <a:gd name="adj" fmla="val 5410"/>
            </a:avLst>
          </a:prstGeom>
          <a:solidFill>
            <a:srgbClr val="E2ECDF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87" y="5286152"/>
            <a:ext cx="81781" cy="6541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36178" y="5253410"/>
            <a:ext cx="8276034" cy="78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0" b="1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Cross-cutting concerns baked into every layer:</a:t>
            </a:r>
            <a:pPr algn="l" indent="0" marL="0">
              <a:lnSpc>
                <a:spcPct val="10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Observability (OpenTelemetry) · Security (zero-trust, field-level encryption) · Compliance (full audit trail, explainability, point-in-time replay)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2026-07-30T00:53:52Z</dcterms:created>
  <dcterms:modified xsi:type="dcterms:W3CDTF">2026-07-30T00:53:52Z</dcterms:modified>
</cp:coreProperties>
</file>