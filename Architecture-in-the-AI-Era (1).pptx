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76" r:id="rId27"/>
    <p:sldId id="258" r:id="rId4"/>
    <p:sldId id="259" r:id="rId5"/>
    <p:sldId id="260" r:id="rId6"/>
    <p:sldId id="261" r:id="rId7"/>
    <p:sldId id="262" r:id="rId8"/>
    <p:sldId id="277" r:id="rId28"/>
    <p:sldId id="263" r:id="rId9"/>
    <p:sldId id="264" r:id="rId10"/>
    <p:sldId id="265" r:id="rId11"/>
    <p:sldId id="266" r:id="rId12"/>
    <p:sldId id="267" r:id="rId13"/>
    <p:sldId id="268" r:id="rId14"/>
    <p:sldId id="269" r:id="rId15"/>
    <p:sldId id="270" r:id="rId16"/>
    <p:sldId id="271" r:id="rId17"/>
    <p:sldId id="272" r:id="rId18"/>
    <p:sldId id="273" r:id="rId19"/>
    <p:sldId id="274" r:id="rId20"/>
    <p:sldId id="278" r:id="rId29"/>
    <p:sldId id="275" r:id="rId21"/>
    <p:sldId id="279" r:id="rId30"/>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NOTES — TITLE SLIDE (5 minutes including video)</a:t>
            </a:r>
            <a:endParaRPr lang="en-US" dirty="0"/>
          </a:p>
          <a:p/>
          <a:p>
            <a:r>
              <a:t>[BEFORE YOU BEGIN — OPTIONAL VIDEO OPENER]</a:t>
            </a:r>
          </a:p>
          <a:p>
            <a:r>
              <a:t>▶️ PLAY VIDEO: Grady Booch — "The Third Golden Age of Software Engineering"</a:t>
            </a:r>
          </a:p>
          <a:p>
            <a:r>
              <a:t>   YouTube: https://www.youtube.com/watch?v=DVJ5rQ8At5s</a:t>
            </a:r>
          </a:p>
          <a:p>
            <a:r>
              <a:t>   Duration: Play first 3 minutes (highlights reel from InfoQ)</a:t>
            </a:r>
          </a:p>
          <a:p>
            <a:r>
              <a:t>   Context: Booch — co-creator of UML, IBM Fellow — frames where we are historically. He calls this the "third golden age of software engineering" and argues architecture matters MORE in the AI era, not less.</a:t>
            </a:r>
          </a:p>
          <a:p>
            <a:r>
              <a:t>   CUE TO STOP: After he says "We are already in the third golden age of software, and AI is a component of it, not the cause."</a:t>
            </a:r>
          </a:p>
          <a:p>
            <a:r>
              <a:t>   TRANSITION: "Grady captures exactly what I want to explore today..."</a:t>
            </a:r>
          </a:p>
          <a:p/>
          <a:p>
            <a:r>
              <a:t>Welcome everyone. I'm excited to talk about something close to all of us — how the practice of architecture is evolving in the AI era. Not architecture in the abstract, but OUR architecture practice: Distinguished Engineers, Application Architects, ADRs, design reviews, enterprise patterns, policy standards — the machinery that makes Capital One a technology company that happens to do banking.</a:t>
            </a:r>
          </a:p>
          <a:p/>
          <a:p>
            <a:r>
              <a:t>As Grady just said, AI is a component of this golden age, not the cause. The cause is US — the architects, the engineers, the builders. AI amplifies what we do. It doesn't replace the need for architectural judgment.</a:t>
            </a:r>
          </a:p>
          <a:p/>
          <a:p>
            <a:r>
              <a:t>Here's my thesis: the six pillars of well-architected design haven't gone away. Our commitment to scalability, reliability, security — those endure. But the DIMENSIONS of each pillar are changing. And threading through everything is the single most important architectural pattern: keeping humans meaningfully in the loop.</a:t>
            </a:r>
          </a:p>
          <a:p/>
          <a:p>
            <a:r>
              <a:t>This is a 45-minute talk. I'll cover what's changing in the Well-Architected Framework with the new AI lenses, how our DE and architect roles are evolving, what happens to ADRs and design reviews, and why human judgment remains our most critical system component.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NOTES — AGENDA (1 minute)</a:t>
            </a:r>
            <a:endParaRPr lang="en-US" dirty="0"/>
          </a:p>
          <a:p/>
          <a:p>
            <a:r>
              <a:t>Here's our roadmap. We'll start with what's enduring — the Well-Architected Framework pillars that remain our foundation. Then we'll look at what's changing within each pillar. We'll cover the three new AWS AI lenses launched at re:Invent 2025. Then the big one — how the architect role itself is being redefined, and what that means for DEs and application architects at Capital One specifically. We'll look at how our core practices — ADRs, design reviews, enterprise patterns — evolve. And we'll close with human-in-the-loop as our most critical pattern.</a:t>
            </a:r>
          </a:p>
          <a:p/>
          <a:p>
            <a:r>
              <a:t>[TIMING NOTE: You've used ~6 minutes so far including the opening video. You have 39 minutes remaining. Pace yourself — the meatiest sections are slides 10-16.]</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SIX PILLARS (3 minutes)
Let's start with what stays the same. The AWS Well-Architected Framework has six pillars. Every single one is still relevant. The Gen AI Lens maps its best practices directly to these same pillars.
That's the first insight: AI doesn't create a new architecture discipline. You still need operational excellence, security, reliability, performance efficiency, cost optimization, and sustainability.
What changes is what those words MEAN when your workload includes a foundation model. "Reliability" used to mean servers stay up. Now it also means your model doesn't hallucinate in production. "Security" used to mean IAM and encryption. Now it also means prompt injection defense.
At Capital One, we've always built for scalability and reliability. Those non-negotiables don't change. The threat surface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NOTES — WHAT'S CHANGING (6 minutes including video)</a:t>
            </a:r>
            <a:endParaRPr lang="en-US" dirty="0"/>
          </a:p>
          <a:p/>
          <a:p>
            <a:r>
              <a:t>Let me walk through each pillar quickly.</a:t>
            </a:r>
          </a:p>
          <a:p/>
          <a:p>
            <a:r>
              <a:t>OPERATIONAL EXCELLENCE: We now monitor output QUALITY, not just uptime. Every prompt and response needs traceability — think of it as the AI equivalent of our transaction audit trail. Model lifecycle management becomes automated.</a:t>
            </a:r>
          </a:p>
          <a:p/>
          <a:p>
            <a:r>
              <a:t>SECURITY: This is the biggest shift. Prompt injection is where adversarial inputs hijack model behavior. Model poisoning compromises training data. "Excessive agency" is where an AI agent takes actions beyond its scope — imagine an agent with database write access "helpfully" modifying customer records.</a:t>
            </a:r>
          </a:p>
          <a:p/>
          <a:p>
            <a:r>
              <a:t>RELIABILITY: Models are non-deterministic — same input, different outputs. We need confidence thresholds, fallback logic, and graceful degradation when the model isn't sure. Think circuit breakers for AI.</a:t>
            </a:r>
          </a:p>
          <a:p/>
          <a:p>
            <a:r>
              <a:t>PERFORMANCE: It's not just API latency anymore. It's inference optimization, RAG pipeline tuning, and choosing the right compute — GPUs, custom silicon, serverless.</a:t>
            </a:r>
          </a:p>
          <a:p/>
          <a:p>
            <a:r>
              <a:t>COST: Token costs add up FAST. Not every task needs the most powerful model. Prompt engineering for cost efficiency — shorter prompts, fewer tokens, smarter routing.</a:t>
            </a:r>
          </a:p>
          <a:p/>
          <a:p>
            <a:r>
              <a:t>SUSTAINABILITY: Training large models has enormous carbon footprint. Use pre-trained models, leverage serverless inference to avoid idle GPU waste.</a:t>
            </a:r>
          </a:p>
          <a:p/>
          <a:p>
            <a:r>
              <a:t>[AFTER PILLAR WALKTHROUGH — VIDEO CUE]</a:t>
            </a:r>
          </a:p>
          <a:p>
            <a:r>
              <a:t>▶️ PLAY VIDEO: Eric Schmidt — "The AI Revolution Is Underhyped" (TED, May 2025)</a:t>
            </a:r>
          </a:p>
          <a:p>
            <a:r>
              <a:t>   YouTube: https://www.youtube.com/watch?v=id4YRO7G0wE</a:t>
            </a:r>
          </a:p>
          <a:p>
            <a:r>
              <a:t>   Duration: Play 2 minutes — start at the opening where he says "The arrival of non-human intelligence is a very big deal"</a:t>
            </a:r>
          </a:p>
          <a:p>
            <a:r>
              <a:t>   CUE TO STOP: After he describes the pace of breakthroughs and says systems are "capable of doing even the most complex tasks on their own"</a:t>
            </a:r>
          </a:p>
          <a:p>
            <a:r>
              <a:t>   TRANSITION: "Schmidt is right about the scale of change. But notice what he's describing — TASKS being automated, not JUDGMENT being replaced. That's exactly the distinction our three AWS lenses help us navigate..."</a:t>
            </a:r>
          </a:p>
          <a:p/>
          <a:p>
            <a:r>
              <a:t>[This video creates an energy boost after a dense pillar-by-pillar walkthrough. It re-engages the room and sets up the transition to the three lenses slide.]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THREE LENSES (3 minutes)
AWS launched three AI-specific lenses that work as a system.
The RESPONSIBLE AI LENS is brand new — it's the foundational layer. Ten dimensions that are architectural requirements, not just ethical guidelines. Controllability means circuit breakers and kill switches. Veracity means validation layers. Explainability means if you can't explain WHY a decision was made, you can't debug it or audit it. At Capital One, in a regulated financial services environment, these aren't optional.
The GENERATIVE AI LENS was updated with major new sections on agentic AI architectures, data architecture for gen AI workloads, and the eight core dimensions of responsible AI baked into best practices.
The MACHINE LEARNING LENS covers the full ML lifecycle. Updated with SageMaker Unified Studio, distributed training, and bias/fairness assessment.
Key insight: these are designed as a system. If you're only looking at one, you're missing the full picture.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NOTES — AGENTIC AI (3 minutes)</a:t>
            </a:r>
            <a:endParaRPr lang="en-US" dirty="0"/>
          </a:p>
          <a:p/>
          <a:p>
            <a:r>
              <a:t>One of the biggest additions to the Gen AI Lens is the agentic AI preamble. This is genuinely new territory.</a:t>
            </a:r>
          </a:p>
          <a:p/>
          <a:p>
            <a:r>
              <a:t>Capital One is already building agentic systems — the Distinguished Engineer role for Messaging &amp; Marketing Technology is specifically building "fully automated agentic flows" and "agentic orchestration systems." The Travel Intelligence Platform DE role is establishing an "Agentic AI framework where reasoning-based agents bridge data orchestration and real-world execution."</a:t>
            </a:r>
          </a:p>
          <a:p/>
          <a:p>
            <a:r>
              <a:t>The architectural challenge for us is threefold:</a:t>
            </a:r>
          </a:p>
          <a:p/>
          <a:p>
            <a:r>
              <a:t>EXCESSIVE AGENCY: An agent with database write access might "helpfully" modify records. In financial services, that's not just a bug — it's a regulatory event.</a:t>
            </a:r>
          </a:p>
          <a:p/>
          <a:p>
            <a:r>
              <a:t>ERROR COMPOUNDING: In agentic chains, the agent might interpret a partial failure, adjust its plan, and take a new action based on that interpretation. Errors cascade through the reasoning chain.</a:t>
            </a:r>
          </a:p>
          <a:p/>
          <a:p>
            <a:r>
              <a:t>ACCOUNTABILITY: When an agent takes an action affecting a customer's finances, we own that outcome. The Responsible AI Lens explicitly addresses shared responsibility between producers, providers, and consumers. But at Capital One, the buck stops with us.</a:t>
            </a:r>
          </a:p>
          <a:p/>
          <a:p>
            <a:r>
              <a:t>This is where human-in-the-loop becomes architecturally critical.</a:t>
            </a:r>
          </a:p>
          <a:p/>
          <a:p>
            <a:r>
              <a:t>[OPTIONAL ENRICHMENT — if running ahead of schedule]</a:t>
            </a:r>
          </a:p>
          <a:p>
            <a:r>
              <a:t>▶️ OPTIONAL VIDEO: Grady Booch — "From Formal Methods to Vibe Programming" (ESEM 2025 Keynote)</a:t>
            </a:r>
          </a:p>
          <a:p>
            <a:r>
              <a:t>   YouTube: https://www.youtube.com/watch?v=oxhwpcgvNi0</a:t>
            </a:r>
          </a:p>
          <a:p>
            <a:r>
              <a:t>   Duration: Play 90 seconds from the segment where he discusses "vibe coding" and why architectural rigor pushes back</a:t>
            </a:r>
          </a:p>
          <a:p>
            <a:r>
              <a:t>   USE ONLY IF: You're running 3+ minutes ahead of schedule. Skip if tight on time.</a:t>
            </a:r>
          </a:p>
          <a:p>
            <a:r>
              <a:t>   TRANSITION: "Booch calls what's happening 'vibe programming' — and he's warning us. When agents chain together in multi-step workflows, we can't afford to vibe. We need architectural guardrails. Let me show you what stays the same..."</a:t>
            </a:r>
          </a:p>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WHAT STAYS (3 minutes)
Now let's talk about what endures — because this is crucial for our audience.
SCALABILITY: We serve tens of millions of customers. AI workloads add inference load, vector database queries, embedding generation. Scale matters MORE, not less.
RELIABILITY: Our availability targets don't change because we added an LLM. But reliability now also means the model doesn't hallucinate financial advice. Circuit breakers for AI are as important as circuit breakers for APIs.
DEFENSE IN DEPTH: You don't throw away your existing security posture. You ADD layers — prompt filtering, output validation, model access controls — on top of IAM, encryption, and network security.
ITERATIVE DESIGN: The Gen AI Lens explicitly describes an iterative lifecycle. You don't pick a model and ship it. You iterate as capabilities evolve and understanding deepens. This aligns perfectly with our existing agile practices.
OBSERVABILITY: With deterministic software, you can reason about behavior from code. With non-deterministic AI, you MUST observe actual behavior in production. Every prompt, every response, every confidence score — logged, traced, monitored.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ARCHITECT ROLE REDEFINED (3 minutes)
The architect is moving from "player on the field to coach on the sideline." You're not building the feature; you're designing the pipeline that builds the feature.
LESS TIME ON: Manual code review of every line — AI coding assistants are handling boilerplate. Static documentation that decays — AI can generate and keep docs current. Solo technology selection — AI can evaluate options faster.
MORE TIME ON: Intelligence orchestration — our DEs building agentic systems need to coordinate networks of AI agents, foundation models, and human reviewers. Trade-off navigation — AI generates 10 architectures in 10 minutes. The architect's value is CHOOSING between them by weighing business context, team capability, and technical debt. Governance design — defining what AI can do independently, what requires escalation, what triggers a halt. Data architecture — vector databases, semantic layers, RAG pipelines. These are table stakes now. Socio-technical coaching — managing the human side of AI adoption.
The profession has reached an inflection point, transitioning from manual blueprinting to intelligence orchestration and autonomous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NOTES — THREE LOOPS (3 minutes)</a:t>
            </a:r>
            <a:endParaRPr lang="en-US" dirty="0"/>
          </a:p>
          <a:p/>
          <a:p>
            <a:r>
              <a:t>This "Three Loops" framework from InfoQ gives us a powerful mental model for how architects engage with AI.</a:t>
            </a:r>
          </a:p>
          <a:p/>
          <a:p>
            <a:r>
              <a:t>IN THE LOOP — Collaborative. This is where most of us should be TODAY. You're using AI to investigate problem spaces, diverge and converge on ideas, rapidly test approaches. Think of it as a "bionic" architect — AI extends your analytical reach beyond human limits. You can simulate trade-offs, query tribal knowledge through tools like GraphRAG. But YOU steer every judgment call.</a:t>
            </a:r>
          </a:p>
          <a:p/>
          <a:p>
            <a:r>
              <a:t>ON THE LOOP — Supervisory. AI proposes architectures, generates code, drafts ADRs. You review, validate, course-correct. This is where design reviews evolve — you're not just reviewing human-written designs anymore, you're reviewing AI-generated proposals. The approval gate is the architect.</a:t>
            </a:r>
          </a:p>
          <a:p/>
          <a:p>
            <a:r>
              <a:t>OUT OF THE LOOP — Autonomous. This is the most dangerous and most powerful mode. AI operates within guardrails YOU designed. Your focus shifts entirely to governance, audit, and alignment. The architecture you build is the guardrail system itself.</a:t>
            </a:r>
          </a:p>
          <a:p/>
          <a:p>
            <a:r>
              <a:t>The key insight: as we move from "in" to "out," the architect's work becomes MORE important, not less. You're designing the system that designs the systems.</a:t>
            </a:r>
          </a:p>
          <a:p/>
          <a:p>
            <a:r>
              <a:t>Over-reliance risks "skill atrophy" — we lose tacit knowledge if we delegate too much. We need deliberate friction: manual design sessions, hands-on coding, to preserve professional judgment.</a:t>
            </a:r>
          </a:p>
          <a:p/>
          <a:p>
            <a:r>
              <a:t>[OPTIONAL VIDEO CUE — for deeper engagement with the room]</a:t>
            </a:r>
          </a:p>
          <a:p>
            <a:r>
              <a:t>▶️ OPTIONAL VIDEO: "What Makes Us Human in the Age of AI?" (TED Intersections)</a:t>
            </a:r>
          </a:p>
          <a:p>
            <a:r>
              <a:t>   YouTube: https://www.youtube.com/watch?v=Rcm9u9CdK10</a:t>
            </a:r>
          </a:p>
          <a:p>
            <a:r>
              <a:t>   Duration: Play 2 minutes from the opening</a:t>
            </a:r>
          </a:p>
          <a:p>
            <a:r>
              <a:t>   Context: A psychologist and AI technologist discuss what makes human judgment irreplaceable</a:t>
            </a:r>
          </a:p>
          <a:p>
            <a:r>
              <a:t>   USE ONLY IF: The audience is highly engaged and you want to create a reflective moment before diving into the Capital One-specific section</a:t>
            </a:r>
          </a:p>
          <a:p>
            <a:r>
              <a:t>   TRANSITION: "That question — what makes us human in the loop — is exactly what I want to ground in our specific practices. Let me talk about how this maps to DEs and application architects at Capital One..."</a:t>
            </a:r>
          </a:p>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DEs &amp; APPLICATION ARCHITECTS (4 minutes)
Capital One's Distinguished Engineer path has three tracks — and each one is evolving.
SUBJECT MATTER EXPERTS: These DEs are brought in to solve specific, complex technical problems. They own a platform, they write a lot of code. In the AI era, they ALSO need to evaluate foundation models, design prompt engineering patterns, and architect agentic workflows. Our DE role for AML/Sanctions is already "architecting intelligent, real-time risk management products heavily utilizing AI." The Marketing Tech DE is building "fully automated agentic flows."
ARCHITECTS: They see the big picture. They define enterprise patterns and standards. Now they also design agent coordination, governance structures, AI autonomy boundaries, and data architecture for RAG pipelines. The Bank Modernization DE is "designing services at the heart of our core banking platform" while ensuring migration to "a core agnostic interface."
DEVELOPERS/CREATORS: They build and ship. Now they also evaluate AI-generated code, work with AI-augmented development tools, and maintain systems where they may not fully understand every line AI wrote — what we call "epistemic debt."
Across all three tracks, the core expectations remain: "Deep technical experts and thought leaders that help accelerate adoption of the very best engineering practices." DEs are "role models and mentors, helping to coach and strengthen the technical expertise." The voice of tech is in the room at all levels. That doesn't change. The SCOPE of what "technical expertise" means is what's expanding.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ADRs IN THE AI ERA (3 minutes)
ADRs are MORE critical in the AI era, not less. Here's why.
WHAT STAYS: The fundamental format — Context, Decision, Consequences — is timeless. ADRs capture WHY we made a decision, not just what we decided. They're an immutable record of architectural intent. That doesn't change.
WHAT CHANGES: We have entirely new categories of decisions to document. Model selection rationale — why Claude over GPT over Gemini for this use case? What were the cost/quality/latency trade-offs? Prompt strategy decisions — why this prompt template? What were the alternatives?
We also need NEW SECTIONS in our ADR templates:
MODEL SELECTION RATIONALE: Document the evaluation. What models were considered? What benchmarks were run? What's the cost per million tokens?
AUTONOMY BOUNDARY DEFINITION: This is new and critical. For every AI capability, document: what can AI do independently? What requires human escalation? What triggers an automatic halt? These boundaries should be versioned and auditable.
OBSERVABILITY REQUIREMENTS: What metrics and traces do we need to verify AI behavior in production? You can't just log HTTP status codes anymore — you need to log prompts, responses, confidence scores, latency, token usage.
RESPONSIBLE AI ASSESSMENT: Map the system against the ten dimensions. Where are the risks in fairness, explainability, controllability?
And here's a practical insight: AI can DRAFT ADRs. Feed it the context, the options evaluated, the decision made — and let it generate the first draft. But a human architect APPROVES the ADR. The approval gate is the human in the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DESIGN REVIEWS (3 minutes)
Design reviews don't go away. They get MORE important because the stakes are higher.
The TRADITIONAL CHECKLIST — scalability, reliability, security, performance, cost — that STAYS. You still ask: will this scale? Is this secure? Can we afford this? What's the latency budget?
But we ADD new review dimensions:
AI-SPECIFIC REVIEW: What model was selected and why? What's the prompt strategy? How do we validate outputs? What's the fallback when the model returns low-confidence results? What are the confidence thresholds for auto-approve vs human review?
AUTONOMY REVIEW GATE: For every AI agent in the system, we need explicit answers: what can it do independently? When must it escalate? Where are the kill switches? This should be a mandatory section in every design review that includes an AI component.
RESPONSIBLE AI REVIEW: Before deployment, map the system against the ten dimensions. Is this fair to all customer segments? Can we explain every decision to a regulator? Is the data private? Can we control the system's behavior?
OBSERVABILITY REVIEW: Can we see what the AI is doing? Not just "is the service up?" but "what prompts are being sent, what responses are coming back, are those responses drifting from expected behavior?"
The design review is the primary human-in-the-loop checkpoint at the architecture level. It's where we catch problems before they reach production. In the AI era, that checkpoint is more important than 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ENTERPRISE PATTERNS (3 minutes)
Capital One DEs define enterprise patterns that teams adopt at scale. Here are six new patterns we need.
AGENT ORCHESTRATION: When you have multiple AI agents working together — one doing retrieval, one doing reasoning, one doing action — you need a standard coordination pattern. Include human checkpoints at every state-changing action.
CONFIDENCE-BASED ROUTING: Not everything needs human review. If the model is 99% confident in a classification, auto-approve. If it's 60%, route to a human. The thresholds should be dynamic — they learn from reviewer decisions. This is the pattern that makes HITL scalable.
PROMPT SECURITY LAYER: Input validation, output filtering, adversarial prompt detection. This needs to be a reusable enterprise component, not something every team builds from scratch.
RAG PIPELINE PATTERN: We need a standardized approach to retrieval-augmented generation. Vector DB selection, embedding model choice, retrieval strategy, generation prompt template. This should be an enterprise pattern our teams can adopt.
CIRCUIT BREAKER FOR AI: When model quality drops below a threshold — maybe hallucination rate exceeds 5% — automatically fall back to rule-based systems or route to human handling. Same concept as circuit breakers for microservices, applied to AI.
MODEL LIFECYCLE PATTERN: Selection, deployment, monitoring, retraining or replacement. Version everything. Rollback capability. This is the AI equivalent of our CI/CD patterns.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POLICY STANDARDS (3 minutes)
Our policy standards need to evolve — but not from scratch.
ENDURING STANDARDS: Data encryption, access control, audit logging, HA/DR, code quality — these don't go away. They're the foundation. If anything, they become MORE important because AI systems process MORE data, with MORE pathways, and MORE non-deterministic behavior.
NEW STANDARDS WE NEED:
MODEL APPROVAL PROCESS: No foundation model goes to production without documented evaluation. Who approved it? What benchmarks were run? What are the known limitations? This is the AI equivalent of our existing deployment approval process.
PROMPT/RESPONSE LOGGING: Every AI interaction must be auditable. In financial services, regulators will ask: "Why did your system recommend this product to this customer?" We need to answer that.
AI OUTPUT VALIDATION: Before any AI output reaches a customer, it must be validated. This could be rule-based checks, another model checking the first model, or human review — but SOMETHING must check the output.
AUTONOMY BOUNDARY DOCUMENTATION: For every AI system, we need documented answers to: what can it do alone? When does it escalate? Where are the kill switches? This should be versioned, auditable, and reviewable.
RESPONSIBLE AI REVIEW: Mandatory mapping to the ten responsible AI dimensions before deployment. This isn't a nice-to-have — in our regulated industry, it's a compliance requirement.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NOTES — HITL DATA (4 minutes including video)</a:t>
            </a:r>
            <a:endParaRPr lang="en-US" dirty="0"/>
          </a:p>
          <a:p/>
          <a:p>
            <a:r>
              <a:t>Let me make the business case for human-in-the-loop.</a:t>
            </a:r>
          </a:p>
          <a:p/>
          <a:p>
            <a:r>
              <a:t>42% of companies ABANDONED most of their AI initiatives in 2025 — up from 17% in 2024. Why? They failed to implement appropriate human oversight, and the systems produced unreliable results that eroded trust.</a:t>
            </a:r>
          </a:p>
          <a:p/>
          <a:p>
            <a:r>
              <a:t>96% accuracy with HITL vs 71% without. That's from an enterprise that replaced manual scrapers with AI + human oversight. Costs dropped from $4.1M to $270K while accuracy improved by 25 percentage points.</a:t>
            </a:r>
          </a:p>
          <a:p/>
          <a:p>
            <a:r>
              <a:t>$3.70 in value per dollar invested with well-executed HITL. Top performers see $10.30 per dollar. 210% ROI over three years. The organizations getting the best ROI aren't the ones with the most automation — they're the ones with the best human-AI collaboration architecture.</a:t>
            </a:r>
          </a:p>
          <a:p/>
          <a:p>
            <a:r>
              <a:t>And the regulatory picture: The EU AI Act requires human oversight for high-risk AI systems. GDPR gives individuals the right to human intervention in automated decisions. In the US, the Federal Reserve's model risk management framework expects documented human controls.</a:t>
            </a:r>
          </a:p>
          <a:p/>
          <a:p>
            <a:r>
              <a:t>For Capital One as a regulated financial institution, this isn't theoretical. When our AI system makes a decision about a customer's credit, loan, or account — we need human oversight architecturally embedded.</a:t>
            </a:r>
          </a:p>
          <a:p/>
          <a:p>
            <a:r>
              <a:t>And yet only 25% of organizations have fully implemented AI governance programs. That's the gap. We need to be in the 25%.</a:t>
            </a:r>
          </a:p>
          <a:p/>
          <a:p>
            <a:r>
              <a:t>[AFTER DATA WALKTHROUGH — VIDEO CUE]</a:t>
            </a:r>
          </a:p>
          <a:p>
            <a:r>
              <a:t>▶️ PLAY VIDEO: "Can AI Make Us More Human?" (TED Intersections, Sept 2025)</a:t>
            </a:r>
          </a:p>
          <a:p>
            <a:r>
              <a:t>   YouTube: https://www.youtube.com/watch?v=vd2AklBK-GA</a:t>
            </a:r>
          </a:p>
          <a:p>
            <a:r>
              <a:t>   Duration: Play 2 minutes from the opening</a:t>
            </a:r>
          </a:p>
          <a:p>
            <a:r>
              <a:t>   Context: Social psychologist Heidi Grant discusses how AI integration in workplaces can either erode or enhance what makes us human. Directly supports the HITL thesis.</a:t>
            </a:r>
          </a:p>
          <a:p>
            <a:r>
              <a:t>   CUE TO STOP: After the key insight about ensuring AI amplifies human capability rather than replacing judgment</a:t>
            </a:r>
          </a:p>
          <a:p>
            <a:r>
              <a:t>   TRANSITION: "That's exactly the design challenge. So let me get specific about WHAT human-in-the-loop looks like as architecture — concrete patterns we can implement..."</a:t>
            </a:r>
          </a:p>
          <a:p/>
          <a:p>
            <a:r>
              <a:t>[This video creates an emotional pivot from data/stats to the human dimension. It re-centers the audience on WHY this matters before you go into the tactical patterns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HITL PATTERNS (2 minutes)
Four concrete patterns we should standardize.
APPROVAL GATES: Before any AI-generated action takes effect — sending a customer communication, modifying an account, approving a transaction — it goes through a staging layer. Implement at the database layer, not UI layer, so it can't be bypassed.
CONFIDENCE THRESHOLDS: Not everything needs human review. Above 95% confidence — auto-approve. Between 70-95% — route to human review queue. Below 70% — reject and log. The key: these thresholds should be DYNAMIC. They learn from reviewer decisions. If humans consistently agree with the model at 90%, raise the auto-approve threshold.
ESCALATION CHAINS: For every AI capability, document three categories of actions. What can AI do independently — routine classifications, standard responses. What requires human escalation — edge cases, high-value decisions, customer complaints. What triggers automatic halt — safety concerns, regulatory flags, confidence collapse. These boundaries must be configurable without code changes.
FEEDBACK LOOPS: This is what makes HITL an investment, not a cost. Every human correction should improve the system. Active learning, RLHF — whatever mechanism fits. Turn human review from a cost center into a learning engine.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NOTES — EPISTEMIC DEBT &amp; SKILL ATROPHY (2 minutes)</a:t>
            </a:r>
            <a:endParaRPr lang="en-US" dirty="0"/>
          </a:p>
          <a:p/>
          <a:p>
            <a:r>
              <a:t>Beyond technical debt, architects in the AI era face two new forms of debt.</a:t>
            </a:r>
          </a:p>
          <a:p/>
          <a:p>
            <a:r>
              <a:t>EPISTEMIC DEBT: When AI generates solutions, teams may not fully understand what was built. They ship fast, but comprehension lags behind. Just like technical debt compounds over time, epistemic debt does too — and it becomes a crisis when something breaks and nobody knows how the system actually works.</a:t>
            </a:r>
          </a:p>
          <a:p/>
          <a:p>
            <a:r>
              <a:t>The fix: require "understanding documentation." If the team can't explain the AI-generated architecture, it doesn't ship. This maps directly to our design review process — reviewers should ask: "Does this team understand what they built?"</a:t>
            </a:r>
          </a:p>
          <a:p/>
          <a:p>
            <a:r>
              <a:t>SKILL ATROPHY: If architects never manually design systems, they lose the intuition that makes them valuable. The tacit knowledge — the "I've seen this pattern fail before" instinct — erodes.</a:t>
            </a:r>
          </a:p>
          <a:p/>
          <a:p>
            <a:r>
              <a:t>The fix: deliberate friction. Schedule manual design sessions where AI assistants are turned off. Have DEs do hands-on coding sprints. This isn't luddism — it's preserving the professional judgment that makes human-in-the-loop meaningful. If the humans in the loop have atrophied skills, the loop doesn't work.</a:t>
            </a:r>
          </a:p>
          <a:p/>
          <a:p>
            <a:r>
              <a:t>[CONTEXT NOTE: Grady Booch specifically warns about this — he calls AI tools "enthusiastic, indefatigable interns that need constant direction." The deskilling risk is real. As he notes, the legal industry with LexisNexis already faces this: junior lawyers who've never done manual research lack the instinct to know when the AI is wrong. We face the same risk with junior engineers who've never debugged without Copilot.]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NOTES — ACCOUNTABILITY (3 minutes including video)</a:t>
            </a:r>
            <a:endParaRPr lang="en-US" dirty="0"/>
          </a:p>
          <a:p/>
          <a:p>
            <a:r>
              <a:t>[THIS IS YOUR MIC-DROP MOMENT — VIDEO FIRST]</a:t>
            </a:r>
          </a:p>
          <a:p>
            <a:r>
              <a:t>▶️ PLAY VIDEO: Grady Booch — "The Craft of Software Architecture in the Age of AI Tools" (InfoQ)</a:t>
            </a:r>
          </a:p>
          <a:p>
            <a:r>
              <a:t>   Source: https://www.infoq.com/podcasts/craft-software-architecture/ (also on YouTube)</a:t>
            </a:r>
          </a:p>
          <a:p>
            <a:r>
              <a:t>   Duration: Play the 60-second clip where the interviewer asks "When AI generates code and it fails in production, where should architectural accountability sit?" and Booch responds.</a:t>
            </a:r>
          </a:p>
          <a:p>
            <a:r>
              <a:t>   THE KEY QUOTE: "The human. An easy answer. It's the human, not the tool itself. It's like saying, 'Oh, the dog ate my homework. Oh, the AI did—'"</a:t>
            </a:r>
          </a:p>
          <a:p>
            <a:r>
              <a:t>   CUE TO STOP: Right after that exchange. Let the room sit with it for 2-3 seconds of silence.</a:t>
            </a:r>
          </a:p>
          <a:p/>
          <a:p>
            <a:r>
              <a:t>[THEN DELIVER YOUR COMMENTARY]</a:t>
            </a:r>
          </a:p>
          <a:p/>
          <a:p>
            <a:r>
              <a:t>That's it. That's the whole argument in six words. "The human. An easy answer."</a:t>
            </a:r>
          </a:p>
          <a:p/>
          <a:p>
            <a:r>
              <a:t>This isn't abstract for us. Capital One serves tens of millions of customers. When our AI systems make decisions about credit, fraud detection, customer communications — we own those outcomes. Not the model provider. Not the framework. Us.</a:t>
            </a:r>
          </a:p>
          <a:p/>
          <a:p>
            <a:r>
              <a:t>This is why human-in-the-loop isn't a nice-to-have. It's the ARCHITECTURE OF ACCOUNTABILITY. It's how we ensure that when regulators ask "why did your system do this?" — we have an answer. When customers are affected — we have a responsible human who understood and approved the system's behavior.</a:t>
            </a:r>
          </a:p>
          <a:p/>
          <a:p>
            <a:r>
              <a:t>DEs are the accountability anchors. Application architects design the approval gates. Design reviewers validate the governance structures. ADR approvers document the decisions. We are the humans in the loop.</a:t>
            </a:r>
          </a:p>
          <a:p/>
          <a:p>
            <a:r>
              <a:t>[PAUSE — Let this land. Then move to the summary slide.]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BOTTOM LINE (2 minutes)
Let me bring it all together in four quadrants.
WHAT'S CHANGING: New threat vectors we've never dealt with before. Non-deterministic outputs that change our monitoring strategies. Cost models shifting from compute to tokens. Agentic systems introducing autonomy into our architecture. Ten responsible AI dimensions becoming architectural requirements.
WHAT STAYS: The six Well-Architected pillars. Our commitment to scalability and reliability. Defense in depth. Iterative design. Observability. Our culture of engineering excellence. These are MORE important, not less.
OUR PRACTICES EVOLVE: ADRs gain AI-specific sections — model selection rationale, autonomy boundaries, responsible AI assessment. Design reviews add new gates. Enterprise patterns expand to include agent orchestration, confidence routing, circuit breakers for AI. Policy standards add model approval processes and output validation requirements.
HUMANS REMAIN CENTRAL: DEs and architects shift from makers to meta-designers. Accountability stays human. The Three Loops define how we engage. Human-in-the-loop is the architecture of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NOTES — CALL TO ACTION (3 minutes)</a:t>
            </a:r>
            <a:endParaRPr lang="en-US" dirty="0"/>
          </a:p>
          <a:p/>
          <a:p>
            <a:r>
              <a:t>Five things you can do Monday morning.</a:t>
            </a:r>
          </a:p>
          <a:p/>
          <a:p>
            <a:r>
              <a:t>ONE: Pick one workload and review it against all three AWS AI Lenses. Not just the Gen AI Lens — all three. You'll find gaps you hadn't considered.</a:t>
            </a:r>
          </a:p>
          <a:p/>
          <a:p>
            <a:r>
              <a:t>TWO: Next time you write an ADR, add the AI-specific sections: model selection rationale, autonomy boundary definition, observability requirements, responsible AI assessment. Start the template evolution now.</a:t>
            </a:r>
          </a:p>
          <a:p/>
          <a:p>
            <a:r>
              <a:t>THREE: Add an "autonomy review gate" to your next design review. For every AI component: what can it do alone? When does it escalate? Where are the kill switches?</a:t>
            </a:r>
          </a:p>
          <a:p/>
          <a:p>
            <a:r>
              <a:t>FOUR: Take one AI system and map it against the ten Responsible AI dimensions. Controllability, privacy, security, safety, veracity, robustness, fairness, explainability, transparency, governance. You'll find gaps. That's the point.</a:t>
            </a:r>
          </a:p>
          <a:p/>
          <a:p>
            <a:r>
              <a:t>FIVE: Schedule one "no-AI" design session this quarter. Turn off Copilot, put away Claude, and design a system manually. Preserve the tacit knowledge and professional judgment that make you valuable as the human in the loop.</a:t>
            </a:r>
          </a:p>
          <a:p/>
          <a:p>
            <a:r>
              <a:t>The best architectures don't choose between AI and humans. They design the collaboration between them. That's where our competitive advantage lives — and that's what we do best as Capital One's architecture community.</a:t>
            </a:r>
          </a:p>
          <a:p/>
          <a:p>
            <a:r>
              <a:t>Thank you. Questions?</a:t>
            </a:r>
          </a:p>
          <a:p/>
          <a:p>
            <a:r>
              <a:t>[CLOSING VIDEO OPTION — play during Q&amp;A transition or as people settle]</a:t>
            </a:r>
          </a:p>
          <a:p>
            <a:r>
              <a:t>▶️ OPTIONAL: If you want to end with inspiration before Q&amp;A, play 90 seconds of:</a:t>
            </a:r>
          </a:p>
          <a:p>
            <a:r>
              <a:t>   Grady Booch — "The Future of Software Architecture, AI, and OOD"</a:t>
            </a:r>
          </a:p>
          <a:p>
            <a:r>
              <a:t>   YouTube: https://www.youtube.com/watch?v=aPFf1C-xEwU</a:t>
            </a:r>
          </a:p>
          <a:p>
            <a:r>
              <a:t>   Play the segment where he talks about the craft of architecture enduring across every technological shift — from punch cards to cloud to AI.</a:t>
            </a:r>
          </a:p>
          <a:p>
            <a:r>
              <a:t>   This creates a reflective, hopeful close.</a:t>
            </a:r>
          </a:p>
          <a:p/>
          <a:p>
            <a:r>
              <a:t>[REFERENCE LINKS — for Q&amp;A and follow-up]</a:t>
            </a:r>
          </a:p>
          <a:p>
            <a:r>
              <a:t>📎 AWS Well-Architected Gen AI Lens: https://docs.aws.amazon.com/wellarchitected/latest/generative-ai-lens/</a:t>
            </a:r>
          </a:p>
          <a:p>
            <a:r>
              <a:t>📎 AWS Responsible AI Lens: https://docs.aws.amazon.com/wellarchitected/latest/responsible-ai-lens/</a:t>
            </a:r>
          </a:p>
          <a:p>
            <a:r>
              <a:t>📎 InfoQ "Architecture in the Age of AI" eMag: https://www.infoq.com/minibooks/architecture-age-ai-opportunity/</a:t>
            </a:r>
          </a:p>
          <a:p>
            <a:r>
              <a:t>📎 InfoQ "Where Architects Sit in the Era of AI" (Three Loops): https://www.infoq.com/articles/architects-ai-era/</a:t>
            </a:r>
          </a:p>
          <a:p>
            <a:r>
              <a:t>📎 Grady Booch &amp; Shweta Vohra full conversation: https://www.infoq.com/podcasts/craft-software-architecture/</a:t>
            </a:r>
          </a:p>
          <a:p>
            <a:r>
              <a:t>📎 TED AI Playlist: https://www.ted.com/playlists/310/artificial_intelligence</a:t>
            </a:r>
          </a:p>
          <a:p/>
          <a:p>
            <a:r>
              <a:t>[TOTAL PRESENTATION TIMING]</a:t>
            </a:r>
          </a:p>
          <a:p>
            <a:r>
              <a:t>- Opening video (Booch highlights): 3 min</a:t>
            </a:r>
          </a:p>
          <a:p>
            <a:r>
              <a:t>- Slides 1-2: 3 min</a:t>
            </a:r>
          </a:p>
          <a:p>
            <a:r>
              <a:t>- Slides 3-7 + Schmidt video: 16 min  </a:t>
            </a:r>
          </a:p>
          <a:p>
            <a:r>
              <a:t>- Slides 8-14: 19 min (no video, dense content)</a:t>
            </a:r>
          </a:p>
          <a:p>
            <a:r>
              <a:t>- Slides 15-16 + TED Intersections video: 6 min</a:t>
            </a:r>
          </a:p>
          <a:p>
            <a:r>
              <a:t>- Slides 17-18 + Booch accountability clip: 5 min</a:t>
            </a:r>
          </a:p>
          <a:p>
            <a:r>
              <a:t>- Slides 19-20: 4 min</a:t>
            </a:r>
          </a:p>
          <a:p>
            <a:r>
              <a:t>- Buffer/Q&amp;A: 5+ min</a:t>
            </a:r>
          </a:p>
          <a:p>
            <a:r>
              <a:t>- TOTAL: ~45 minutes with 3 video clips (~7 min of video)</a:t>
            </a:r>
          </a:p>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THE WAKE-UP CALL (2 minutes)</a:t>
            </a:r>
          </a:p>
          <a:p/>
          <a:p>
            <a:r>
              <a:t>[PAUSE before revealing this slide. Let the number land.]</a:t>
            </a:r>
          </a:p>
          <a:p/>
          <a:p>
            <a:r>
              <a:t>80 percent. RAND Corporation's meta-analysis of 65 documented enterprise AI projects. Gartner confirmed comparable rates in April 2026. That's TWICE the failure rate of conventional software projects.</a:t>
            </a:r>
          </a:p>
          <a:p/>
          <a:p>
            <a:r>
              <a:t>Gartner separately found that by end of 2025, more than half of all GenAI initiatives had been shelved after proof-of-concept — killed by data quality, risk-control gaps, or runaway costs.</a:t>
            </a:r>
          </a:p>
          <a:p/>
          <a:p>
            <a:r>
              <a:t>Look at these three failure reasons. Poor data quality — 63% of organizations don't have AI-ready data management. Inadequate risk controls — no governance, no guardrails, no human oversight. Unclear business value — chasing demos instead of solving real problems.</a:t>
            </a:r>
          </a:p>
          <a:p/>
          <a:p>
            <a:r>
              <a:t>None of these are technology problems. They're ARCHITECTURE problems. Data architecture. Governance architecture. Solution architecture that starts with business value.</a:t>
            </a:r>
          </a:p>
          <a:p/>
          <a:p>
            <a:r>
              <a:t>This is why DEs and Application Architects aren't optional in the AI era — we're the difference between the 80% that fail and the 20% that succeed.</a:t>
            </a:r>
          </a:p>
          <a:p/>
          <a:p>
            <a:r>
              <a:t>[TRANSITION: "So let's look at the framework that helps us get it right..."]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THE CONFIDENCE TRAP (2 minutes)</a:t>
            </a:r>
          </a:p>
          <a:p/>
          <a:p>
            <a:r>
              <a:t>MIT research found AI models are 34% MORE LIKELY to use confident language when generating INCORRECT information. The more wrong, the more certain it sounds.</a:t>
            </a:r>
          </a:p>
          <a:p/>
          <a:p>
            <a:r>
              <a:t>A New York lawyer was sanctioned for submitting fabricated case citations — ChatGPT invented cases that didn't exist. An Australian travel company published AI-generated recommendations for hot springs that don't exist. Google's AI told users to add glue to pizza sauce.</a:t>
            </a:r>
          </a:p>
          <a:p/>
          <a:p>
            <a:r>
              <a:t>These are funny when it's pizza. They're not funny when it's a customer's credit decision, a fraud alert, or an investment recommendation.</a:t>
            </a:r>
          </a:p>
          <a:p/>
          <a:p>
            <a:r>
              <a:t>In financial services, a confident hallucination isn't embarrassing — it's a regulatory event. This is EXACTLY why we need human review gates, confidence thresholds, and output validation. The AI won't tell you it's wrong. You have to DESIGN SYSTEMS that catch when it's wrong.</a:t>
            </a:r>
          </a:p>
          <a:p/>
          <a:p>
            <a:r>
              <a:t>[TRANSITION: "So what stays the same in our approach?"]</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A TALE OF TWO TEAMS (2 minutes)</a:t>
            </a:r>
          </a:p>
          <a:p/>
          <a:p>
            <a:r>
              <a:t>[This is your storytelling moment. Make it vivid.]</a:t>
            </a:r>
          </a:p>
          <a:p/>
          <a:p>
            <a:r>
              <a:t>Same company. Same AI technology. Two different teams.</a:t>
            </a:r>
          </a:p>
          <a:p/>
          <a:p>
            <a:r>
              <a:t>TEAM A skipped the architecture work. Picked a model because it topped a leaderboard. No ADR. No design review — "it's just an API call." No output validation. No autonomy boundaries. No observability.</a:t>
            </a:r>
          </a:p>
          <a:p/>
          <a:p>
            <a:r>
              <a:t>Six months later: hallucinated financial advice in production. Customers received investment recommendations for products that didn't match their risk profiles. Regulatory inquiry. Project killed. Trust damaged.</a:t>
            </a:r>
          </a:p>
          <a:p/>
          <a:p>
            <a:r>
              <a:t>TEAM B had a Distinguished Engineer who insisted on doing the work. Model evaluation with documented ADR. Design review with autonomy gate. Confidence thresholds. Output validation. Full observability.</a:t>
            </a:r>
          </a:p>
          <a:p/>
          <a:p>
            <a:r>
              <a:t>Same hallucination tendency. But it was CAUGHT. The confidence threshold routed the uncertain output to human review. The reviewer flagged it. The feedback loop improved the model.</a:t>
            </a:r>
          </a:p>
          <a:p/>
          <a:p>
            <a:r>
              <a:t>Scaled to 10 million customers. 96% accuracy.</a:t>
            </a:r>
          </a:p>
          <a:p/>
          <a:p>
            <a:r>
              <a:t>Same technology. The ONLY difference was the architecture — and the humans in the loop.</a:t>
            </a:r>
          </a:p>
          <a:p/>
          <a:p>
            <a:r>
              <a:t>THAT is what we do. THAT is why this role matters.</a:t>
            </a:r>
          </a:p>
          <a:p/>
          <a:p>
            <a:r>
              <a:t>[PAUSE. Then move to the summary.]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THE ARCHITECT'S COMMITMENT (2 minutes)</a:t>
            </a:r>
          </a:p>
          <a:p/>
          <a:p>
            <a:r>
              <a:t>[Read these slowly. Let each one breathe.]</a:t>
            </a:r>
          </a:p>
          <a:p/>
          <a:p>
            <a:r>
              <a:t>Five commitments for every architect in this room.</a:t>
            </a:r>
          </a:p>
          <a:p/>
          <a:p>
            <a:r>
              <a:t>ONE: Design for FAILURE MODES, not just capabilities. AI introduces hallucination, excessive agency, epistemic debt. We design for those.</a:t>
            </a:r>
          </a:p>
          <a:p/>
          <a:p>
            <a:r>
              <a:t>TWO: Document WHY, not just WHAT. ADRs capture reasoning. When AI generates solutions, the "why" is the human contribution. If the team can't explain it, it doesn't ship.</a:t>
            </a:r>
          </a:p>
          <a:p/>
          <a:p>
            <a:r>
              <a:t>THREE: Build approval gates that CANNOT BE BYPASSED. Not UI-layer checks. Database-layer gates. Architectural enforcement. Accountability requires architecture, not just policy.</a:t>
            </a:r>
          </a:p>
          <a:p/>
          <a:p>
            <a:r>
              <a:t>FOUR: Preserve your own judgment. Manual design sessions. Hands-on coding. Because if you let your skills atrophy, you become a rubber stamp — and rubber stamps don't catch hallucinations.</a:t>
            </a:r>
          </a:p>
          <a:p/>
          <a:p>
            <a:r>
              <a:t>FIVE: Treat every AI output as a HYPOTHESIS until validated. The MIT research is clear — confidence is not correctness. Validation is the product.</a:t>
            </a:r>
          </a:p>
          <a:p/>
          <a:p>
            <a:r>
              <a:t>This is what it means to be the human in the loop. Not a checkbox. Not a formality. A skilled professional who brings judgment, context, and accountability to systems that lack all three.</a:t>
            </a:r>
          </a:p>
          <a:p/>
          <a:p>
            <a:r>
              <a:t>[PAUSE. Then: "So here's what you can do Monday morning..."]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1.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1.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image" Target="../media/image-14-10.png"/><Relationship Id="rId11" Type="http://schemas.openxmlformats.org/officeDocument/2006/relationships/slideLayout" Target="../slideLayouts/slideLayout1.xml"/><Relationship Id="rId1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slideLayout" Target="../slideLayouts/slideLayout1.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40080" y="731520"/>
            <a:ext cx="1005840" cy="1005840"/>
          </a:xfrm>
          <a:prstGeom prst="rect">
            <a:avLst/>
          </a:prstGeom>
        </p:spPr>
      </p:pic>
      <p:sp>
        <p:nvSpPr>
          <p:cNvPr id="3" name="Text 0"/>
          <p:cNvSpPr/>
          <p:nvPr/>
        </p:nvSpPr>
        <p:spPr>
          <a:xfrm>
            <a:off x="640080" y="1920240"/>
            <a:ext cx="6400800" cy="1645920"/>
          </a:xfrm>
          <a:prstGeom prst="rect">
            <a:avLst/>
          </a:prstGeom>
          <a:noFill/>
          <a:ln/>
        </p:spPr>
        <p:txBody>
          <a:bodyPr wrap="square" lIns="0" tIns="0" rIns="0" bIns="0" rtlCol="0" anchor="ctr"/>
          <a:lstStyle/>
          <a:p>
            <a:pPr indent="0" marL="0">
              <a:buNone/>
            </a:pPr>
            <a:r>
              <a:rPr lang="en-US" sz="4400" b="1" dirty="0">
                <a:solidFill>
                  <a:srgbClr val="FFFFFF"/>
                </a:solidFill>
                <a:latin typeface="Trebuchet MS" pitchFamily="34" charset="0"/>
                <a:ea typeface="Trebuchet MS" pitchFamily="34" charset="-122"/>
                <a:cs typeface="Trebuchet MS" pitchFamily="34" charset="-120"/>
              </a:rPr>
              <a:t>Architecture in</a:t>
            </a:r>
            <a:endParaRPr lang="en-US" sz="4400" dirty="0"/>
          </a:p>
          <a:p>
            <a:pPr indent="0" marL="0">
              <a:buNone/>
            </a:pPr>
            <a:r>
              <a:rPr lang="en-US" sz="4400" b="1" dirty="0">
                <a:solidFill>
                  <a:srgbClr val="FFFFFF"/>
                </a:solidFill>
                <a:latin typeface="Trebuchet MS" pitchFamily="34" charset="0"/>
                <a:ea typeface="Trebuchet MS" pitchFamily="34" charset="-122"/>
                <a:cs typeface="Trebuchet MS" pitchFamily="34" charset="-120"/>
              </a:rPr>
              <a:t>the AI Era</a:t>
            </a:r>
            <a:endParaRPr lang="en-US" sz="4400" dirty="0"/>
          </a:p>
        </p:txBody>
      </p:sp>
      <p:sp>
        <p:nvSpPr>
          <p:cNvPr id="4" name="Text 1"/>
          <p:cNvSpPr/>
          <p:nvPr/>
        </p:nvSpPr>
        <p:spPr>
          <a:xfrm>
            <a:off x="640080" y="3566160"/>
            <a:ext cx="6400800" cy="640080"/>
          </a:xfrm>
          <a:prstGeom prst="rect">
            <a:avLst/>
          </a:prstGeom>
          <a:noFill/>
          <a:ln/>
        </p:spPr>
        <p:txBody>
          <a:bodyPr wrap="square" lIns="0" tIns="0" rIns="0" bIns="0" rtlCol="0" anchor="ctr"/>
          <a:lstStyle/>
          <a:p>
            <a:pPr indent="0" marL="0">
              <a:buNone/>
            </a:pPr>
            <a:r>
              <a:rPr lang="en-US" sz="1600" dirty="0">
                <a:solidFill>
                  <a:srgbClr val="22D3EE"/>
                </a:solidFill>
                <a:latin typeface="Calibri" pitchFamily="34" charset="0"/>
                <a:ea typeface="Calibri" pitchFamily="34" charset="-122"/>
                <a:cs typeface="Calibri" pitchFamily="34" charset="-120"/>
              </a:rPr>
              <a:t>What's Changing, What Stays, and Why</a:t>
            </a:r>
            <a:endParaRPr lang="en-US" sz="1600" dirty="0"/>
          </a:p>
          <a:p>
            <a:pPr indent="0" marL="0">
              <a:buNone/>
            </a:pPr>
            <a:r>
              <a:rPr lang="en-US" sz="1600" dirty="0">
                <a:solidFill>
                  <a:srgbClr val="22D3EE"/>
                </a:solidFill>
                <a:latin typeface="Calibri" pitchFamily="34" charset="0"/>
                <a:ea typeface="Calibri" pitchFamily="34" charset="-122"/>
                <a:cs typeface="Calibri" pitchFamily="34" charset="-120"/>
              </a:rPr>
              <a:t>Human-in-the-Loop Still Matters Most</a:t>
            </a:r>
            <a:endParaRPr lang="en-US" sz="1600" dirty="0"/>
          </a:p>
        </p:txBody>
      </p:sp>
      <p:sp>
        <p:nvSpPr>
          <p:cNvPr id="5" name="Text 2"/>
          <p:cNvSpPr/>
          <p:nvPr/>
        </p:nvSpPr>
        <p:spPr>
          <a:xfrm>
            <a:off x="640080" y="4389120"/>
            <a:ext cx="4572000" cy="32004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A Capital One Architecture Perspective</a:t>
            </a:r>
            <a:endParaRPr lang="en-US" sz="1300" dirty="0"/>
          </a:p>
        </p:txBody>
      </p:sp>
      <p:sp>
        <p:nvSpPr>
          <p:cNvPr id="6" name="Shape 3"/>
          <p:cNvSpPr/>
          <p:nvPr/>
        </p:nvSpPr>
        <p:spPr>
          <a:xfrm>
            <a:off x="8503920" y="0"/>
            <a:ext cx="640080" cy="5143500"/>
          </a:xfrm>
          <a:prstGeom prst="rect">
            <a:avLst/>
          </a:prstGeom>
          <a:solidFill>
            <a:srgbClr val="0891B2">
              <a:alpha val="70000"/>
            </a:srgbClr>
          </a:solidFill>
          <a:ln/>
        </p:spPr>
      </p:sp>
      <p:sp>
        <p:nvSpPr>
          <p:cNvPr id="7" name="Text 4"/>
          <p:cNvSpPr/>
          <p:nvPr/>
        </p:nvSpPr>
        <p:spPr>
          <a:xfrm>
            <a:off x="8229600" y="4800600"/>
            <a:ext cx="73152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 / 20</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640080" y="228600"/>
            <a:ext cx="7863840" cy="548640"/>
          </a:xfrm>
          <a:prstGeom prst="rect">
            <a:avLst/>
          </a:prstGeom>
          <a:noFill/>
          <a:ln/>
        </p:spPr>
        <p:txBody>
          <a:bodyPr wrap="square" lIns="0" tIns="0" rIns="0" bIns="0" rtlCol="0" anchor="ctr"/>
          <a:lstStyle/>
          <a:p>
            <a:pPr indent="0" marL="0">
              <a:buNone/>
            </a:pPr>
            <a:r>
              <a:rPr lang="en-US" sz="3000" b="1" dirty="0">
                <a:solidFill>
                  <a:srgbClr val="0A1628"/>
                </a:solidFill>
                <a:latin typeface="Trebuchet MS" pitchFamily="34" charset="0"/>
                <a:ea typeface="Trebuchet MS" pitchFamily="34" charset="-122"/>
                <a:cs typeface="Trebuchet MS" pitchFamily="34" charset="-120"/>
              </a:rPr>
              <a:t>What We'll Cover</a:t>
            </a:r>
            <a:endParaRPr lang="en-US" sz="3000" dirty="0"/>
          </a:p>
        </p:txBody>
      </p:sp>
      <p:sp>
        <p:nvSpPr>
          <p:cNvPr id="3" name="Text 1"/>
          <p:cNvSpPr/>
          <p:nvPr/>
        </p:nvSpPr>
        <p:spPr>
          <a:xfrm>
            <a:off x="640080" y="777240"/>
            <a:ext cx="6400800" cy="32004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45-minute journey through architecture in the AI-native era</a:t>
            </a:r>
            <a:endParaRPr lang="en-US" sz="1300" dirty="0"/>
          </a:p>
        </p:txBody>
      </p:sp>
      <p:sp>
        <p:nvSpPr>
          <p:cNvPr id="4" name="Shape 2"/>
          <p:cNvSpPr/>
          <p:nvPr/>
        </p:nvSpPr>
        <p:spPr>
          <a:xfrm>
            <a:off x="640080" y="1197864"/>
            <a:ext cx="228600" cy="228600"/>
          </a:xfrm>
          <a:prstGeom prst="ellipse">
            <a:avLst/>
          </a:prstGeom>
          <a:solidFill>
            <a:srgbClr val="0891B2"/>
          </a:solidFill>
          <a:ln/>
        </p:spPr>
      </p:sp>
      <p:sp>
        <p:nvSpPr>
          <p:cNvPr id="5" name="Text 3"/>
          <p:cNvSpPr/>
          <p:nvPr/>
        </p:nvSpPr>
        <p:spPr>
          <a:xfrm>
            <a:off x="640080" y="1197864"/>
            <a:ext cx="228600" cy="22860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6" name="Text 4"/>
          <p:cNvSpPr/>
          <p:nvPr/>
        </p:nvSpPr>
        <p:spPr>
          <a:xfrm>
            <a:off x="1005840" y="1124712"/>
            <a:ext cx="3200400" cy="27432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The Well-Architected Foundation</a:t>
            </a:r>
            <a:endParaRPr lang="en-US" sz="1400" dirty="0"/>
          </a:p>
        </p:txBody>
      </p:sp>
      <p:sp>
        <p:nvSpPr>
          <p:cNvPr id="7" name="Text 5"/>
          <p:cNvSpPr/>
          <p:nvPr/>
        </p:nvSpPr>
        <p:spPr>
          <a:xfrm>
            <a:off x="4297680" y="1124712"/>
            <a:ext cx="4572000" cy="27432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Six pillars — same framework, new dimensions</a:t>
            </a:r>
            <a:endParaRPr lang="en-US" sz="1200" dirty="0"/>
          </a:p>
        </p:txBody>
      </p:sp>
      <p:sp>
        <p:nvSpPr>
          <p:cNvPr id="8" name="Shape 6"/>
          <p:cNvSpPr/>
          <p:nvPr/>
        </p:nvSpPr>
        <p:spPr>
          <a:xfrm>
            <a:off x="640080" y="1673352"/>
            <a:ext cx="228600" cy="228600"/>
          </a:xfrm>
          <a:prstGeom prst="ellipse">
            <a:avLst/>
          </a:prstGeom>
          <a:solidFill>
            <a:srgbClr val="0891B2"/>
          </a:solidFill>
          <a:ln/>
        </p:spPr>
      </p:sp>
      <p:sp>
        <p:nvSpPr>
          <p:cNvPr id="9" name="Text 7"/>
          <p:cNvSpPr/>
          <p:nvPr/>
        </p:nvSpPr>
        <p:spPr>
          <a:xfrm>
            <a:off x="640080" y="1673352"/>
            <a:ext cx="228600" cy="22860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0" name="Text 8"/>
          <p:cNvSpPr/>
          <p:nvPr/>
        </p:nvSpPr>
        <p:spPr>
          <a:xfrm>
            <a:off x="1005840" y="1600200"/>
            <a:ext cx="3200400" cy="27432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What's Changing Pillar by Pillar</a:t>
            </a:r>
            <a:endParaRPr lang="en-US" sz="1400" dirty="0"/>
          </a:p>
        </p:txBody>
      </p:sp>
      <p:sp>
        <p:nvSpPr>
          <p:cNvPr id="11" name="Text 9"/>
          <p:cNvSpPr/>
          <p:nvPr/>
        </p:nvSpPr>
        <p:spPr>
          <a:xfrm>
            <a:off x="4297680" y="1600200"/>
            <a:ext cx="4572000" cy="27432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AI-specific shifts in each architectural dimension</a:t>
            </a:r>
            <a:endParaRPr lang="en-US" sz="1200" dirty="0"/>
          </a:p>
        </p:txBody>
      </p:sp>
      <p:sp>
        <p:nvSpPr>
          <p:cNvPr id="12" name="Shape 10"/>
          <p:cNvSpPr/>
          <p:nvPr/>
        </p:nvSpPr>
        <p:spPr>
          <a:xfrm>
            <a:off x="640080" y="2148840"/>
            <a:ext cx="228600" cy="228600"/>
          </a:xfrm>
          <a:prstGeom prst="ellipse">
            <a:avLst/>
          </a:prstGeom>
          <a:solidFill>
            <a:srgbClr val="0891B2"/>
          </a:solidFill>
          <a:ln/>
        </p:spPr>
      </p:sp>
      <p:sp>
        <p:nvSpPr>
          <p:cNvPr id="13" name="Text 11"/>
          <p:cNvSpPr/>
          <p:nvPr/>
        </p:nvSpPr>
        <p:spPr>
          <a:xfrm>
            <a:off x="640080" y="2148840"/>
            <a:ext cx="228600" cy="22860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4" name="Text 12"/>
          <p:cNvSpPr/>
          <p:nvPr/>
        </p:nvSpPr>
        <p:spPr>
          <a:xfrm>
            <a:off x="1005840" y="2075688"/>
            <a:ext cx="3200400" cy="27432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Three AWS AI Lenses</a:t>
            </a:r>
            <a:endParaRPr lang="en-US" sz="1400" dirty="0"/>
          </a:p>
        </p:txBody>
      </p:sp>
      <p:sp>
        <p:nvSpPr>
          <p:cNvPr id="15" name="Text 13"/>
          <p:cNvSpPr/>
          <p:nvPr/>
        </p:nvSpPr>
        <p:spPr>
          <a:xfrm>
            <a:off x="4297680" y="2075688"/>
            <a:ext cx="4572000" cy="27432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Responsible AI, Gen AI, and ML working together</a:t>
            </a:r>
            <a:endParaRPr lang="en-US" sz="1200" dirty="0"/>
          </a:p>
        </p:txBody>
      </p:sp>
      <p:sp>
        <p:nvSpPr>
          <p:cNvPr id="16" name="Shape 14"/>
          <p:cNvSpPr/>
          <p:nvPr/>
        </p:nvSpPr>
        <p:spPr>
          <a:xfrm>
            <a:off x="640080" y="2624328"/>
            <a:ext cx="228600" cy="228600"/>
          </a:xfrm>
          <a:prstGeom prst="ellipse">
            <a:avLst/>
          </a:prstGeom>
          <a:solidFill>
            <a:srgbClr val="0891B2"/>
          </a:solidFill>
          <a:ln/>
        </p:spPr>
      </p:sp>
      <p:sp>
        <p:nvSpPr>
          <p:cNvPr id="17" name="Text 15"/>
          <p:cNvSpPr/>
          <p:nvPr/>
        </p:nvSpPr>
        <p:spPr>
          <a:xfrm>
            <a:off x="640080" y="2624328"/>
            <a:ext cx="228600" cy="22860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18" name="Text 16"/>
          <p:cNvSpPr/>
          <p:nvPr/>
        </p:nvSpPr>
        <p:spPr>
          <a:xfrm>
            <a:off x="1005840" y="2551176"/>
            <a:ext cx="3200400" cy="27432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The Role of the Architect — Redefined</a:t>
            </a:r>
            <a:endParaRPr lang="en-US" sz="1400" dirty="0"/>
          </a:p>
        </p:txBody>
      </p:sp>
      <p:sp>
        <p:nvSpPr>
          <p:cNvPr id="19" name="Text 17"/>
          <p:cNvSpPr/>
          <p:nvPr/>
        </p:nvSpPr>
        <p:spPr>
          <a:xfrm>
            <a:off x="4297680" y="2551176"/>
            <a:ext cx="4572000" cy="27432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From maker to meta-designer, the Three Loops</a:t>
            </a:r>
            <a:endParaRPr lang="en-US" sz="1200" dirty="0"/>
          </a:p>
        </p:txBody>
      </p:sp>
      <p:sp>
        <p:nvSpPr>
          <p:cNvPr id="20" name="Shape 18"/>
          <p:cNvSpPr/>
          <p:nvPr/>
        </p:nvSpPr>
        <p:spPr>
          <a:xfrm>
            <a:off x="640080" y="3099816"/>
            <a:ext cx="228600" cy="228600"/>
          </a:xfrm>
          <a:prstGeom prst="ellipse">
            <a:avLst/>
          </a:prstGeom>
          <a:solidFill>
            <a:srgbClr val="0891B2"/>
          </a:solidFill>
          <a:ln/>
        </p:spPr>
      </p:sp>
      <p:sp>
        <p:nvSpPr>
          <p:cNvPr id="21" name="Text 19"/>
          <p:cNvSpPr/>
          <p:nvPr/>
        </p:nvSpPr>
        <p:spPr>
          <a:xfrm>
            <a:off x="640080" y="3099816"/>
            <a:ext cx="228600" cy="22860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22" name="Text 20"/>
          <p:cNvSpPr/>
          <p:nvPr/>
        </p:nvSpPr>
        <p:spPr>
          <a:xfrm>
            <a:off x="1005840" y="3026664"/>
            <a:ext cx="3200400" cy="27432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Our Practices in the AI Era</a:t>
            </a:r>
            <a:endParaRPr lang="en-US" sz="1400" dirty="0"/>
          </a:p>
        </p:txBody>
      </p:sp>
      <p:sp>
        <p:nvSpPr>
          <p:cNvPr id="23" name="Text 21"/>
          <p:cNvSpPr/>
          <p:nvPr/>
        </p:nvSpPr>
        <p:spPr>
          <a:xfrm>
            <a:off x="4297680" y="3026664"/>
            <a:ext cx="4572000" cy="27432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ADRs, design reviews, enterprise patterns, policy standards</a:t>
            </a:r>
            <a:endParaRPr lang="en-US" sz="1200" dirty="0"/>
          </a:p>
        </p:txBody>
      </p:sp>
      <p:sp>
        <p:nvSpPr>
          <p:cNvPr id="24" name="Shape 22"/>
          <p:cNvSpPr/>
          <p:nvPr/>
        </p:nvSpPr>
        <p:spPr>
          <a:xfrm>
            <a:off x="640080" y="3575304"/>
            <a:ext cx="228600" cy="228600"/>
          </a:xfrm>
          <a:prstGeom prst="ellipse">
            <a:avLst/>
          </a:prstGeom>
          <a:solidFill>
            <a:srgbClr val="0891B2"/>
          </a:solidFill>
          <a:ln/>
        </p:spPr>
      </p:sp>
      <p:sp>
        <p:nvSpPr>
          <p:cNvPr id="25" name="Text 23"/>
          <p:cNvSpPr/>
          <p:nvPr/>
        </p:nvSpPr>
        <p:spPr>
          <a:xfrm>
            <a:off x="640080" y="3575304"/>
            <a:ext cx="228600" cy="22860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26" name="Text 24"/>
          <p:cNvSpPr/>
          <p:nvPr/>
        </p:nvSpPr>
        <p:spPr>
          <a:xfrm>
            <a:off x="1005840" y="3502152"/>
            <a:ext cx="3200400" cy="27432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DEs &amp; Application Architects</a:t>
            </a:r>
            <a:endParaRPr lang="en-US" sz="1400" dirty="0"/>
          </a:p>
        </p:txBody>
      </p:sp>
      <p:sp>
        <p:nvSpPr>
          <p:cNvPr id="27" name="Text 25"/>
          <p:cNvSpPr/>
          <p:nvPr/>
        </p:nvSpPr>
        <p:spPr>
          <a:xfrm>
            <a:off x="4297680" y="3502152"/>
            <a:ext cx="4572000" cy="27432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How Capital One's IC leadership evolves</a:t>
            </a:r>
            <a:endParaRPr lang="en-US" sz="1200" dirty="0"/>
          </a:p>
        </p:txBody>
      </p:sp>
      <p:sp>
        <p:nvSpPr>
          <p:cNvPr id="28" name="Shape 26"/>
          <p:cNvSpPr/>
          <p:nvPr/>
        </p:nvSpPr>
        <p:spPr>
          <a:xfrm>
            <a:off x="640080" y="4050792"/>
            <a:ext cx="228600" cy="228600"/>
          </a:xfrm>
          <a:prstGeom prst="ellipse">
            <a:avLst/>
          </a:prstGeom>
          <a:solidFill>
            <a:srgbClr val="0891B2"/>
          </a:solidFill>
          <a:ln/>
        </p:spPr>
      </p:sp>
      <p:sp>
        <p:nvSpPr>
          <p:cNvPr id="29" name="Text 27"/>
          <p:cNvSpPr/>
          <p:nvPr/>
        </p:nvSpPr>
        <p:spPr>
          <a:xfrm>
            <a:off x="640080" y="4050792"/>
            <a:ext cx="228600" cy="22860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7</a:t>
            </a:r>
            <a:endParaRPr lang="en-US" sz="1000" dirty="0"/>
          </a:p>
        </p:txBody>
      </p:sp>
      <p:sp>
        <p:nvSpPr>
          <p:cNvPr id="30" name="Text 28"/>
          <p:cNvSpPr/>
          <p:nvPr/>
        </p:nvSpPr>
        <p:spPr>
          <a:xfrm>
            <a:off x="1005840" y="3977640"/>
            <a:ext cx="3200400" cy="27432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Human-in-the-Loop</a:t>
            </a:r>
            <a:endParaRPr lang="en-US" sz="1400" dirty="0"/>
          </a:p>
        </p:txBody>
      </p:sp>
      <p:sp>
        <p:nvSpPr>
          <p:cNvPr id="31" name="Text 29"/>
          <p:cNvSpPr/>
          <p:nvPr/>
        </p:nvSpPr>
        <p:spPr>
          <a:xfrm>
            <a:off x="4297680" y="3977640"/>
            <a:ext cx="4572000" cy="27432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Why it's our most critical architectural pattern</a:t>
            </a:r>
            <a:endParaRPr lang="en-US" sz="1200" dirty="0"/>
          </a:p>
        </p:txBody>
      </p:sp>
      <p:sp>
        <p:nvSpPr>
          <p:cNvPr id="32" name="Shape 30"/>
          <p:cNvSpPr/>
          <p:nvPr/>
        </p:nvSpPr>
        <p:spPr>
          <a:xfrm>
            <a:off x="640080" y="4526280"/>
            <a:ext cx="228600" cy="228600"/>
          </a:xfrm>
          <a:prstGeom prst="ellipse">
            <a:avLst/>
          </a:prstGeom>
          <a:solidFill>
            <a:srgbClr val="0891B2"/>
          </a:solidFill>
          <a:ln/>
        </p:spPr>
      </p:sp>
      <p:sp>
        <p:nvSpPr>
          <p:cNvPr id="33" name="Text 31"/>
          <p:cNvSpPr/>
          <p:nvPr/>
        </p:nvSpPr>
        <p:spPr>
          <a:xfrm>
            <a:off x="640080" y="4526280"/>
            <a:ext cx="228600" cy="22860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8</a:t>
            </a:r>
            <a:endParaRPr lang="en-US" sz="1000" dirty="0"/>
          </a:p>
        </p:txBody>
      </p:sp>
      <p:sp>
        <p:nvSpPr>
          <p:cNvPr id="34" name="Text 32"/>
          <p:cNvSpPr/>
          <p:nvPr/>
        </p:nvSpPr>
        <p:spPr>
          <a:xfrm>
            <a:off x="1005840" y="4453128"/>
            <a:ext cx="3200400" cy="27432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Call to Action</a:t>
            </a:r>
            <a:endParaRPr lang="en-US" sz="1400" dirty="0"/>
          </a:p>
        </p:txBody>
      </p:sp>
      <p:sp>
        <p:nvSpPr>
          <p:cNvPr id="35" name="Text 33"/>
          <p:cNvSpPr/>
          <p:nvPr/>
        </p:nvSpPr>
        <p:spPr>
          <a:xfrm>
            <a:off x="4297680" y="4453128"/>
            <a:ext cx="4572000" cy="27432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Five things to start doing Monday morning</a:t>
            </a:r>
            <a:endParaRPr lang="en-US" sz="1200" dirty="0"/>
          </a:p>
        </p:txBody>
      </p:sp>
      <p:sp>
        <p:nvSpPr>
          <p:cNvPr id="36" name="Text 34"/>
          <p:cNvSpPr/>
          <p:nvPr/>
        </p:nvSpPr>
        <p:spPr>
          <a:xfrm>
            <a:off x="8229600" y="4800600"/>
            <a:ext cx="73152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 / 20</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640080" y="274320"/>
            <a:ext cx="7772400" cy="502920"/>
          </a:xfrm>
          <a:prstGeom prst="rect">
            <a:avLst/>
          </a:prstGeom>
          <a:noFill/>
          <a:ln/>
        </p:spPr>
        <p:txBody>
          <a:bodyPr wrap="square" lIns="0" tIns="0" rIns="0" bIns="0" rtlCol="0" anchor="ctr"/>
          <a:lstStyle/>
          <a:p>
            <a:pPr indent="0" marL="0">
              <a:buNone/>
            </a:pPr>
            <a:r>
              <a:rPr lang="en-US" sz="3000" b="1" dirty="0">
                <a:solidFill>
                  <a:srgbClr val="0A1628"/>
                </a:solidFill>
                <a:latin typeface="Trebuchet MS" pitchFamily="34" charset="0"/>
                <a:ea typeface="Trebuchet MS" pitchFamily="34" charset="-122"/>
                <a:cs typeface="Trebuchet MS" pitchFamily="34" charset="-120"/>
              </a:rPr>
              <a:t>The Six Pillars — Still the Foundation</a:t>
            </a:r>
            <a:endParaRPr lang="en-US" sz="3000" dirty="0"/>
          </a:p>
        </p:txBody>
      </p:sp>
      <p:sp>
        <p:nvSpPr>
          <p:cNvPr id="3" name="Shape 1"/>
          <p:cNvSpPr/>
          <p:nvPr/>
        </p:nvSpPr>
        <p:spPr>
          <a:xfrm>
            <a:off x="640080" y="1051560"/>
            <a:ext cx="1234440" cy="2560320"/>
          </a:xfrm>
          <a:prstGeom prst="rect">
            <a:avLst/>
          </a:prstGeom>
          <a:solidFill>
            <a:srgbClr val="0891B2"/>
          </a:solidFill>
          <a:ln/>
          <a:effectLst>
            <a:outerShdw sx="100000" sy="100000" kx="0" ky="0" algn="bl" rotWithShape="0" blurRad="76200" dist="25400" dir="8100000">
              <a:srgbClr val="000000">
                <a:alpha val="12000"/>
              </a:srgbClr>
            </a:outerShdw>
          </a:effectLst>
        </p:spPr>
      </p:sp>
      <p:sp>
        <p:nvSpPr>
          <p:cNvPr id="4" name="Text 2"/>
          <p:cNvSpPr/>
          <p:nvPr/>
        </p:nvSpPr>
        <p:spPr>
          <a:xfrm>
            <a:off x="640080" y="1234440"/>
            <a:ext cx="1234440" cy="9144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Operational</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Excellence</a:t>
            </a:r>
            <a:endParaRPr lang="en-US" sz="1300" dirty="0"/>
          </a:p>
        </p:txBody>
      </p:sp>
      <p:sp>
        <p:nvSpPr>
          <p:cNvPr id="5" name="Shape 3"/>
          <p:cNvSpPr/>
          <p:nvPr/>
        </p:nvSpPr>
        <p:spPr>
          <a:xfrm>
            <a:off x="2011680" y="1051560"/>
            <a:ext cx="1234440" cy="2560320"/>
          </a:xfrm>
          <a:prstGeom prst="rect">
            <a:avLst/>
          </a:prstGeom>
          <a:solidFill>
            <a:srgbClr val="132240"/>
          </a:solidFill>
          <a:ln/>
          <a:effectLst>
            <a:outerShdw sx="100000" sy="100000" kx="0" ky="0" algn="bl" rotWithShape="0" blurRad="76200" dist="25400" dir="8100000">
              <a:srgbClr val="000000">
                <a:alpha val="12000"/>
              </a:srgbClr>
            </a:outerShdw>
          </a:effectLst>
        </p:spPr>
      </p:sp>
      <p:sp>
        <p:nvSpPr>
          <p:cNvPr id="6" name="Text 4"/>
          <p:cNvSpPr/>
          <p:nvPr/>
        </p:nvSpPr>
        <p:spPr>
          <a:xfrm>
            <a:off x="2011680" y="1234440"/>
            <a:ext cx="1234440" cy="9144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Security</a:t>
            </a:r>
            <a:endParaRPr lang="en-US" sz="1300" dirty="0"/>
          </a:p>
        </p:txBody>
      </p:sp>
      <p:sp>
        <p:nvSpPr>
          <p:cNvPr id="7" name="Shape 5"/>
          <p:cNvSpPr/>
          <p:nvPr/>
        </p:nvSpPr>
        <p:spPr>
          <a:xfrm>
            <a:off x="3383280" y="1051560"/>
            <a:ext cx="1234440" cy="2560320"/>
          </a:xfrm>
          <a:prstGeom prst="rect">
            <a:avLst/>
          </a:prstGeom>
          <a:solidFill>
            <a:srgbClr val="10B981"/>
          </a:solidFill>
          <a:ln/>
          <a:effectLst>
            <a:outerShdw sx="100000" sy="100000" kx="0" ky="0" algn="bl" rotWithShape="0" blurRad="76200" dist="25400" dir="8100000">
              <a:srgbClr val="000000">
                <a:alpha val="12000"/>
              </a:srgbClr>
            </a:outerShdw>
          </a:effectLst>
        </p:spPr>
      </p:sp>
      <p:sp>
        <p:nvSpPr>
          <p:cNvPr id="8" name="Text 6"/>
          <p:cNvSpPr/>
          <p:nvPr/>
        </p:nvSpPr>
        <p:spPr>
          <a:xfrm>
            <a:off x="3383280" y="1234440"/>
            <a:ext cx="1234440" cy="9144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Reliability</a:t>
            </a:r>
            <a:endParaRPr lang="en-US" sz="1300" dirty="0"/>
          </a:p>
        </p:txBody>
      </p:sp>
      <p:sp>
        <p:nvSpPr>
          <p:cNvPr id="9" name="Shape 7"/>
          <p:cNvSpPr/>
          <p:nvPr/>
        </p:nvSpPr>
        <p:spPr>
          <a:xfrm>
            <a:off x="4754880" y="1051560"/>
            <a:ext cx="1234440" cy="2560320"/>
          </a:xfrm>
          <a:prstGeom prst="rect">
            <a:avLst/>
          </a:prstGeom>
          <a:solidFill>
            <a:srgbClr val="8B5CF6"/>
          </a:solidFill>
          <a:ln/>
          <a:effectLst>
            <a:outerShdw sx="100000" sy="100000" kx="0" ky="0" algn="bl" rotWithShape="0" blurRad="76200" dist="25400" dir="8100000">
              <a:srgbClr val="000000">
                <a:alpha val="12000"/>
              </a:srgbClr>
            </a:outerShdw>
          </a:effectLst>
        </p:spPr>
      </p:sp>
      <p:sp>
        <p:nvSpPr>
          <p:cNvPr id="10" name="Text 8"/>
          <p:cNvSpPr/>
          <p:nvPr/>
        </p:nvSpPr>
        <p:spPr>
          <a:xfrm>
            <a:off x="4754880" y="1234440"/>
            <a:ext cx="1234440" cy="9144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Performance</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Efficiency</a:t>
            </a:r>
            <a:endParaRPr lang="en-US" sz="1300" dirty="0"/>
          </a:p>
        </p:txBody>
      </p:sp>
      <p:sp>
        <p:nvSpPr>
          <p:cNvPr id="11" name="Shape 9"/>
          <p:cNvSpPr/>
          <p:nvPr/>
        </p:nvSpPr>
        <p:spPr>
          <a:xfrm>
            <a:off x="6126480" y="1051560"/>
            <a:ext cx="1234440" cy="2560320"/>
          </a:xfrm>
          <a:prstGeom prst="rect">
            <a:avLst/>
          </a:prstGeom>
          <a:solidFill>
            <a:srgbClr val="F59E0B"/>
          </a:solidFill>
          <a:ln/>
          <a:effectLst>
            <a:outerShdw sx="100000" sy="100000" kx="0" ky="0" algn="bl" rotWithShape="0" blurRad="76200" dist="25400" dir="8100000">
              <a:srgbClr val="000000">
                <a:alpha val="12000"/>
              </a:srgbClr>
            </a:outerShdw>
          </a:effectLst>
        </p:spPr>
      </p:sp>
      <p:sp>
        <p:nvSpPr>
          <p:cNvPr id="12" name="Text 10"/>
          <p:cNvSpPr/>
          <p:nvPr/>
        </p:nvSpPr>
        <p:spPr>
          <a:xfrm>
            <a:off x="6126480" y="1234440"/>
            <a:ext cx="1234440" cy="9144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Cost</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Optimization</a:t>
            </a:r>
            <a:endParaRPr lang="en-US" sz="1300" dirty="0"/>
          </a:p>
        </p:txBody>
      </p:sp>
      <p:sp>
        <p:nvSpPr>
          <p:cNvPr id="13" name="Shape 11"/>
          <p:cNvSpPr/>
          <p:nvPr/>
        </p:nvSpPr>
        <p:spPr>
          <a:xfrm>
            <a:off x="7498080" y="1051560"/>
            <a:ext cx="1234440" cy="2560320"/>
          </a:xfrm>
          <a:prstGeom prst="rect">
            <a:avLst/>
          </a:prstGeom>
          <a:solidFill>
            <a:srgbClr val="059669"/>
          </a:solidFill>
          <a:ln/>
          <a:effectLst>
            <a:outerShdw sx="100000" sy="100000" kx="0" ky="0" algn="bl" rotWithShape="0" blurRad="76200" dist="25400" dir="8100000">
              <a:srgbClr val="000000">
                <a:alpha val="12000"/>
              </a:srgbClr>
            </a:outerShdw>
          </a:effectLst>
        </p:spPr>
      </p:sp>
      <p:sp>
        <p:nvSpPr>
          <p:cNvPr id="14" name="Text 12"/>
          <p:cNvSpPr/>
          <p:nvPr/>
        </p:nvSpPr>
        <p:spPr>
          <a:xfrm>
            <a:off x="7498080" y="1234440"/>
            <a:ext cx="1234440" cy="9144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Sustainability</a:t>
            </a:r>
            <a:endParaRPr lang="en-US" sz="1300" dirty="0"/>
          </a:p>
        </p:txBody>
      </p:sp>
      <p:sp>
        <p:nvSpPr>
          <p:cNvPr id="15" name="Shape 13"/>
          <p:cNvSpPr/>
          <p:nvPr/>
        </p:nvSpPr>
        <p:spPr>
          <a:xfrm>
            <a:off x="640080" y="3840480"/>
            <a:ext cx="7863840" cy="45720"/>
          </a:xfrm>
          <a:prstGeom prst="rect">
            <a:avLst/>
          </a:prstGeom>
          <a:solidFill>
            <a:srgbClr val="0891B2"/>
          </a:solidFill>
          <a:ln/>
        </p:spPr>
      </p:sp>
      <p:sp>
        <p:nvSpPr>
          <p:cNvPr id="16" name="Text 14"/>
          <p:cNvSpPr/>
          <p:nvPr/>
        </p:nvSpPr>
        <p:spPr>
          <a:xfrm>
            <a:off x="640080" y="4023360"/>
            <a:ext cx="7863840" cy="36576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Same pillars. New dimensions. AI doesn't replace the framework — it stress-tests it.</a:t>
            </a:r>
            <a:endParaRPr lang="en-US" sz="1400" dirty="0"/>
          </a:p>
        </p:txBody>
      </p:sp>
      <p:sp>
        <p:nvSpPr>
          <p:cNvPr id="17" name="Text 15"/>
          <p:cNvSpPr/>
          <p:nvPr/>
        </p:nvSpPr>
        <p:spPr>
          <a:xfrm>
            <a:off x="8229600" y="4800600"/>
            <a:ext cx="73152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 / 20</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640080" y="228600"/>
            <a:ext cx="7863840" cy="548640"/>
          </a:xfrm>
          <a:prstGeom prst="rect">
            <a:avLst/>
          </a:prstGeom>
          <a:noFill/>
          <a:ln/>
        </p:spPr>
        <p:txBody>
          <a:bodyPr wrap="square" lIns="0" tIns="0" rIns="0" bIns="0" rtlCol="0" anchor="ctr"/>
          <a:lstStyle/>
          <a:p>
            <a:pPr indent="0" marL="0">
              <a:buNone/>
            </a:pPr>
            <a:r>
              <a:rPr lang="en-US" sz="3000" b="1" dirty="0">
                <a:solidFill>
                  <a:srgbClr val="0A1628"/>
                </a:solidFill>
                <a:latin typeface="Trebuchet MS" pitchFamily="34" charset="0"/>
                <a:ea typeface="Trebuchet MS" pitchFamily="34" charset="-122"/>
                <a:cs typeface="Trebuchet MS" pitchFamily="34" charset="-120"/>
              </a:rPr>
              <a:t>What's Changing — Pillar by Pillar</a:t>
            </a:r>
            <a:endParaRPr lang="en-US" sz="3000" dirty="0"/>
          </a:p>
        </p:txBody>
      </p:sp>
      <p:sp>
        <p:nvSpPr>
          <p:cNvPr id="3" name="Shape 1"/>
          <p:cNvSpPr/>
          <p:nvPr/>
        </p:nvSpPr>
        <p:spPr>
          <a:xfrm>
            <a:off x="640080" y="1143000"/>
            <a:ext cx="201168" cy="201168"/>
          </a:xfrm>
          <a:prstGeom prst="ellipse">
            <a:avLst/>
          </a:prstGeom>
          <a:solidFill>
            <a:srgbClr val="0891B2"/>
          </a:solidFill>
          <a:ln/>
        </p:spPr>
      </p:sp>
      <p:sp>
        <p:nvSpPr>
          <p:cNvPr id="4" name="Text 2"/>
          <p:cNvSpPr/>
          <p:nvPr/>
        </p:nvSpPr>
        <p:spPr>
          <a:xfrm>
            <a:off x="960120" y="1051560"/>
            <a:ext cx="1828800" cy="411480"/>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Ops Excellence</a:t>
            </a:r>
            <a:endParaRPr lang="en-US" sz="1200" dirty="0"/>
          </a:p>
        </p:txBody>
      </p:sp>
      <p:sp>
        <p:nvSpPr>
          <p:cNvPr id="5" name="Text 3"/>
          <p:cNvSpPr/>
          <p:nvPr/>
        </p:nvSpPr>
        <p:spPr>
          <a:xfrm>
            <a:off x="2834640" y="1051560"/>
            <a:ext cx="5943600" cy="41148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Model output quality monitoring, prompt/response traceability, automated lifecycle mgmt</a:t>
            </a:r>
            <a:endParaRPr lang="en-US" sz="1150" dirty="0"/>
          </a:p>
        </p:txBody>
      </p:sp>
      <p:sp>
        <p:nvSpPr>
          <p:cNvPr id="6" name="Shape 4"/>
          <p:cNvSpPr/>
          <p:nvPr/>
        </p:nvSpPr>
        <p:spPr>
          <a:xfrm>
            <a:off x="640080" y="1600200"/>
            <a:ext cx="8046720" cy="0"/>
          </a:xfrm>
          <a:prstGeom prst="line">
            <a:avLst/>
          </a:prstGeom>
          <a:noFill/>
          <a:ln w="6350">
            <a:solidFill>
              <a:srgbClr val="E2E8F0"/>
            </a:solidFill>
            <a:prstDash val="solid"/>
          </a:ln>
        </p:spPr>
      </p:sp>
      <p:sp>
        <p:nvSpPr>
          <p:cNvPr id="7" name="Shape 5"/>
          <p:cNvSpPr/>
          <p:nvPr/>
        </p:nvSpPr>
        <p:spPr>
          <a:xfrm>
            <a:off x="640080" y="1783080"/>
            <a:ext cx="201168" cy="201168"/>
          </a:xfrm>
          <a:prstGeom prst="ellipse">
            <a:avLst/>
          </a:prstGeom>
          <a:solidFill>
            <a:srgbClr val="132240"/>
          </a:solidFill>
          <a:ln/>
        </p:spPr>
      </p:sp>
      <p:sp>
        <p:nvSpPr>
          <p:cNvPr id="8" name="Text 6"/>
          <p:cNvSpPr/>
          <p:nvPr/>
        </p:nvSpPr>
        <p:spPr>
          <a:xfrm>
            <a:off x="960120" y="1691640"/>
            <a:ext cx="1828800" cy="411480"/>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Security</a:t>
            </a:r>
            <a:endParaRPr lang="en-US" sz="1200" dirty="0"/>
          </a:p>
        </p:txBody>
      </p:sp>
      <p:sp>
        <p:nvSpPr>
          <p:cNvPr id="9" name="Text 7"/>
          <p:cNvSpPr/>
          <p:nvPr/>
        </p:nvSpPr>
        <p:spPr>
          <a:xfrm>
            <a:off x="2834640" y="1691640"/>
            <a:ext cx="5943600" cy="41148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Prompt injection defense, harmful output mitigation, model poisoning, excessive AI agency</a:t>
            </a:r>
            <a:endParaRPr lang="en-US" sz="1150" dirty="0"/>
          </a:p>
        </p:txBody>
      </p:sp>
      <p:sp>
        <p:nvSpPr>
          <p:cNvPr id="10" name="Shape 8"/>
          <p:cNvSpPr/>
          <p:nvPr/>
        </p:nvSpPr>
        <p:spPr>
          <a:xfrm>
            <a:off x="640080" y="2240280"/>
            <a:ext cx="8046720" cy="0"/>
          </a:xfrm>
          <a:prstGeom prst="line">
            <a:avLst/>
          </a:prstGeom>
          <a:noFill/>
          <a:ln w="6350">
            <a:solidFill>
              <a:srgbClr val="E2E8F0"/>
            </a:solidFill>
            <a:prstDash val="solid"/>
          </a:ln>
        </p:spPr>
      </p:sp>
      <p:sp>
        <p:nvSpPr>
          <p:cNvPr id="11" name="Shape 9"/>
          <p:cNvSpPr/>
          <p:nvPr/>
        </p:nvSpPr>
        <p:spPr>
          <a:xfrm>
            <a:off x="640080" y="2423160"/>
            <a:ext cx="201168" cy="201168"/>
          </a:xfrm>
          <a:prstGeom prst="ellipse">
            <a:avLst/>
          </a:prstGeom>
          <a:solidFill>
            <a:srgbClr val="10B981"/>
          </a:solidFill>
          <a:ln/>
        </p:spPr>
      </p:sp>
      <p:sp>
        <p:nvSpPr>
          <p:cNvPr id="12" name="Text 10"/>
          <p:cNvSpPr/>
          <p:nvPr/>
        </p:nvSpPr>
        <p:spPr>
          <a:xfrm>
            <a:off x="960120" y="2331720"/>
            <a:ext cx="1828800" cy="411480"/>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Reliability</a:t>
            </a:r>
            <a:endParaRPr lang="en-US" sz="1200" dirty="0"/>
          </a:p>
        </p:txBody>
      </p:sp>
      <p:sp>
        <p:nvSpPr>
          <p:cNvPr id="13" name="Text 11"/>
          <p:cNvSpPr/>
          <p:nvPr/>
        </p:nvSpPr>
        <p:spPr>
          <a:xfrm>
            <a:off x="2834640" y="2331720"/>
            <a:ext cx="5943600" cy="41148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Non-deterministic output handling, distributed inference, graceful degradation patterns</a:t>
            </a:r>
            <a:endParaRPr lang="en-US" sz="1150" dirty="0"/>
          </a:p>
        </p:txBody>
      </p:sp>
      <p:sp>
        <p:nvSpPr>
          <p:cNvPr id="14" name="Shape 12"/>
          <p:cNvSpPr/>
          <p:nvPr/>
        </p:nvSpPr>
        <p:spPr>
          <a:xfrm>
            <a:off x="640080" y="2880360"/>
            <a:ext cx="8046720" cy="0"/>
          </a:xfrm>
          <a:prstGeom prst="line">
            <a:avLst/>
          </a:prstGeom>
          <a:noFill/>
          <a:ln w="6350">
            <a:solidFill>
              <a:srgbClr val="E2E8F0"/>
            </a:solidFill>
            <a:prstDash val="solid"/>
          </a:ln>
        </p:spPr>
      </p:sp>
      <p:sp>
        <p:nvSpPr>
          <p:cNvPr id="15" name="Shape 13"/>
          <p:cNvSpPr/>
          <p:nvPr/>
        </p:nvSpPr>
        <p:spPr>
          <a:xfrm>
            <a:off x="640080" y="3063240"/>
            <a:ext cx="201168" cy="201168"/>
          </a:xfrm>
          <a:prstGeom prst="ellipse">
            <a:avLst/>
          </a:prstGeom>
          <a:solidFill>
            <a:srgbClr val="8B5CF6"/>
          </a:solidFill>
          <a:ln/>
        </p:spPr>
      </p:sp>
      <p:sp>
        <p:nvSpPr>
          <p:cNvPr id="16" name="Text 14"/>
          <p:cNvSpPr/>
          <p:nvPr/>
        </p:nvSpPr>
        <p:spPr>
          <a:xfrm>
            <a:off x="960120" y="2971800"/>
            <a:ext cx="1828800" cy="411480"/>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Performance</a:t>
            </a:r>
            <a:endParaRPr lang="en-US" sz="1200" dirty="0"/>
          </a:p>
        </p:txBody>
      </p:sp>
      <p:sp>
        <p:nvSpPr>
          <p:cNvPr id="17" name="Text 15"/>
          <p:cNvSpPr/>
          <p:nvPr/>
        </p:nvSpPr>
        <p:spPr>
          <a:xfrm>
            <a:off x="2834640" y="2971800"/>
            <a:ext cx="5943600" cy="41148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Inference latency optimization, RAG tuning, GPU/accelerator right-sizing</a:t>
            </a:r>
            <a:endParaRPr lang="en-US" sz="1150" dirty="0"/>
          </a:p>
        </p:txBody>
      </p:sp>
      <p:sp>
        <p:nvSpPr>
          <p:cNvPr id="18" name="Shape 16"/>
          <p:cNvSpPr/>
          <p:nvPr/>
        </p:nvSpPr>
        <p:spPr>
          <a:xfrm>
            <a:off x="640080" y="3520440"/>
            <a:ext cx="8046720" cy="0"/>
          </a:xfrm>
          <a:prstGeom prst="line">
            <a:avLst/>
          </a:prstGeom>
          <a:noFill/>
          <a:ln w="6350">
            <a:solidFill>
              <a:srgbClr val="E2E8F0"/>
            </a:solidFill>
            <a:prstDash val="solid"/>
          </a:ln>
        </p:spPr>
      </p:sp>
      <p:sp>
        <p:nvSpPr>
          <p:cNvPr id="19" name="Shape 17"/>
          <p:cNvSpPr/>
          <p:nvPr/>
        </p:nvSpPr>
        <p:spPr>
          <a:xfrm>
            <a:off x="640080" y="3703320"/>
            <a:ext cx="201168" cy="201168"/>
          </a:xfrm>
          <a:prstGeom prst="ellipse">
            <a:avLst/>
          </a:prstGeom>
          <a:solidFill>
            <a:srgbClr val="F59E0B"/>
          </a:solidFill>
          <a:ln/>
        </p:spPr>
      </p:sp>
      <p:sp>
        <p:nvSpPr>
          <p:cNvPr id="20" name="Text 18"/>
          <p:cNvSpPr/>
          <p:nvPr/>
        </p:nvSpPr>
        <p:spPr>
          <a:xfrm>
            <a:off x="960120" y="3611880"/>
            <a:ext cx="1828800" cy="411480"/>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Cost</a:t>
            </a:r>
            <a:endParaRPr lang="en-US" sz="1200" dirty="0"/>
          </a:p>
        </p:txBody>
      </p:sp>
      <p:sp>
        <p:nvSpPr>
          <p:cNvPr id="21" name="Text 19"/>
          <p:cNvSpPr/>
          <p:nvPr/>
        </p:nvSpPr>
        <p:spPr>
          <a:xfrm>
            <a:off x="2834640" y="3611880"/>
            <a:ext cx="5943600" cy="41148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Token-level cost engineering, model selection trade-offs, agent workflow cost control</a:t>
            </a:r>
            <a:endParaRPr lang="en-US" sz="1150" dirty="0"/>
          </a:p>
        </p:txBody>
      </p:sp>
      <p:sp>
        <p:nvSpPr>
          <p:cNvPr id="22" name="Shape 20"/>
          <p:cNvSpPr/>
          <p:nvPr/>
        </p:nvSpPr>
        <p:spPr>
          <a:xfrm>
            <a:off x="640080" y="4160520"/>
            <a:ext cx="8046720" cy="0"/>
          </a:xfrm>
          <a:prstGeom prst="line">
            <a:avLst/>
          </a:prstGeom>
          <a:noFill/>
          <a:ln w="6350">
            <a:solidFill>
              <a:srgbClr val="E2E8F0"/>
            </a:solidFill>
            <a:prstDash val="solid"/>
          </a:ln>
        </p:spPr>
      </p:sp>
      <p:sp>
        <p:nvSpPr>
          <p:cNvPr id="23" name="Shape 21"/>
          <p:cNvSpPr/>
          <p:nvPr/>
        </p:nvSpPr>
        <p:spPr>
          <a:xfrm>
            <a:off x="640080" y="4343400"/>
            <a:ext cx="201168" cy="201168"/>
          </a:xfrm>
          <a:prstGeom prst="ellipse">
            <a:avLst/>
          </a:prstGeom>
          <a:solidFill>
            <a:srgbClr val="059669"/>
          </a:solidFill>
          <a:ln/>
        </p:spPr>
      </p:sp>
      <p:sp>
        <p:nvSpPr>
          <p:cNvPr id="24" name="Text 22"/>
          <p:cNvSpPr/>
          <p:nvPr/>
        </p:nvSpPr>
        <p:spPr>
          <a:xfrm>
            <a:off x="960120" y="4251960"/>
            <a:ext cx="1828800" cy="411480"/>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Sustainability</a:t>
            </a:r>
            <a:endParaRPr lang="en-US" sz="1200" dirty="0"/>
          </a:p>
        </p:txBody>
      </p:sp>
      <p:sp>
        <p:nvSpPr>
          <p:cNvPr id="25" name="Text 23"/>
          <p:cNvSpPr/>
          <p:nvPr/>
        </p:nvSpPr>
        <p:spPr>
          <a:xfrm>
            <a:off x="2834640" y="4251960"/>
            <a:ext cx="5943600" cy="41148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Training compute minimization, efficient model selection, serverless inference</a:t>
            </a:r>
            <a:endParaRPr lang="en-US" sz="1150" dirty="0"/>
          </a:p>
        </p:txBody>
      </p:sp>
      <p:sp>
        <p:nvSpPr>
          <p:cNvPr id="26" name="Text 24"/>
          <p:cNvSpPr/>
          <p:nvPr/>
        </p:nvSpPr>
        <p:spPr>
          <a:xfrm>
            <a:off x="8229600" y="4800600"/>
            <a:ext cx="73152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 / 20</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640080" y="228600"/>
            <a:ext cx="7863840" cy="548640"/>
          </a:xfrm>
          <a:prstGeom prst="rect">
            <a:avLst/>
          </a:prstGeom>
          <a:noFill/>
          <a:ln/>
        </p:spPr>
        <p:txBody>
          <a:bodyPr wrap="square" lIns="0" tIns="0" rIns="0" bIns="0" rtlCol="0" anchor="ctr"/>
          <a:lstStyle/>
          <a:p>
            <a:pPr indent="0" marL="0">
              <a:buNone/>
            </a:pPr>
            <a:r>
              <a:rPr lang="en-US" sz="3000" b="1" dirty="0">
                <a:solidFill>
                  <a:srgbClr val="FFFFFF"/>
                </a:solidFill>
                <a:latin typeface="Trebuchet MS" pitchFamily="34" charset="0"/>
                <a:ea typeface="Trebuchet MS" pitchFamily="34" charset="-122"/>
                <a:cs typeface="Trebuchet MS" pitchFamily="34" charset="-120"/>
              </a:rPr>
              <a:t>Three Lenses, One Coherent System</a:t>
            </a:r>
            <a:endParaRPr lang="en-US" sz="3000" dirty="0"/>
          </a:p>
        </p:txBody>
      </p:sp>
      <p:sp>
        <p:nvSpPr>
          <p:cNvPr id="3" name="Text 1"/>
          <p:cNvSpPr/>
          <p:nvPr/>
        </p:nvSpPr>
        <p:spPr>
          <a:xfrm>
            <a:off x="640080" y="777240"/>
            <a:ext cx="6400800" cy="320040"/>
          </a:xfrm>
          <a:prstGeom prst="rect">
            <a:avLst/>
          </a:prstGeom>
          <a:noFill/>
          <a:ln/>
        </p:spPr>
        <p:txBody>
          <a:bodyPr wrap="square" lIns="0" tIns="0" rIns="0" bIns="0" rtlCol="0" anchor="ctr"/>
          <a:lstStyle/>
          <a:p>
            <a:pPr indent="0" marL="0">
              <a:buNone/>
            </a:pPr>
            <a:r>
              <a:rPr lang="en-US" sz="1300" i="1" dirty="0">
                <a:solidFill>
                  <a:srgbClr val="22D3EE"/>
                </a:solidFill>
                <a:latin typeface="Calibri" pitchFamily="34" charset="0"/>
                <a:ea typeface="Calibri" pitchFamily="34" charset="-122"/>
                <a:cs typeface="Calibri" pitchFamily="34" charset="-120"/>
              </a:rPr>
              <a:t>Launched at AWS re:Invent 2025</a:t>
            </a:r>
            <a:endParaRPr lang="en-US" sz="1300" dirty="0"/>
          </a:p>
        </p:txBody>
      </p:sp>
      <p:sp>
        <p:nvSpPr>
          <p:cNvPr id="4" name="Shape 2"/>
          <p:cNvSpPr/>
          <p:nvPr/>
        </p:nvSpPr>
        <p:spPr>
          <a:xfrm>
            <a:off x="640080" y="1143000"/>
            <a:ext cx="2560320" cy="3200400"/>
          </a:xfrm>
          <a:prstGeom prst="rect">
            <a:avLst/>
          </a:prstGeom>
          <a:solidFill>
            <a:srgbClr val="1A2744"/>
          </a:solidFill>
          <a:ln/>
          <a:effectLst>
            <a:outerShdw sx="100000" sy="100000" kx="0" ky="0" algn="bl" rotWithShape="0" blurRad="76200" dist="25400" dir="8100000">
              <a:srgbClr val="000000">
                <a:alpha val="12000"/>
              </a:srgbClr>
            </a:outerShdw>
          </a:effectLst>
        </p:spPr>
      </p:sp>
      <p:sp>
        <p:nvSpPr>
          <p:cNvPr id="5" name="Shape 3"/>
          <p:cNvSpPr/>
          <p:nvPr/>
        </p:nvSpPr>
        <p:spPr>
          <a:xfrm>
            <a:off x="749808" y="1261872"/>
            <a:ext cx="777240" cy="256032"/>
          </a:xfrm>
          <a:prstGeom prst="rect">
            <a:avLst/>
          </a:prstGeom>
          <a:solidFill>
            <a:srgbClr val="10B981"/>
          </a:solidFill>
          <a:ln/>
        </p:spPr>
      </p:sp>
      <p:sp>
        <p:nvSpPr>
          <p:cNvPr id="6" name="Text 4"/>
          <p:cNvSpPr/>
          <p:nvPr/>
        </p:nvSpPr>
        <p:spPr>
          <a:xfrm>
            <a:off x="749808" y="1261872"/>
            <a:ext cx="77724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NEW</a:t>
            </a:r>
            <a:endParaRPr lang="en-US" sz="900" dirty="0"/>
          </a:p>
        </p:txBody>
      </p:sp>
      <p:pic>
        <p:nvPicPr>
          <p:cNvPr id="7" name="Image 0" descr="preencoded.png">    </p:cNvPr>
          <p:cNvPicPr>
            <a:picLocks noChangeAspect="1"/>
          </p:cNvPicPr>
          <p:nvPr/>
        </p:nvPicPr>
        <p:blipFill>
          <a:blip r:embed="rId1"/>
          <a:stretch>
            <a:fillRect/>
          </a:stretch>
        </p:blipFill>
        <p:spPr>
          <a:xfrm>
            <a:off x="1600200" y="1737360"/>
            <a:ext cx="594360" cy="594360"/>
          </a:xfrm>
          <a:prstGeom prst="rect">
            <a:avLst/>
          </a:prstGeom>
        </p:spPr>
      </p:pic>
      <p:sp>
        <p:nvSpPr>
          <p:cNvPr id="8" name="Text 5"/>
          <p:cNvSpPr/>
          <p:nvPr/>
        </p:nvSpPr>
        <p:spPr>
          <a:xfrm>
            <a:off x="749808" y="2468880"/>
            <a:ext cx="2340864"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Responsible AI Lens</a:t>
            </a:r>
            <a:endParaRPr lang="en-US" sz="1400" dirty="0"/>
          </a:p>
        </p:txBody>
      </p:sp>
      <p:sp>
        <p:nvSpPr>
          <p:cNvPr id="9" name="Text 6"/>
          <p:cNvSpPr/>
          <p:nvPr/>
        </p:nvSpPr>
        <p:spPr>
          <a:xfrm>
            <a:off x="749808" y="2926080"/>
            <a:ext cx="2340864" cy="1280160"/>
          </a:xfrm>
          <a:prstGeom prst="rect">
            <a:avLst/>
          </a:prstGeom>
          <a:noFill/>
          <a:ln/>
        </p:spPr>
        <p:txBody>
          <a:bodyPr wrap="square" lIns="0" tIns="0" rIns="0" bIns="0" rtlCol="0" anchor="ctr"/>
          <a:lstStyle/>
          <a:p>
            <a:pPr algn="ctr" indent="0" marL="0">
              <a:buNone/>
            </a:pPr>
            <a:r>
              <a:rPr lang="en-US" sz="1050" dirty="0">
                <a:solidFill>
                  <a:srgbClr val="E0F2FE"/>
                </a:solidFill>
                <a:latin typeface="Calibri" pitchFamily="34" charset="0"/>
                <a:ea typeface="Calibri" pitchFamily="34" charset="-122"/>
                <a:cs typeface="Calibri" pitchFamily="34" charset="-120"/>
              </a:rPr>
              <a:t>The foundation. Ten dimensions: controllability, privacy, security, safety, veracity, robustness, fairness, explainability, transparency, governance.</a:t>
            </a:r>
            <a:endParaRPr lang="en-US" sz="1050" dirty="0"/>
          </a:p>
        </p:txBody>
      </p:sp>
      <p:sp>
        <p:nvSpPr>
          <p:cNvPr id="10" name="Shape 7"/>
          <p:cNvSpPr/>
          <p:nvPr/>
        </p:nvSpPr>
        <p:spPr>
          <a:xfrm>
            <a:off x="3474720" y="1143000"/>
            <a:ext cx="2560320" cy="3200400"/>
          </a:xfrm>
          <a:prstGeom prst="rect">
            <a:avLst/>
          </a:prstGeom>
          <a:solidFill>
            <a:srgbClr val="1A2744"/>
          </a:solidFill>
          <a:ln/>
          <a:effectLst>
            <a:outerShdw sx="100000" sy="100000" kx="0" ky="0" algn="bl" rotWithShape="0" blurRad="76200" dist="25400" dir="8100000">
              <a:srgbClr val="000000">
                <a:alpha val="12000"/>
              </a:srgbClr>
            </a:outerShdw>
          </a:effectLst>
        </p:spPr>
      </p:sp>
      <p:sp>
        <p:nvSpPr>
          <p:cNvPr id="11" name="Shape 8"/>
          <p:cNvSpPr/>
          <p:nvPr/>
        </p:nvSpPr>
        <p:spPr>
          <a:xfrm>
            <a:off x="3584448" y="1261872"/>
            <a:ext cx="777240" cy="256032"/>
          </a:xfrm>
          <a:prstGeom prst="rect">
            <a:avLst/>
          </a:prstGeom>
          <a:solidFill>
            <a:srgbClr val="F59E0B"/>
          </a:solidFill>
          <a:ln/>
        </p:spPr>
      </p:sp>
      <p:sp>
        <p:nvSpPr>
          <p:cNvPr id="12" name="Text 9"/>
          <p:cNvSpPr/>
          <p:nvPr/>
        </p:nvSpPr>
        <p:spPr>
          <a:xfrm>
            <a:off x="3584448" y="1261872"/>
            <a:ext cx="77724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UPDATED</a:t>
            </a:r>
            <a:endParaRPr lang="en-US" sz="900" dirty="0"/>
          </a:p>
        </p:txBody>
      </p:sp>
      <p:pic>
        <p:nvPicPr>
          <p:cNvPr id="13" name="Image 1" descr="preencoded.png">    </p:cNvPr>
          <p:cNvPicPr>
            <a:picLocks noChangeAspect="1"/>
          </p:cNvPicPr>
          <p:nvPr/>
        </p:nvPicPr>
        <p:blipFill>
          <a:blip r:embed="rId2"/>
          <a:stretch>
            <a:fillRect/>
          </a:stretch>
        </p:blipFill>
        <p:spPr>
          <a:xfrm>
            <a:off x="4434840" y="1737360"/>
            <a:ext cx="594360" cy="594360"/>
          </a:xfrm>
          <a:prstGeom prst="rect">
            <a:avLst/>
          </a:prstGeom>
        </p:spPr>
      </p:pic>
      <p:sp>
        <p:nvSpPr>
          <p:cNvPr id="14" name="Text 10"/>
          <p:cNvSpPr/>
          <p:nvPr/>
        </p:nvSpPr>
        <p:spPr>
          <a:xfrm>
            <a:off x="3584448" y="2468880"/>
            <a:ext cx="2340864"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Generative AI Lens</a:t>
            </a:r>
            <a:endParaRPr lang="en-US" sz="1400" dirty="0"/>
          </a:p>
        </p:txBody>
      </p:sp>
      <p:sp>
        <p:nvSpPr>
          <p:cNvPr id="15" name="Text 11"/>
          <p:cNvSpPr/>
          <p:nvPr/>
        </p:nvSpPr>
        <p:spPr>
          <a:xfrm>
            <a:off x="3584448" y="2926080"/>
            <a:ext cx="2340864" cy="1280160"/>
          </a:xfrm>
          <a:prstGeom prst="rect">
            <a:avLst/>
          </a:prstGeom>
          <a:noFill/>
          <a:ln/>
        </p:spPr>
        <p:txBody>
          <a:bodyPr wrap="square" lIns="0" tIns="0" rIns="0" bIns="0" rtlCol="0" anchor="ctr"/>
          <a:lstStyle/>
          <a:p>
            <a:pPr algn="ctr" indent="0" marL="0">
              <a:buNone/>
            </a:pPr>
            <a:r>
              <a:rPr lang="en-US" sz="1050" dirty="0">
                <a:solidFill>
                  <a:srgbClr val="E0F2FE"/>
                </a:solidFill>
                <a:latin typeface="Calibri" pitchFamily="34" charset="0"/>
                <a:ea typeface="Calibri" pitchFamily="34" charset="-122"/>
                <a:cs typeface="Calibri" pitchFamily="34" charset="-120"/>
              </a:rPr>
              <a:t>LLM-specific: prompt engineering, model selection, agentic AI workflows, RAG architecture.</a:t>
            </a:r>
            <a:endParaRPr lang="en-US" sz="1050" dirty="0"/>
          </a:p>
        </p:txBody>
      </p:sp>
      <p:sp>
        <p:nvSpPr>
          <p:cNvPr id="16" name="Shape 12"/>
          <p:cNvSpPr/>
          <p:nvPr/>
        </p:nvSpPr>
        <p:spPr>
          <a:xfrm>
            <a:off x="6309360" y="1143000"/>
            <a:ext cx="2560320" cy="3200400"/>
          </a:xfrm>
          <a:prstGeom prst="rect">
            <a:avLst/>
          </a:prstGeom>
          <a:solidFill>
            <a:srgbClr val="1A2744"/>
          </a:solidFill>
          <a:ln/>
          <a:effectLst>
            <a:outerShdw sx="100000" sy="100000" kx="0" ky="0" algn="bl" rotWithShape="0" blurRad="76200" dist="25400" dir="8100000">
              <a:srgbClr val="000000">
                <a:alpha val="12000"/>
              </a:srgbClr>
            </a:outerShdw>
          </a:effectLst>
        </p:spPr>
      </p:sp>
      <p:sp>
        <p:nvSpPr>
          <p:cNvPr id="17" name="Shape 13"/>
          <p:cNvSpPr/>
          <p:nvPr/>
        </p:nvSpPr>
        <p:spPr>
          <a:xfrm>
            <a:off x="6419088" y="1261872"/>
            <a:ext cx="777240" cy="256032"/>
          </a:xfrm>
          <a:prstGeom prst="rect">
            <a:avLst/>
          </a:prstGeom>
          <a:solidFill>
            <a:srgbClr val="F59E0B"/>
          </a:solidFill>
          <a:ln/>
        </p:spPr>
      </p:sp>
      <p:sp>
        <p:nvSpPr>
          <p:cNvPr id="18" name="Text 14"/>
          <p:cNvSpPr/>
          <p:nvPr/>
        </p:nvSpPr>
        <p:spPr>
          <a:xfrm>
            <a:off x="6419088" y="1261872"/>
            <a:ext cx="77724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UPDATED</a:t>
            </a:r>
            <a:endParaRPr lang="en-US" sz="900" dirty="0"/>
          </a:p>
        </p:txBody>
      </p:sp>
      <p:pic>
        <p:nvPicPr>
          <p:cNvPr id="19" name="Image 2" descr="preencoded.png">    </p:cNvPr>
          <p:cNvPicPr>
            <a:picLocks noChangeAspect="1"/>
          </p:cNvPicPr>
          <p:nvPr/>
        </p:nvPicPr>
        <p:blipFill>
          <a:blip r:embed="rId3"/>
          <a:stretch>
            <a:fillRect/>
          </a:stretch>
        </p:blipFill>
        <p:spPr>
          <a:xfrm>
            <a:off x="7269480" y="1737360"/>
            <a:ext cx="594360" cy="594360"/>
          </a:xfrm>
          <a:prstGeom prst="rect">
            <a:avLst/>
          </a:prstGeom>
        </p:spPr>
      </p:pic>
      <p:sp>
        <p:nvSpPr>
          <p:cNvPr id="20" name="Text 15"/>
          <p:cNvSpPr/>
          <p:nvPr/>
        </p:nvSpPr>
        <p:spPr>
          <a:xfrm>
            <a:off x="6419088" y="2468880"/>
            <a:ext cx="2340864"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Machine Learning Lens</a:t>
            </a:r>
            <a:endParaRPr lang="en-US" sz="1400" dirty="0"/>
          </a:p>
        </p:txBody>
      </p:sp>
      <p:sp>
        <p:nvSpPr>
          <p:cNvPr id="21" name="Text 16"/>
          <p:cNvSpPr/>
          <p:nvPr/>
        </p:nvSpPr>
        <p:spPr>
          <a:xfrm>
            <a:off x="6419088" y="2926080"/>
            <a:ext cx="2340864" cy="1280160"/>
          </a:xfrm>
          <a:prstGeom prst="rect">
            <a:avLst/>
          </a:prstGeom>
          <a:noFill/>
          <a:ln/>
        </p:spPr>
        <p:txBody>
          <a:bodyPr wrap="square" lIns="0" tIns="0" rIns="0" bIns="0" rtlCol="0" anchor="ctr"/>
          <a:lstStyle/>
          <a:p>
            <a:pPr algn="ctr" indent="0" marL="0">
              <a:buNone/>
            </a:pPr>
            <a:r>
              <a:rPr lang="en-US" sz="1050" dirty="0">
                <a:solidFill>
                  <a:srgbClr val="E0F2FE"/>
                </a:solidFill>
                <a:latin typeface="Calibri" pitchFamily="34" charset="0"/>
                <a:ea typeface="Calibri" pitchFamily="34" charset="-122"/>
                <a:cs typeface="Calibri" pitchFamily="34" charset="-120"/>
              </a:rPr>
              <a:t>Full ML lifecycle: problem framing, data processing, model development, deployment, monitoring.</a:t>
            </a:r>
            <a:endParaRPr lang="en-US" sz="1050" dirty="0"/>
          </a:p>
        </p:txBody>
      </p:sp>
      <p:sp>
        <p:nvSpPr>
          <p:cNvPr id="22" name="Text 17"/>
          <p:cNvSpPr/>
          <p:nvPr/>
        </p:nvSpPr>
        <p:spPr>
          <a:xfrm>
            <a:off x="8229600" y="4800600"/>
            <a:ext cx="73152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 / 20</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640080" y="228600"/>
            <a:ext cx="7863840" cy="548640"/>
          </a:xfrm>
          <a:prstGeom prst="rect">
            <a:avLst/>
          </a:prstGeom>
          <a:noFill/>
          <a:ln/>
        </p:spPr>
        <p:txBody>
          <a:bodyPr wrap="square" lIns="0" tIns="0" rIns="0" bIns="0" rtlCol="0" anchor="ctr"/>
          <a:lstStyle/>
          <a:p>
            <a:pPr indent="0" marL="0">
              <a:buNone/>
            </a:pPr>
            <a:r>
              <a:rPr lang="en-US" sz="3000" b="1" dirty="0">
                <a:solidFill>
                  <a:srgbClr val="0A1628"/>
                </a:solidFill>
                <a:latin typeface="Trebuchet MS" pitchFamily="34" charset="0"/>
                <a:ea typeface="Trebuchet MS" pitchFamily="34" charset="-122"/>
                <a:cs typeface="Trebuchet MS" pitchFamily="34" charset="-120"/>
              </a:rPr>
              <a:t>Agentic AI — The Architectural Paradigm Shift</a:t>
            </a:r>
            <a:endParaRPr lang="en-US" sz="3000" dirty="0"/>
          </a:p>
        </p:txBody>
      </p:sp>
      <p:sp>
        <p:nvSpPr>
          <p:cNvPr id="3" name="Text 1"/>
          <p:cNvSpPr/>
          <p:nvPr/>
        </p:nvSpPr>
        <p:spPr>
          <a:xfrm>
            <a:off x="640080" y="777240"/>
            <a:ext cx="6400800" cy="32004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New to the Gen AI Lens: agents as distributed computing with autonomy</a:t>
            </a:r>
            <a:endParaRPr lang="en-US" sz="1300" dirty="0"/>
          </a:p>
        </p:txBody>
      </p:sp>
      <p:sp>
        <p:nvSpPr>
          <p:cNvPr id="4" name="Shape 2"/>
          <p:cNvSpPr/>
          <p:nvPr/>
        </p:nvSpPr>
        <p:spPr>
          <a:xfrm>
            <a:off x="457200" y="1417320"/>
            <a:ext cx="1371600" cy="1005840"/>
          </a:xfrm>
          <a:prstGeom prst="rect">
            <a:avLst/>
          </a:prstGeom>
          <a:solidFill>
            <a:srgbClr val="0891B2"/>
          </a:solidFill>
          <a:ln/>
          <a:effectLst>
            <a:outerShdw sx="100000" sy="100000" kx="0" ky="0" algn="bl" rotWithShape="0" blurRad="76200" dist="25400" dir="8100000">
              <a:srgbClr val="000000">
                <a:alpha val="12000"/>
              </a:srgbClr>
            </a:outerShdw>
          </a:effectLst>
        </p:spPr>
      </p:sp>
      <p:sp>
        <p:nvSpPr>
          <p:cNvPr id="5" name="Text 3"/>
          <p:cNvSpPr/>
          <p:nvPr/>
        </p:nvSpPr>
        <p:spPr>
          <a:xfrm>
            <a:off x="457200" y="1417320"/>
            <a:ext cx="1371600" cy="10058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User</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Request</a:t>
            </a:r>
            <a:endParaRPr lang="en-US" sz="1200" dirty="0"/>
          </a:p>
        </p:txBody>
      </p:sp>
      <p:pic>
        <p:nvPicPr>
          <p:cNvPr id="6" name="Image 0" descr="preencoded.png">    </p:cNvPr>
          <p:cNvPicPr>
            <a:picLocks noChangeAspect="1"/>
          </p:cNvPicPr>
          <p:nvPr/>
        </p:nvPicPr>
        <p:blipFill>
          <a:blip r:embed="rId1"/>
          <a:stretch>
            <a:fillRect/>
          </a:stretch>
        </p:blipFill>
        <p:spPr>
          <a:xfrm>
            <a:off x="1847088" y="1737360"/>
            <a:ext cx="274320" cy="274320"/>
          </a:xfrm>
          <a:prstGeom prst="rect">
            <a:avLst/>
          </a:prstGeom>
        </p:spPr>
      </p:pic>
      <p:sp>
        <p:nvSpPr>
          <p:cNvPr id="7" name="Shape 4"/>
          <p:cNvSpPr/>
          <p:nvPr/>
        </p:nvSpPr>
        <p:spPr>
          <a:xfrm>
            <a:off x="2194560" y="1417320"/>
            <a:ext cx="1371600" cy="1005840"/>
          </a:xfrm>
          <a:prstGeom prst="rect">
            <a:avLst/>
          </a:prstGeom>
          <a:solidFill>
            <a:srgbClr val="132240"/>
          </a:solidFill>
          <a:ln/>
          <a:effectLst>
            <a:outerShdw sx="100000" sy="100000" kx="0" ky="0" algn="bl" rotWithShape="0" blurRad="76200" dist="25400" dir="8100000">
              <a:srgbClr val="000000">
                <a:alpha val="12000"/>
              </a:srgbClr>
            </a:outerShdw>
          </a:effectLst>
        </p:spPr>
      </p:sp>
      <p:sp>
        <p:nvSpPr>
          <p:cNvPr id="8" name="Text 5"/>
          <p:cNvSpPr/>
          <p:nvPr/>
        </p:nvSpPr>
        <p:spPr>
          <a:xfrm>
            <a:off x="2194560" y="1417320"/>
            <a:ext cx="1371600" cy="10058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AI Agent</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(Reasoning)</a:t>
            </a:r>
            <a:endParaRPr lang="en-US" sz="1200" dirty="0"/>
          </a:p>
        </p:txBody>
      </p:sp>
      <p:pic>
        <p:nvPicPr>
          <p:cNvPr id="9" name="Image 1" descr="preencoded.png">    </p:cNvPr>
          <p:cNvPicPr>
            <a:picLocks noChangeAspect="1"/>
          </p:cNvPicPr>
          <p:nvPr/>
        </p:nvPicPr>
        <p:blipFill>
          <a:blip r:embed="rId2"/>
          <a:stretch>
            <a:fillRect/>
          </a:stretch>
        </p:blipFill>
        <p:spPr>
          <a:xfrm>
            <a:off x="3584448" y="1737360"/>
            <a:ext cx="274320" cy="274320"/>
          </a:xfrm>
          <a:prstGeom prst="rect">
            <a:avLst/>
          </a:prstGeom>
        </p:spPr>
      </p:pic>
      <p:sp>
        <p:nvSpPr>
          <p:cNvPr id="10" name="Shape 6"/>
          <p:cNvSpPr/>
          <p:nvPr/>
        </p:nvSpPr>
        <p:spPr>
          <a:xfrm>
            <a:off x="3931920" y="1417320"/>
            <a:ext cx="1371600" cy="1005840"/>
          </a:xfrm>
          <a:prstGeom prst="rect">
            <a:avLst/>
          </a:prstGeom>
          <a:solidFill>
            <a:srgbClr val="8B5CF6"/>
          </a:solidFill>
          <a:ln/>
          <a:effectLst>
            <a:outerShdw sx="100000" sy="100000" kx="0" ky="0" algn="bl" rotWithShape="0" blurRad="76200" dist="25400" dir="8100000">
              <a:srgbClr val="000000">
                <a:alpha val="12000"/>
              </a:srgbClr>
            </a:outerShdw>
          </a:effectLst>
        </p:spPr>
      </p:sp>
      <p:sp>
        <p:nvSpPr>
          <p:cNvPr id="11" name="Text 7"/>
          <p:cNvSpPr/>
          <p:nvPr/>
        </p:nvSpPr>
        <p:spPr>
          <a:xfrm>
            <a:off x="3931920" y="1417320"/>
            <a:ext cx="1371600" cy="10058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Tools &amp;</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APIs</a:t>
            </a:r>
            <a:endParaRPr lang="en-US" sz="1200" dirty="0"/>
          </a:p>
        </p:txBody>
      </p:sp>
      <p:pic>
        <p:nvPicPr>
          <p:cNvPr id="12" name="Image 2" descr="preencoded.png">    </p:cNvPr>
          <p:cNvPicPr>
            <a:picLocks noChangeAspect="1"/>
          </p:cNvPicPr>
          <p:nvPr/>
        </p:nvPicPr>
        <p:blipFill>
          <a:blip r:embed="rId3"/>
          <a:stretch>
            <a:fillRect/>
          </a:stretch>
        </p:blipFill>
        <p:spPr>
          <a:xfrm>
            <a:off x="5321808" y="1737360"/>
            <a:ext cx="274320" cy="274320"/>
          </a:xfrm>
          <a:prstGeom prst="rect">
            <a:avLst/>
          </a:prstGeom>
        </p:spPr>
      </p:pic>
      <p:sp>
        <p:nvSpPr>
          <p:cNvPr id="13" name="Shape 8"/>
          <p:cNvSpPr/>
          <p:nvPr/>
        </p:nvSpPr>
        <p:spPr>
          <a:xfrm>
            <a:off x="5669280" y="1417320"/>
            <a:ext cx="1371600" cy="1005840"/>
          </a:xfrm>
          <a:prstGeom prst="rect">
            <a:avLst/>
          </a:prstGeom>
          <a:solidFill>
            <a:srgbClr val="F59E0B"/>
          </a:solidFill>
          <a:ln/>
          <a:effectLst>
            <a:outerShdw sx="100000" sy="100000" kx="0" ky="0" algn="bl" rotWithShape="0" blurRad="76200" dist="25400" dir="8100000">
              <a:srgbClr val="000000">
                <a:alpha val="12000"/>
              </a:srgbClr>
            </a:outerShdw>
          </a:effectLst>
        </p:spPr>
      </p:sp>
      <p:sp>
        <p:nvSpPr>
          <p:cNvPr id="14" name="Text 9"/>
          <p:cNvSpPr/>
          <p:nvPr/>
        </p:nvSpPr>
        <p:spPr>
          <a:xfrm>
            <a:off x="5669280" y="1417320"/>
            <a:ext cx="1371600" cy="10058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Human</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Review</a:t>
            </a:r>
            <a:endParaRPr lang="en-US" sz="1200" dirty="0"/>
          </a:p>
        </p:txBody>
      </p:sp>
      <p:pic>
        <p:nvPicPr>
          <p:cNvPr id="15" name="Image 3" descr="preencoded.png">    </p:cNvPr>
          <p:cNvPicPr>
            <a:picLocks noChangeAspect="1"/>
          </p:cNvPicPr>
          <p:nvPr/>
        </p:nvPicPr>
        <p:blipFill>
          <a:blip r:embed="rId4"/>
          <a:stretch>
            <a:fillRect/>
          </a:stretch>
        </p:blipFill>
        <p:spPr>
          <a:xfrm>
            <a:off x="7059168" y="1737360"/>
            <a:ext cx="274320" cy="274320"/>
          </a:xfrm>
          <a:prstGeom prst="rect">
            <a:avLst/>
          </a:prstGeom>
        </p:spPr>
      </p:pic>
      <p:sp>
        <p:nvSpPr>
          <p:cNvPr id="16" name="Shape 10"/>
          <p:cNvSpPr/>
          <p:nvPr/>
        </p:nvSpPr>
        <p:spPr>
          <a:xfrm>
            <a:off x="7406640" y="1417320"/>
            <a:ext cx="1371600" cy="1005840"/>
          </a:xfrm>
          <a:prstGeom prst="rect">
            <a:avLst/>
          </a:prstGeom>
          <a:solidFill>
            <a:srgbClr val="10B981"/>
          </a:solidFill>
          <a:ln/>
          <a:effectLst>
            <a:outerShdw sx="100000" sy="100000" kx="0" ky="0" algn="bl" rotWithShape="0" blurRad="76200" dist="25400" dir="8100000">
              <a:srgbClr val="000000">
                <a:alpha val="12000"/>
              </a:srgbClr>
            </a:outerShdw>
          </a:effectLst>
        </p:spPr>
      </p:sp>
      <p:sp>
        <p:nvSpPr>
          <p:cNvPr id="17" name="Text 11"/>
          <p:cNvSpPr/>
          <p:nvPr/>
        </p:nvSpPr>
        <p:spPr>
          <a:xfrm>
            <a:off x="7406640" y="1417320"/>
            <a:ext cx="1371600" cy="10058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Validated</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Output</a:t>
            </a:r>
            <a:endParaRPr lang="en-US" sz="1200" dirty="0"/>
          </a:p>
        </p:txBody>
      </p:sp>
      <p:sp>
        <p:nvSpPr>
          <p:cNvPr id="18" name="Shape 12"/>
          <p:cNvSpPr/>
          <p:nvPr/>
        </p:nvSpPr>
        <p:spPr>
          <a:xfrm>
            <a:off x="640080" y="2834640"/>
            <a:ext cx="7863840" cy="1645920"/>
          </a:xfrm>
          <a:prstGeom prst="rect">
            <a:avLst/>
          </a:prstGeom>
          <a:solidFill>
            <a:srgbClr val="E0F2FE"/>
          </a:solidFill>
          <a:ln/>
        </p:spPr>
      </p:sp>
      <p:pic>
        <p:nvPicPr>
          <p:cNvPr id="19" name="Image 4" descr="preencoded.png">    </p:cNvPr>
          <p:cNvPicPr>
            <a:picLocks noChangeAspect="1"/>
          </p:cNvPicPr>
          <p:nvPr/>
        </p:nvPicPr>
        <p:blipFill>
          <a:blip r:embed="rId5"/>
          <a:stretch>
            <a:fillRect/>
          </a:stretch>
        </p:blipFill>
        <p:spPr>
          <a:xfrm>
            <a:off x="822960" y="3017520"/>
            <a:ext cx="320040" cy="320040"/>
          </a:xfrm>
          <a:prstGeom prst="rect">
            <a:avLst/>
          </a:prstGeom>
        </p:spPr>
      </p:pic>
      <p:sp>
        <p:nvSpPr>
          <p:cNvPr id="20" name="Text 13"/>
          <p:cNvSpPr/>
          <p:nvPr/>
        </p:nvSpPr>
        <p:spPr>
          <a:xfrm>
            <a:off x="1280160" y="2971800"/>
            <a:ext cx="6858000" cy="32004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Three risks DEs and architects must design for:</a:t>
            </a:r>
            <a:endParaRPr lang="en-US" sz="1300" dirty="0"/>
          </a:p>
        </p:txBody>
      </p:sp>
      <p:sp>
        <p:nvSpPr>
          <p:cNvPr id="21" name="Text 14"/>
          <p:cNvSpPr/>
          <p:nvPr/>
        </p:nvSpPr>
        <p:spPr>
          <a:xfrm>
            <a:off x="1280160" y="3337560"/>
            <a:ext cx="6858000" cy="1005840"/>
          </a:xfrm>
          <a:prstGeom prst="rect">
            <a:avLst/>
          </a:prstGeom>
          <a:noFill/>
          <a:ln/>
        </p:spPr>
        <p:txBody>
          <a:bodyPr wrap="square" rtlCol="0" anchor="ctr"/>
          <a:lstStyle/>
          <a:p>
            <a:pPr marL="342900" indent="-342900">
              <a:buSzPct val="100000"/>
              <a:buChar char="•"/>
            </a:pPr>
            <a:r>
              <a:rPr lang="en-US" sz="1150" dirty="0">
                <a:solidFill>
                  <a:srgbClr val="64748B"/>
                </a:solidFill>
                <a:latin typeface="Calibri" pitchFamily="34" charset="0"/>
                <a:ea typeface="Calibri" pitchFamily="34" charset="-122"/>
                <a:cs typeface="Calibri" pitchFamily="34" charset="-120"/>
              </a:rPr>
              <a:t>Excessive agency — AI taking actions beyond intended scope (e.g., modifying customer records)</a:t>
            </a:r>
            <a:endParaRPr lang="en-US" sz="1150" dirty="0"/>
          </a:p>
          <a:p>
            <a:pPr marL="342900" indent="-342900">
              <a:buSzPct val="100000"/>
              <a:buChar char="•"/>
            </a:pPr>
            <a:r>
              <a:rPr lang="en-US" sz="1150" dirty="0">
                <a:solidFill>
                  <a:srgbClr val="64748B"/>
                </a:solidFill>
                <a:latin typeface="Calibri" pitchFamily="34" charset="0"/>
                <a:ea typeface="Calibri" pitchFamily="34" charset="-122"/>
                <a:cs typeface="Calibri" pitchFamily="34" charset="-120"/>
              </a:rPr>
              <a:t>Error compounding — mistakes cascade through multi-step agent chains without human checkpoints</a:t>
            </a:r>
            <a:endParaRPr lang="en-US" sz="1150" dirty="0"/>
          </a:p>
          <a:p>
            <a:pPr marL="342900" indent="-342900">
              <a:buSzPct val="100000"/>
              <a:buChar char="•"/>
            </a:pPr>
            <a:r>
              <a:rPr lang="en-US" sz="1150" dirty="0">
                <a:solidFill>
                  <a:srgbClr val="64748B"/>
                </a:solidFill>
                <a:latin typeface="Calibri" pitchFamily="34" charset="0"/>
                <a:ea typeface="Calibri" pitchFamily="34" charset="-122"/>
                <a:cs typeface="Calibri" pitchFamily="34" charset="-120"/>
              </a:rPr>
              <a:t>Accountability gaps — when an agent acts, who owns the outcome? (Hint: we do)</a:t>
            </a:r>
            <a:endParaRPr lang="en-US" sz="1150" dirty="0"/>
          </a:p>
        </p:txBody>
      </p:sp>
      <p:sp>
        <p:nvSpPr>
          <p:cNvPr id="22" name="Text 15"/>
          <p:cNvSpPr/>
          <p:nvPr/>
        </p:nvSpPr>
        <p:spPr>
          <a:xfrm>
            <a:off x="8229600" y="4800600"/>
            <a:ext cx="73152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 / 20</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640080" y="228600"/>
            <a:ext cx="7863840" cy="548640"/>
          </a:xfrm>
          <a:prstGeom prst="rect">
            <a:avLst/>
          </a:prstGeom>
          <a:noFill/>
          <a:ln/>
        </p:spPr>
        <p:txBody>
          <a:bodyPr wrap="square" lIns="0" tIns="0" rIns="0" bIns="0" rtlCol="0" anchor="ctr"/>
          <a:lstStyle/>
          <a:p>
            <a:pPr indent="0" marL="0">
              <a:buNone/>
            </a:pPr>
            <a:r>
              <a:rPr lang="en-US" sz="3000" b="1" dirty="0">
                <a:solidFill>
                  <a:srgbClr val="FFFFFF"/>
                </a:solidFill>
                <a:latin typeface="Trebuchet MS" pitchFamily="34" charset="0"/>
                <a:ea typeface="Trebuchet MS" pitchFamily="34" charset="-122"/>
                <a:cs typeface="Trebuchet MS" pitchFamily="34" charset="-120"/>
              </a:rPr>
              <a:t>What Stays — Our Enduring Principles</a:t>
            </a:r>
            <a:endParaRPr lang="en-US" sz="3000" dirty="0"/>
          </a:p>
        </p:txBody>
      </p:sp>
      <p:pic>
        <p:nvPicPr>
          <p:cNvPr id="3" name="Image 0" descr="preencoded.png">    </p:cNvPr>
          <p:cNvPicPr>
            <a:picLocks noChangeAspect="1"/>
          </p:cNvPicPr>
          <p:nvPr/>
        </p:nvPicPr>
        <p:blipFill>
          <a:blip r:embed="rId1"/>
          <a:stretch>
            <a:fillRect/>
          </a:stretch>
        </p:blipFill>
        <p:spPr>
          <a:xfrm>
            <a:off x="640080" y="1225296"/>
            <a:ext cx="292608" cy="292608"/>
          </a:xfrm>
          <a:prstGeom prst="rect">
            <a:avLst/>
          </a:prstGeom>
        </p:spPr>
      </p:pic>
      <p:sp>
        <p:nvSpPr>
          <p:cNvPr id="4" name="Text 1"/>
          <p:cNvSpPr/>
          <p:nvPr/>
        </p:nvSpPr>
        <p:spPr>
          <a:xfrm>
            <a:off x="1051560" y="1188720"/>
            <a:ext cx="274320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Build for Scalability</a:t>
            </a:r>
            <a:endParaRPr lang="en-US" sz="1400" dirty="0"/>
          </a:p>
        </p:txBody>
      </p:sp>
      <p:sp>
        <p:nvSpPr>
          <p:cNvPr id="5" name="Text 2"/>
          <p:cNvSpPr/>
          <p:nvPr/>
        </p:nvSpPr>
        <p:spPr>
          <a:xfrm>
            <a:off x="1051560" y="1481328"/>
            <a:ext cx="7589520" cy="365760"/>
          </a:xfrm>
          <a:prstGeom prst="rect">
            <a:avLst/>
          </a:prstGeom>
          <a:noFill/>
          <a:ln/>
        </p:spPr>
        <p:txBody>
          <a:bodyPr wrap="square" lIns="0" tIns="0" rIns="0" bIns="0" rtlCol="0" anchor="ctr"/>
          <a:lstStyle/>
          <a:p>
            <a:pPr indent="0" marL="0">
              <a:buNone/>
            </a:pPr>
            <a:r>
              <a:rPr lang="en-US" sz="1150" dirty="0">
                <a:solidFill>
                  <a:srgbClr val="E0F2FE"/>
                </a:solidFill>
                <a:latin typeface="Calibri" pitchFamily="34" charset="0"/>
                <a:ea typeface="Calibri" pitchFamily="34" charset="-122"/>
                <a:cs typeface="Calibri" pitchFamily="34" charset="-120"/>
              </a:rPr>
              <a:t>Systems that handle millions of concurrent users don't stop needing scale because AI is involved.</a:t>
            </a:r>
            <a:endParaRPr lang="en-US" sz="1150" dirty="0"/>
          </a:p>
        </p:txBody>
      </p:sp>
      <p:pic>
        <p:nvPicPr>
          <p:cNvPr id="6" name="Image 1" descr="preencoded.png">    </p:cNvPr>
          <p:cNvPicPr>
            <a:picLocks noChangeAspect="1"/>
          </p:cNvPicPr>
          <p:nvPr/>
        </p:nvPicPr>
        <p:blipFill>
          <a:blip r:embed="rId2"/>
          <a:stretch>
            <a:fillRect/>
          </a:stretch>
        </p:blipFill>
        <p:spPr>
          <a:xfrm>
            <a:off x="640080" y="1975104"/>
            <a:ext cx="292608" cy="292608"/>
          </a:xfrm>
          <a:prstGeom prst="rect">
            <a:avLst/>
          </a:prstGeom>
        </p:spPr>
      </p:pic>
      <p:sp>
        <p:nvSpPr>
          <p:cNvPr id="7" name="Text 3"/>
          <p:cNvSpPr/>
          <p:nvPr/>
        </p:nvSpPr>
        <p:spPr>
          <a:xfrm>
            <a:off x="1051560" y="1938528"/>
            <a:ext cx="274320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Build for Reliability</a:t>
            </a:r>
            <a:endParaRPr lang="en-US" sz="1400" dirty="0"/>
          </a:p>
        </p:txBody>
      </p:sp>
      <p:sp>
        <p:nvSpPr>
          <p:cNvPr id="8" name="Text 4"/>
          <p:cNvSpPr/>
          <p:nvPr/>
        </p:nvSpPr>
        <p:spPr>
          <a:xfrm>
            <a:off x="1051560" y="2231136"/>
            <a:ext cx="7589520" cy="365760"/>
          </a:xfrm>
          <a:prstGeom prst="rect">
            <a:avLst/>
          </a:prstGeom>
          <a:noFill/>
          <a:ln/>
        </p:spPr>
        <p:txBody>
          <a:bodyPr wrap="square" lIns="0" tIns="0" rIns="0" bIns="0" rtlCol="0" anchor="ctr"/>
          <a:lstStyle/>
          <a:p>
            <a:pPr indent="0" marL="0">
              <a:buNone/>
            </a:pPr>
            <a:r>
              <a:rPr lang="en-US" sz="1150" dirty="0">
                <a:solidFill>
                  <a:srgbClr val="E0F2FE"/>
                </a:solidFill>
                <a:latin typeface="Calibri" pitchFamily="34" charset="0"/>
                <a:ea typeface="Calibri" pitchFamily="34" charset="-122"/>
                <a:cs typeface="Calibri" pitchFamily="34" charset="-120"/>
              </a:rPr>
              <a:t>99.99% availability targets. Non-deterministic AI makes this harder, not less important.</a:t>
            </a:r>
            <a:endParaRPr lang="en-US" sz="1150" dirty="0"/>
          </a:p>
        </p:txBody>
      </p:sp>
      <p:pic>
        <p:nvPicPr>
          <p:cNvPr id="9" name="Image 2" descr="preencoded.png">    </p:cNvPr>
          <p:cNvPicPr>
            <a:picLocks noChangeAspect="1"/>
          </p:cNvPicPr>
          <p:nvPr/>
        </p:nvPicPr>
        <p:blipFill>
          <a:blip r:embed="rId3"/>
          <a:stretch>
            <a:fillRect/>
          </a:stretch>
        </p:blipFill>
        <p:spPr>
          <a:xfrm>
            <a:off x="640080" y="2724912"/>
            <a:ext cx="292608" cy="292608"/>
          </a:xfrm>
          <a:prstGeom prst="rect">
            <a:avLst/>
          </a:prstGeom>
        </p:spPr>
      </p:pic>
      <p:sp>
        <p:nvSpPr>
          <p:cNvPr id="10" name="Text 5"/>
          <p:cNvSpPr/>
          <p:nvPr/>
        </p:nvSpPr>
        <p:spPr>
          <a:xfrm>
            <a:off x="1051560" y="2688336"/>
            <a:ext cx="274320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Defense in Depth</a:t>
            </a:r>
            <a:endParaRPr lang="en-US" sz="1400" dirty="0"/>
          </a:p>
        </p:txBody>
      </p:sp>
      <p:sp>
        <p:nvSpPr>
          <p:cNvPr id="11" name="Text 6"/>
          <p:cNvSpPr/>
          <p:nvPr/>
        </p:nvSpPr>
        <p:spPr>
          <a:xfrm>
            <a:off x="1051560" y="2980944"/>
            <a:ext cx="7589520" cy="365760"/>
          </a:xfrm>
          <a:prstGeom prst="rect">
            <a:avLst/>
          </a:prstGeom>
          <a:noFill/>
          <a:ln/>
        </p:spPr>
        <p:txBody>
          <a:bodyPr wrap="square" lIns="0" tIns="0" rIns="0" bIns="0" rtlCol="0" anchor="ctr"/>
          <a:lstStyle/>
          <a:p>
            <a:pPr indent="0" marL="0">
              <a:buNone/>
            </a:pPr>
            <a:r>
              <a:rPr lang="en-US" sz="1150" dirty="0">
                <a:solidFill>
                  <a:srgbClr val="E0F2FE"/>
                </a:solidFill>
                <a:latin typeface="Calibri" pitchFamily="34" charset="0"/>
                <a:ea typeface="Calibri" pitchFamily="34" charset="-122"/>
                <a:cs typeface="Calibri" pitchFamily="34" charset="-120"/>
              </a:rPr>
              <a:t>Add AI-specific security layers ON TOP of existing IAM, encryption, network security.</a:t>
            </a:r>
            <a:endParaRPr lang="en-US" sz="1150" dirty="0"/>
          </a:p>
        </p:txBody>
      </p:sp>
      <p:pic>
        <p:nvPicPr>
          <p:cNvPr id="12" name="Image 3" descr="preencoded.png">    </p:cNvPr>
          <p:cNvPicPr>
            <a:picLocks noChangeAspect="1"/>
          </p:cNvPicPr>
          <p:nvPr/>
        </p:nvPicPr>
        <p:blipFill>
          <a:blip r:embed="rId4"/>
          <a:stretch>
            <a:fillRect/>
          </a:stretch>
        </p:blipFill>
        <p:spPr>
          <a:xfrm>
            <a:off x="640080" y="3474720"/>
            <a:ext cx="292608" cy="292608"/>
          </a:xfrm>
          <a:prstGeom prst="rect">
            <a:avLst/>
          </a:prstGeom>
        </p:spPr>
      </p:pic>
      <p:sp>
        <p:nvSpPr>
          <p:cNvPr id="13" name="Text 7"/>
          <p:cNvSpPr/>
          <p:nvPr/>
        </p:nvSpPr>
        <p:spPr>
          <a:xfrm>
            <a:off x="1051560" y="3438144"/>
            <a:ext cx="274320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Iterative Design</a:t>
            </a:r>
            <a:endParaRPr lang="en-US" sz="1400" dirty="0"/>
          </a:p>
        </p:txBody>
      </p:sp>
      <p:sp>
        <p:nvSpPr>
          <p:cNvPr id="14" name="Text 8"/>
          <p:cNvSpPr/>
          <p:nvPr/>
        </p:nvSpPr>
        <p:spPr>
          <a:xfrm>
            <a:off x="1051560" y="3730752"/>
            <a:ext cx="7589520" cy="365760"/>
          </a:xfrm>
          <a:prstGeom prst="rect">
            <a:avLst/>
          </a:prstGeom>
          <a:noFill/>
          <a:ln/>
        </p:spPr>
        <p:txBody>
          <a:bodyPr wrap="square" lIns="0" tIns="0" rIns="0" bIns="0" rtlCol="0" anchor="ctr"/>
          <a:lstStyle/>
          <a:p>
            <a:pPr indent="0" marL="0">
              <a:buNone/>
            </a:pPr>
            <a:r>
              <a:rPr lang="en-US" sz="1150" dirty="0">
                <a:solidFill>
                  <a:srgbClr val="E0F2FE"/>
                </a:solidFill>
                <a:latin typeface="Calibri" pitchFamily="34" charset="0"/>
                <a:ea typeface="Calibri" pitchFamily="34" charset="-122"/>
                <a:cs typeface="Calibri" pitchFamily="34" charset="-120"/>
              </a:rPr>
              <a:t>The Gen AI lifecycle is explicitly iterative: scope → select → customize → integrate → deploy → iterate.</a:t>
            </a:r>
            <a:endParaRPr lang="en-US" sz="1150" dirty="0"/>
          </a:p>
        </p:txBody>
      </p:sp>
      <p:pic>
        <p:nvPicPr>
          <p:cNvPr id="15" name="Image 4" descr="preencoded.png">    </p:cNvPr>
          <p:cNvPicPr>
            <a:picLocks noChangeAspect="1"/>
          </p:cNvPicPr>
          <p:nvPr/>
        </p:nvPicPr>
        <p:blipFill>
          <a:blip r:embed="rId5"/>
          <a:stretch>
            <a:fillRect/>
          </a:stretch>
        </p:blipFill>
        <p:spPr>
          <a:xfrm>
            <a:off x="640080" y="4224528"/>
            <a:ext cx="292608" cy="292608"/>
          </a:xfrm>
          <a:prstGeom prst="rect">
            <a:avLst/>
          </a:prstGeom>
        </p:spPr>
      </p:pic>
      <p:sp>
        <p:nvSpPr>
          <p:cNvPr id="16" name="Text 9"/>
          <p:cNvSpPr/>
          <p:nvPr/>
        </p:nvSpPr>
        <p:spPr>
          <a:xfrm>
            <a:off x="1051560" y="4187952"/>
            <a:ext cx="274320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Observability First</a:t>
            </a:r>
            <a:endParaRPr lang="en-US" sz="1400" dirty="0"/>
          </a:p>
        </p:txBody>
      </p:sp>
      <p:sp>
        <p:nvSpPr>
          <p:cNvPr id="17" name="Text 10"/>
          <p:cNvSpPr/>
          <p:nvPr/>
        </p:nvSpPr>
        <p:spPr>
          <a:xfrm>
            <a:off x="1051560" y="4480560"/>
            <a:ext cx="7589520" cy="365760"/>
          </a:xfrm>
          <a:prstGeom prst="rect">
            <a:avLst/>
          </a:prstGeom>
          <a:noFill/>
          <a:ln/>
        </p:spPr>
        <p:txBody>
          <a:bodyPr wrap="square" lIns="0" tIns="0" rIns="0" bIns="0" rtlCol="0" anchor="ctr"/>
          <a:lstStyle/>
          <a:p>
            <a:pPr indent="0" marL="0">
              <a:buNone/>
            </a:pPr>
            <a:r>
              <a:rPr lang="en-US" sz="1150" dirty="0">
                <a:solidFill>
                  <a:srgbClr val="E0F2FE"/>
                </a:solidFill>
                <a:latin typeface="Calibri" pitchFamily="34" charset="0"/>
                <a:ea typeface="Calibri" pitchFamily="34" charset="-122"/>
                <a:cs typeface="Calibri" pitchFamily="34" charset="-120"/>
              </a:rPr>
              <a:t>You cannot operate what you cannot see. More critical when outputs are non-deterministic.</a:t>
            </a:r>
            <a:endParaRPr lang="en-US" sz="1150" dirty="0"/>
          </a:p>
        </p:txBody>
      </p:sp>
      <p:sp>
        <p:nvSpPr>
          <p:cNvPr id="18" name="Text 11"/>
          <p:cNvSpPr/>
          <p:nvPr/>
        </p:nvSpPr>
        <p:spPr>
          <a:xfrm>
            <a:off x="8229600" y="4800600"/>
            <a:ext cx="73152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 / 20</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640080" y="228600"/>
            <a:ext cx="7863840" cy="548640"/>
          </a:xfrm>
          <a:prstGeom prst="rect">
            <a:avLst/>
          </a:prstGeom>
          <a:noFill/>
          <a:ln/>
        </p:spPr>
        <p:txBody>
          <a:bodyPr wrap="square" lIns="0" tIns="0" rIns="0" bIns="0" rtlCol="0" anchor="ctr"/>
          <a:lstStyle/>
          <a:p>
            <a:pPr indent="0" marL="0">
              <a:buNone/>
            </a:pPr>
            <a:r>
              <a:rPr lang="en-US" sz="3000" b="1" dirty="0">
                <a:solidFill>
                  <a:srgbClr val="0A1628"/>
                </a:solidFill>
                <a:latin typeface="Trebuchet MS" pitchFamily="34" charset="0"/>
                <a:ea typeface="Trebuchet MS" pitchFamily="34" charset="-122"/>
                <a:cs typeface="Trebuchet MS" pitchFamily="34" charset="-120"/>
              </a:rPr>
              <a:t>The Architect Role — Redefined</a:t>
            </a:r>
            <a:endParaRPr lang="en-US" sz="3000" dirty="0"/>
          </a:p>
        </p:txBody>
      </p:sp>
      <p:sp>
        <p:nvSpPr>
          <p:cNvPr id="3" name="Text 1"/>
          <p:cNvSpPr/>
          <p:nvPr/>
        </p:nvSpPr>
        <p:spPr>
          <a:xfrm>
            <a:off x="640080" y="777240"/>
            <a:ext cx="6400800" cy="32004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From maker to meta-designer</a:t>
            </a:r>
            <a:endParaRPr lang="en-US" sz="1300" dirty="0"/>
          </a:p>
        </p:txBody>
      </p:sp>
      <p:sp>
        <p:nvSpPr>
          <p:cNvPr id="4" name="Shape 2"/>
          <p:cNvSpPr/>
          <p:nvPr/>
        </p:nvSpPr>
        <p:spPr>
          <a:xfrm>
            <a:off x="457200" y="1097280"/>
            <a:ext cx="3931920" cy="329184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5" name="Shape 3"/>
          <p:cNvSpPr/>
          <p:nvPr/>
        </p:nvSpPr>
        <p:spPr>
          <a:xfrm>
            <a:off x="457200" y="1097280"/>
            <a:ext cx="64008" cy="3291840"/>
          </a:xfrm>
          <a:prstGeom prst="rect">
            <a:avLst/>
          </a:prstGeom>
          <a:solidFill>
            <a:srgbClr val="EF4444"/>
          </a:solidFill>
          <a:ln/>
        </p:spPr>
      </p:sp>
      <p:sp>
        <p:nvSpPr>
          <p:cNvPr id="6" name="Text 4"/>
          <p:cNvSpPr/>
          <p:nvPr/>
        </p:nvSpPr>
        <p:spPr>
          <a:xfrm>
            <a:off x="685800" y="1188720"/>
            <a:ext cx="3474720" cy="365760"/>
          </a:xfrm>
          <a:prstGeom prst="rect">
            <a:avLst/>
          </a:prstGeom>
          <a:noFill/>
          <a:ln/>
        </p:spPr>
        <p:txBody>
          <a:bodyPr wrap="square" lIns="0" tIns="0" rIns="0" bIns="0" rtlCol="0" anchor="ctr"/>
          <a:lstStyle/>
          <a:p>
            <a:pPr indent="0" marL="0">
              <a:buNone/>
            </a:pPr>
            <a:r>
              <a:rPr lang="en-US" sz="1600" b="1" dirty="0">
                <a:solidFill>
                  <a:srgbClr val="EF4444"/>
                </a:solidFill>
                <a:latin typeface="Trebuchet MS" pitchFamily="34" charset="0"/>
                <a:ea typeface="Trebuchet MS" pitchFamily="34" charset="-122"/>
                <a:cs typeface="Trebuchet MS" pitchFamily="34" charset="-120"/>
              </a:rPr>
              <a:t>Less Time On</a:t>
            </a:r>
            <a:endParaRPr lang="en-US" sz="1600" dirty="0"/>
          </a:p>
        </p:txBody>
      </p:sp>
      <p:sp>
        <p:nvSpPr>
          <p:cNvPr id="7" name="Text 5"/>
          <p:cNvSpPr/>
          <p:nvPr/>
        </p:nvSpPr>
        <p:spPr>
          <a:xfrm>
            <a:off x="685800" y="1645920"/>
            <a:ext cx="3474720" cy="2560320"/>
          </a:xfrm>
          <a:prstGeom prst="rect">
            <a:avLst/>
          </a:prstGeom>
          <a:noFill/>
          <a:ln/>
        </p:spPr>
        <p:txBody>
          <a:bodyPr wrap="square" rtlCol="0" anchor="ctr"/>
          <a:lstStyle/>
          <a:p>
            <a:pPr marL="342900" indent="-342900">
              <a:spcAft>
                <a:spcPts val="500"/>
              </a:spcAft>
              <a:buSzPct val="100000"/>
              <a:buChar char="•"/>
            </a:pPr>
            <a:r>
              <a:rPr lang="en-US" sz="1200" dirty="0">
                <a:solidFill>
                  <a:srgbClr val="64748B"/>
                </a:solidFill>
                <a:latin typeface="Calibri" pitchFamily="34" charset="0"/>
                <a:ea typeface="Calibri" pitchFamily="34" charset="-122"/>
                <a:cs typeface="Calibri" pitchFamily="34" charset="-120"/>
              </a:rPr>
              <a:t>Manual code-level oversight of every line</a:t>
            </a:r>
            <a:endParaRPr lang="en-US" sz="1200" dirty="0"/>
          </a:p>
          <a:p>
            <a:pPr marL="342900" indent="-342900">
              <a:spcAft>
                <a:spcPts val="500"/>
              </a:spcAft>
              <a:buSzPct val="100000"/>
              <a:buChar char="•"/>
            </a:pPr>
            <a:r>
              <a:rPr lang="en-US" sz="1200" dirty="0">
                <a:solidFill>
                  <a:srgbClr val="64748B"/>
                </a:solidFill>
                <a:latin typeface="Calibri" pitchFamily="34" charset="0"/>
                <a:ea typeface="Calibri" pitchFamily="34" charset="-122"/>
                <a:cs typeface="Calibri" pitchFamily="34" charset="-120"/>
              </a:rPr>
              <a:t>Static blueprint drafting that decays</a:t>
            </a:r>
            <a:endParaRPr lang="en-US" sz="1200" dirty="0"/>
          </a:p>
          <a:p>
            <a:pPr marL="342900" indent="-342900">
              <a:spcAft>
                <a:spcPts val="500"/>
              </a:spcAft>
              <a:buSzPct val="100000"/>
              <a:buChar char="•"/>
            </a:pPr>
            <a:r>
              <a:rPr lang="en-US" sz="1200" dirty="0">
                <a:solidFill>
                  <a:srgbClr val="64748B"/>
                </a:solidFill>
                <a:latin typeface="Calibri" pitchFamily="34" charset="0"/>
                <a:ea typeface="Calibri" pitchFamily="34" charset="-122"/>
                <a:cs typeface="Calibri" pitchFamily="34" charset="-120"/>
              </a:rPr>
              <a:t>Waterfall design handoffs</a:t>
            </a:r>
            <a:endParaRPr lang="en-US" sz="1200" dirty="0"/>
          </a:p>
          <a:p>
            <a:pPr marL="342900" indent="-342900">
              <a:spcAft>
                <a:spcPts val="500"/>
              </a:spcAft>
              <a:buSzPct val="100000"/>
              <a:buChar char="•"/>
            </a:pPr>
            <a:r>
              <a:rPr lang="en-US" sz="1200" dirty="0">
                <a:solidFill>
                  <a:srgbClr val="64748B"/>
                </a:solidFill>
                <a:latin typeface="Calibri" pitchFamily="34" charset="0"/>
                <a:ea typeface="Calibri" pitchFamily="34" charset="-122"/>
                <a:cs typeface="Calibri" pitchFamily="34" charset="-120"/>
              </a:rPr>
              <a:t>Single-technology deep dives in isolation</a:t>
            </a:r>
            <a:endParaRPr lang="en-US" sz="1200" dirty="0"/>
          </a:p>
          <a:p>
            <a:pPr marL="342900" indent="-342900">
              <a:spcAft>
                <a:spcPts val="500"/>
              </a:spcAft>
              <a:buSzPct val="100000"/>
              <a:buChar char="•"/>
            </a:pPr>
            <a:r>
              <a:rPr lang="en-US" sz="1200" dirty="0">
                <a:solidFill>
                  <a:srgbClr val="64748B"/>
                </a:solidFill>
                <a:latin typeface="Calibri" pitchFamily="34" charset="0"/>
                <a:ea typeface="Calibri" pitchFamily="34" charset="-122"/>
                <a:cs typeface="Calibri" pitchFamily="34" charset="-120"/>
              </a:rPr>
              <a:t>Gatekeeping knowledge</a:t>
            </a:r>
            <a:endParaRPr lang="en-US" sz="1200" dirty="0"/>
          </a:p>
        </p:txBody>
      </p:sp>
      <p:sp>
        <p:nvSpPr>
          <p:cNvPr id="8" name="Shape 6"/>
          <p:cNvSpPr/>
          <p:nvPr/>
        </p:nvSpPr>
        <p:spPr>
          <a:xfrm>
            <a:off x="4754880" y="1097280"/>
            <a:ext cx="3931920" cy="329184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9" name="Shape 7"/>
          <p:cNvSpPr/>
          <p:nvPr/>
        </p:nvSpPr>
        <p:spPr>
          <a:xfrm>
            <a:off x="4754880" y="1097280"/>
            <a:ext cx="64008" cy="3291840"/>
          </a:xfrm>
          <a:prstGeom prst="rect">
            <a:avLst/>
          </a:prstGeom>
          <a:solidFill>
            <a:srgbClr val="10B981"/>
          </a:solidFill>
          <a:ln/>
        </p:spPr>
      </p:sp>
      <p:sp>
        <p:nvSpPr>
          <p:cNvPr id="10" name="Text 8"/>
          <p:cNvSpPr/>
          <p:nvPr/>
        </p:nvSpPr>
        <p:spPr>
          <a:xfrm>
            <a:off x="4983480" y="1188720"/>
            <a:ext cx="3474720" cy="365760"/>
          </a:xfrm>
          <a:prstGeom prst="rect">
            <a:avLst/>
          </a:prstGeom>
          <a:noFill/>
          <a:ln/>
        </p:spPr>
        <p:txBody>
          <a:bodyPr wrap="square" lIns="0" tIns="0" rIns="0" bIns="0" rtlCol="0" anchor="ctr"/>
          <a:lstStyle/>
          <a:p>
            <a:pPr indent="0" marL="0">
              <a:buNone/>
            </a:pPr>
            <a:r>
              <a:rPr lang="en-US" sz="1600" b="1" dirty="0">
                <a:solidFill>
                  <a:srgbClr val="10B981"/>
                </a:solidFill>
                <a:latin typeface="Trebuchet MS" pitchFamily="34" charset="0"/>
                <a:ea typeface="Trebuchet MS" pitchFamily="34" charset="-122"/>
                <a:cs typeface="Trebuchet MS" pitchFamily="34" charset="-120"/>
              </a:rPr>
              <a:t>More Time On</a:t>
            </a:r>
            <a:endParaRPr lang="en-US" sz="1600" dirty="0"/>
          </a:p>
        </p:txBody>
      </p:sp>
      <p:sp>
        <p:nvSpPr>
          <p:cNvPr id="11" name="Text 9"/>
          <p:cNvSpPr/>
          <p:nvPr/>
        </p:nvSpPr>
        <p:spPr>
          <a:xfrm>
            <a:off x="4983480" y="1645920"/>
            <a:ext cx="3474720" cy="2560320"/>
          </a:xfrm>
          <a:prstGeom prst="rect">
            <a:avLst/>
          </a:prstGeom>
          <a:noFill/>
          <a:ln/>
        </p:spPr>
        <p:txBody>
          <a:bodyPr wrap="square" rtlCol="0" anchor="ctr"/>
          <a:lstStyle/>
          <a:p>
            <a:pPr marL="342900" indent="-342900">
              <a:spcAft>
                <a:spcPts val="500"/>
              </a:spcAft>
              <a:buSzPct val="100000"/>
              <a:buChar char="•"/>
            </a:pPr>
            <a:r>
              <a:rPr lang="en-US" sz="1200" dirty="0">
                <a:solidFill>
                  <a:srgbClr val="64748B"/>
                </a:solidFill>
                <a:latin typeface="Calibri" pitchFamily="34" charset="0"/>
                <a:ea typeface="Calibri" pitchFamily="34" charset="-122"/>
                <a:cs typeface="Calibri" pitchFamily="34" charset="-120"/>
              </a:rPr>
              <a:t>Intelligence orchestration — coordinating agents, models, humans</a:t>
            </a:r>
            <a:endParaRPr lang="en-US" sz="1200" dirty="0"/>
          </a:p>
          <a:p>
            <a:pPr marL="342900" indent="-342900">
              <a:spcAft>
                <a:spcPts val="500"/>
              </a:spcAft>
              <a:buSzPct val="100000"/>
              <a:buChar char="•"/>
            </a:pPr>
            <a:r>
              <a:rPr lang="en-US" sz="1200" dirty="0">
                <a:solidFill>
                  <a:srgbClr val="64748B"/>
                </a:solidFill>
                <a:latin typeface="Calibri" pitchFamily="34" charset="0"/>
                <a:ea typeface="Calibri" pitchFamily="34" charset="-122"/>
                <a:cs typeface="Calibri" pitchFamily="34" charset="-120"/>
              </a:rPr>
              <a:t>Trade-off navigation — choosing between AI-generated options</a:t>
            </a:r>
            <a:endParaRPr lang="en-US" sz="1200" dirty="0"/>
          </a:p>
          <a:p>
            <a:pPr marL="342900" indent="-342900">
              <a:spcAft>
                <a:spcPts val="500"/>
              </a:spcAft>
              <a:buSzPct val="100000"/>
              <a:buChar char="•"/>
            </a:pPr>
            <a:r>
              <a:rPr lang="en-US" sz="1200" dirty="0">
                <a:solidFill>
                  <a:srgbClr val="64748B"/>
                </a:solidFill>
                <a:latin typeface="Calibri" pitchFamily="34" charset="0"/>
                <a:ea typeface="Calibri" pitchFamily="34" charset="-122"/>
                <a:cs typeface="Calibri" pitchFamily="34" charset="-120"/>
              </a:rPr>
              <a:t>Governance design — autonomy boundaries for AI systems</a:t>
            </a:r>
            <a:endParaRPr lang="en-US" sz="1200" dirty="0"/>
          </a:p>
          <a:p>
            <a:pPr marL="342900" indent="-342900">
              <a:spcAft>
                <a:spcPts val="500"/>
              </a:spcAft>
              <a:buSzPct val="100000"/>
              <a:buChar char="•"/>
            </a:pPr>
            <a:r>
              <a:rPr lang="en-US" sz="1200" dirty="0">
                <a:solidFill>
                  <a:srgbClr val="64748B"/>
                </a:solidFill>
                <a:latin typeface="Calibri" pitchFamily="34" charset="0"/>
                <a:ea typeface="Calibri" pitchFamily="34" charset="-122"/>
                <a:cs typeface="Calibri" pitchFamily="34" charset="-120"/>
              </a:rPr>
              <a:t>Data architecture strategy — semantic layers, vector DBs, RAG</a:t>
            </a:r>
            <a:endParaRPr lang="en-US" sz="1200" dirty="0"/>
          </a:p>
          <a:p>
            <a:pPr marL="342900" indent="-342900">
              <a:spcAft>
                <a:spcPts val="500"/>
              </a:spcAft>
              <a:buSzPct val="100000"/>
              <a:buChar char="•"/>
            </a:pPr>
            <a:r>
              <a:rPr lang="en-US" sz="1200" dirty="0">
                <a:solidFill>
                  <a:srgbClr val="64748B"/>
                </a:solidFill>
                <a:latin typeface="Calibri" pitchFamily="34" charset="0"/>
                <a:ea typeface="Calibri" pitchFamily="34" charset="-122"/>
                <a:cs typeface="Calibri" pitchFamily="34" charset="-120"/>
              </a:rPr>
              <a:t>Socio-technical coaching — guiding teams through AI adoption</a:t>
            </a:r>
            <a:endParaRPr lang="en-US" sz="1200" dirty="0"/>
          </a:p>
        </p:txBody>
      </p:sp>
      <p:sp>
        <p:nvSpPr>
          <p:cNvPr id="12" name="Text 10"/>
          <p:cNvSpPr/>
          <p:nvPr/>
        </p:nvSpPr>
        <p:spPr>
          <a:xfrm>
            <a:off x="8229600" y="4800600"/>
            <a:ext cx="73152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 / 20</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640080" y="228600"/>
            <a:ext cx="7863840" cy="548640"/>
          </a:xfrm>
          <a:prstGeom prst="rect">
            <a:avLst/>
          </a:prstGeom>
          <a:noFill/>
          <a:ln/>
        </p:spPr>
        <p:txBody>
          <a:bodyPr wrap="square" lIns="0" tIns="0" rIns="0" bIns="0" rtlCol="0" anchor="ctr"/>
          <a:lstStyle/>
          <a:p>
            <a:pPr indent="0" marL="0">
              <a:buNone/>
            </a:pPr>
            <a:r>
              <a:rPr lang="en-US" sz="3000" b="1" dirty="0">
                <a:solidFill>
                  <a:srgbClr val="FFFFFF"/>
                </a:solidFill>
                <a:latin typeface="Trebuchet MS" pitchFamily="34" charset="0"/>
                <a:ea typeface="Trebuchet MS" pitchFamily="34" charset="-122"/>
                <a:cs typeface="Trebuchet MS" pitchFamily="34" charset="-120"/>
              </a:rPr>
              <a:t>The Three Loops — How Architects Engage with AI</a:t>
            </a:r>
            <a:endParaRPr lang="en-US" sz="3000" dirty="0"/>
          </a:p>
        </p:txBody>
      </p:sp>
      <p:sp>
        <p:nvSpPr>
          <p:cNvPr id="3" name="Text 1"/>
          <p:cNvSpPr/>
          <p:nvPr/>
        </p:nvSpPr>
        <p:spPr>
          <a:xfrm>
            <a:off x="640080" y="777240"/>
            <a:ext cx="6400800" cy="320040"/>
          </a:xfrm>
          <a:prstGeom prst="rect">
            <a:avLst/>
          </a:prstGeom>
          <a:noFill/>
          <a:ln/>
        </p:spPr>
        <p:txBody>
          <a:bodyPr wrap="square" lIns="0" tIns="0" rIns="0" bIns="0" rtlCol="0" anchor="ctr"/>
          <a:lstStyle/>
          <a:p>
            <a:pPr indent="0" marL="0">
              <a:buNone/>
            </a:pPr>
            <a:r>
              <a:rPr lang="en-US" sz="1300" i="1" dirty="0">
                <a:solidFill>
                  <a:srgbClr val="22D3EE"/>
                </a:solidFill>
                <a:latin typeface="Calibri" pitchFamily="34" charset="0"/>
                <a:ea typeface="Calibri" pitchFamily="34" charset="-122"/>
                <a:cs typeface="Calibri" pitchFamily="34" charset="-120"/>
              </a:rPr>
              <a:t>Framework from InfoQ's "Where Architects Sit in the Era of AI"</a:t>
            </a:r>
            <a:endParaRPr lang="en-US" sz="1300" dirty="0"/>
          </a:p>
        </p:txBody>
      </p:sp>
      <p:sp>
        <p:nvSpPr>
          <p:cNvPr id="4" name="Shape 2"/>
          <p:cNvSpPr/>
          <p:nvPr/>
        </p:nvSpPr>
        <p:spPr>
          <a:xfrm>
            <a:off x="640080" y="1188720"/>
            <a:ext cx="2560320" cy="3108960"/>
          </a:xfrm>
          <a:prstGeom prst="rect">
            <a:avLst/>
          </a:prstGeom>
          <a:solidFill>
            <a:srgbClr val="1A2744"/>
          </a:solidFill>
          <a:ln/>
          <a:effectLst>
            <a:outerShdw sx="100000" sy="100000" kx="0" ky="0" algn="bl" rotWithShape="0" blurRad="76200" dist="25400" dir="8100000">
              <a:srgbClr val="000000">
                <a:alpha val="12000"/>
              </a:srgbClr>
            </a:outerShdw>
          </a:effectLst>
        </p:spPr>
      </p:sp>
      <p:sp>
        <p:nvSpPr>
          <p:cNvPr id="5" name="Shape 3"/>
          <p:cNvSpPr/>
          <p:nvPr/>
        </p:nvSpPr>
        <p:spPr>
          <a:xfrm>
            <a:off x="640080" y="1188720"/>
            <a:ext cx="2560320" cy="54864"/>
          </a:xfrm>
          <a:prstGeom prst="rect">
            <a:avLst/>
          </a:prstGeom>
          <a:solidFill>
            <a:srgbClr val="0891B2"/>
          </a:solidFill>
          <a:ln/>
        </p:spPr>
      </p:sp>
      <p:pic>
        <p:nvPicPr>
          <p:cNvPr id="6" name="Image 0" descr="preencoded.png">    </p:cNvPr>
          <p:cNvPicPr>
            <a:picLocks noChangeAspect="1"/>
          </p:cNvPicPr>
          <p:nvPr/>
        </p:nvPicPr>
        <p:blipFill>
          <a:blip r:embed="rId1"/>
          <a:stretch>
            <a:fillRect/>
          </a:stretch>
        </p:blipFill>
        <p:spPr>
          <a:xfrm>
            <a:off x="1600200" y="1463040"/>
            <a:ext cx="548640" cy="548640"/>
          </a:xfrm>
          <a:prstGeom prst="rect">
            <a:avLst/>
          </a:prstGeom>
        </p:spPr>
      </p:pic>
      <p:sp>
        <p:nvSpPr>
          <p:cNvPr id="7" name="Text 4"/>
          <p:cNvSpPr/>
          <p:nvPr/>
        </p:nvSpPr>
        <p:spPr>
          <a:xfrm>
            <a:off x="749808" y="2148840"/>
            <a:ext cx="2340864" cy="320040"/>
          </a:xfrm>
          <a:prstGeom prst="rect">
            <a:avLst/>
          </a:prstGeom>
          <a:noFill/>
          <a:ln/>
        </p:spPr>
        <p:txBody>
          <a:bodyPr wrap="square" lIns="0" tIns="0" rIns="0" bIns="0" rtlCol="0" anchor="ctr"/>
          <a:lstStyle/>
          <a:p>
            <a:pPr algn="ctr" indent="0" marL="0">
              <a:buNone/>
            </a:pPr>
            <a:r>
              <a:rPr lang="en-US" sz="1500" b="1" dirty="0">
                <a:solidFill>
                  <a:srgbClr val="FFFFFF"/>
                </a:solidFill>
                <a:latin typeface="Trebuchet MS" pitchFamily="34" charset="0"/>
                <a:ea typeface="Trebuchet MS" pitchFamily="34" charset="-122"/>
                <a:cs typeface="Trebuchet MS" pitchFamily="34" charset="-120"/>
              </a:rPr>
              <a:t>IN the Loop</a:t>
            </a:r>
            <a:endParaRPr lang="en-US" sz="1500" dirty="0"/>
          </a:p>
        </p:txBody>
      </p:sp>
      <p:sp>
        <p:nvSpPr>
          <p:cNvPr id="8" name="Text 5"/>
          <p:cNvSpPr/>
          <p:nvPr/>
        </p:nvSpPr>
        <p:spPr>
          <a:xfrm>
            <a:off x="749808" y="2468880"/>
            <a:ext cx="2340864" cy="228600"/>
          </a:xfrm>
          <a:prstGeom prst="rect">
            <a:avLst/>
          </a:prstGeom>
          <a:noFill/>
          <a:ln/>
        </p:spPr>
        <p:txBody>
          <a:bodyPr wrap="square" lIns="0" tIns="0" rIns="0" bIns="0" rtlCol="0" anchor="ctr"/>
          <a:lstStyle/>
          <a:p>
            <a:pPr algn="ctr" indent="0" marL="0">
              <a:buNone/>
            </a:pPr>
            <a:r>
              <a:rPr lang="en-US" sz="1100" b="1" dirty="0">
                <a:solidFill>
                  <a:srgbClr val="0891B2"/>
                </a:solidFill>
                <a:latin typeface="Calibri" pitchFamily="34" charset="0"/>
                <a:ea typeface="Calibri" pitchFamily="34" charset="-122"/>
                <a:cs typeface="Calibri" pitchFamily="34" charset="-120"/>
              </a:rPr>
              <a:t>Collaborative</a:t>
            </a:r>
            <a:endParaRPr lang="en-US" sz="1100" dirty="0"/>
          </a:p>
        </p:txBody>
      </p:sp>
      <p:sp>
        <p:nvSpPr>
          <p:cNvPr id="9" name="Text 6"/>
          <p:cNvSpPr/>
          <p:nvPr/>
        </p:nvSpPr>
        <p:spPr>
          <a:xfrm>
            <a:off x="777240" y="2788920"/>
            <a:ext cx="2286000" cy="1371600"/>
          </a:xfrm>
          <a:prstGeom prst="rect">
            <a:avLst/>
          </a:prstGeom>
          <a:noFill/>
          <a:ln/>
        </p:spPr>
        <p:txBody>
          <a:bodyPr wrap="square" lIns="0" tIns="0" rIns="0" bIns="0" rtlCol="0" anchor="ctr"/>
          <a:lstStyle/>
          <a:p>
            <a:pPr algn="ctr" indent="0" marL="0">
              <a:buNone/>
            </a:pPr>
            <a:r>
              <a:rPr lang="en-US" sz="1100" dirty="0">
                <a:solidFill>
                  <a:srgbClr val="E0F2FE"/>
                </a:solidFill>
                <a:latin typeface="Calibri" pitchFamily="34" charset="0"/>
                <a:ea typeface="Calibri" pitchFamily="34" charset="-122"/>
                <a:cs typeface="Calibri" pitchFamily="34" charset="-120"/>
              </a:rPr>
              <a:t>Architect + AI co-design in real time. AI extends analytical reach. Architect steers judgment. The 'bionic' architect.</a:t>
            </a:r>
            <a:endParaRPr lang="en-US" sz="1100" dirty="0"/>
          </a:p>
        </p:txBody>
      </p:sp>
      <p:sp>
        <p:nvSpPr>
          <p:cNvPr id="10" name="Shape 7"/>
          <p:cNvSpPr/>
          <p:nvPr/>
        </p:nvSpPr>
        <p:spPr>
          <a:xfrm>
            <a:off x="3474720" y="1188720"/>
            <a:ext cx="2560320" cy="3108960"/>
          </a:xfrm>
          <a:prstGeom prst="rect">
            <a:avLst/>
          </a:prstGeom>
          <a:solidFill>
            <a:srgbClr val="1A2744"/>
          </a:solidFill>
          <a:ln/>
          <a:effectLst>
            <a:outerShdw sx="100000" sy="100000" kx="0" ky="0" algn="bl" rotWithShape="0" blurRad="76200" dist="25400" dir="8100000">
              <a:srgbClr val="000000">
                <a:alpha val="12000"/>
              </a:srgbClr>
            </a:outerShdw>
          </a:effectLst>
        </p:spPr>
      </p:sp>
      <p:sp>
        <p:nvSpPr>
          <p:cNvPr id="11" name="Shape 8"/>
          <p:cNvSpPr/>
          <p:nvPr/>
        </p:nvSpPr>
        <p:spPr>
          <a:xfrm>
            <a:off x="3474720" y="1188720"/>
            <a:ext cx="2560320" cy="54864"/>
          </a:xfrm>
          <a:prstGeom prst="rect">
            <a:avLst/>
          </a:prstGeom>
          <a:solidFill>
            <a:srgbClr val="F59E0B"/>
          </a:solidFill>
          <a:ln/>
        </p:spPr>
      </p:sp>
      <p:pic>
        <p:nvPicPr>
          <p:cNvPr id="12" name="Image 1" descr="preencoded.png">    </p:cNvPr>
          <p:cNvPicPr>
            <a:picLocks noChangeAspect="1"/>
          </p:cNvPicPr>
          <p:nvPr/>
        </p:nvPicPr>
        <p:blipFill>
          <a:blip r:embed="rId2"/>
          <a:stretch>
            <a:fillRect/>
          </a:stretch>
        </p:blipFill>
        <p:spPr>
          <a:xfrm>
            <a:off x="4434840" y="1463040"/>
            <a:ext cx="548640" cy="548640"/>
          </a:xfrm>
          <a:prstGeom prst="rect">
            <a:avLst/>
          </a:prstGeom>
        </p:spPr>
      </p:pic>
      <p:sp>
        <p:nvSpPr>
          <p:cNvPr id="13" name="Text 9"/>
          <p:cNvSpPr/>
          <p:nvPr/>
        </p:nvSpPr>
        <p:spPr>
          <a:xfrm>
            <a:off x="3584448" y="2148840"/>
            <a:ext cx="2340864" cy="320040"/>
          </a:xfrm>
          <a:prstGeom prst="rect">
            <a:avLst/>
          </a:prstGeom>
          <a:noFill/>
          <a:ln/>
        </p:spPr>
        <p:txBody>
          <a:bodyPr wrap="square" lIns="0" tIns="0" rIns="0" bIns="0" rtlCol="0" anchor="ctr"/>
          <a:lstStyle/>
          <a:p>
            <a:pPr algn="ctr" indent="0" marL="0">
              <a:buNone/>
            </a:pPr>
            <a:r>
              <a:rPr lang="en-US" sz="1500" b="1" dirty="0">
                <a:solidFill>
                  <a:srgbClr val="FFFFFF"/>
                </a:solidFill>
                <a:latin typeface="Trebuchet MS" pitchFamily="34" charset="0"/>
                <a:ea typeface="Trebuchet MS" pitchFamily="34" charset="-122"/>
                <a:cs typeface="Trebuchet MS" pitchFamily="34" charset="-120"/>
              </a:rPr>
              <a:t>ON the Loop</a:t>
            </a:r>
            <a:endParaRPr lang="en-US" sz="1500" dirty="0"/>
          </a:p>
        </p:txBody>
      </p:sp>
      <p:sp>
        <p:nvSpPr>
          <p:cNvPr id="14" name="Text 10"/>
          <p:cNvSpPr/>
          <p:nvPr/>
        </p:nvSpPr>
        <p:spPr>
          <a:xfrm>
            <a:off x="3584448" y="2468880"/>
            <a:ext cx="2340864" cy="228600"/>
          </a:xfrm>
          <a:prstGeom prst="rect">
            <a:avLst/>
          </a:prstGeom>
          <a:noFill/>
          <a:ln/>
        </p:spPr>
        <p:txBody>
          <a:bodyPr wrap="square" lIns="0" tIns="0" rIns="0" bIns="0" rtlCol="0" anchor="ctr"/>
          <a:lstStyle/>
          <a:p>
            <a:pPr algn="ctr" indent="0" marL="0">
              <a:buNone/>
            </a:pPr>
            <a:r>
              <a:rPr lang="en-US" sz="1100" b="1" dirty="0">
                <a:solidFill>
                  <a:srgbClr val="F59E0B"/>
                </a:solidFill>
                <a:latin typeface="Calibri" pitchFamily="34" charset="0"/>
                <a:ea typeface="Calibri" pitchFamily="34" charset="-122"/>
                <a:cs typeface="Calibri" pitchFamily="34" charset="-120"/>
              </a:rPr>
              <a:t>Supervisory</a:t>
            </a:r>
            <a:endParaRPr lang="en-US" sz="1100" dirty="0"/>
          </a:p>
        </p:txBody>
      </p:sp>
      <p:sp>
        <p:nvSpPr>
          <p:cNvPr id="15" name="Text 11"/>
          <p:cNvSpPr/>
          <p:nvPr/>
        </p:nvSpPr>
        <p:spPr>
          <a:xfrm>
            <a:off x="3611880" y="2788920"/>
            <a:ext cx="2286000" cy="1371600"/>
          </a:xfrm>
          <a:prstGeom prst="rect">
            <a:avLst/>
          </a:prstGeom>
          <a:noFill/>
          <a:ln/>
        </p:spPr>
        <p:txBody>
          <a:bodyPr wrap="square" lIns="0" tIns="0" rIns="0" bIns="0" rtlCol="0" anchor="ctr"/>
          <a:lstStyle/>
          <a:p>
            <a:pPr algn="ctr" indent="0" marL="0">
              <a:buNone/>
            </a:pPr>
            <a:r>
              <a:rPr lang="en-US" sz="1100" dirty="0">
                <a:solidFill>
                  <a:srgbClr val="E0F2FE"/>
                </a:solidFill>
                <a:latin typeface="Calibri" pitchFamily="34" charset="0"/>
                <a:ea typeface="Calibri" pitchFamily="34" charset="-122"/>
                <a:cs typeface="Calibri" pitchFamily="34" charset="-120"/>
              </a:rPr>
              <a:t>AI proposes solutions. Architect reviews, validates, course-corrects. Approval gates at critical junctions. Design reviews.</a:t>
            </a:r>
            <a:endParaRPr lang="en-US" sz="1100" dirty="0"/>
          </a:p>
        </p:txBody>
      </p:sp>
      <p:sp>
        <p:nvSpPr>
          <p:cNvPr id="16" name="Shape 12"/>
          <p:cNvSpPr/>
          <p:nvPr/>
        </p:nvSpPr>
        <p:spPr>
          <a:xfrm>
            <a:off x="6309360" y="1188720"/>
            <a:ext cx="2560320" cy="3108960"/>
          </a:xfrm>
          <a:prstGeom prst="rect">
            <a:avLst/>
          </a:prstGeom>
          <a:solidFill>
            <a:srgbClr val="1A2744"/>
          </a:solidFill>
          <a:ln/>
          <a:effectLst>
            <a:outerShdw sx="100000" sy="100000" kx="0" ky="0" algn="bl" rotWithShape="0" blurRad="76200" dist="25400" dir="8100000">
              <a:srgbClr val="000000">
                <a:alpha val="12000"/>
              </a:srgbClr>
            </a:outerShdw>
          </a:effectLst>
        </p:spPr>
      </p:sp>
      <p:sp>
        <p:nvSpPr>
          <p:cNvPr id="17" name="Shape 13"/>
          <p:cNvSpPr/>
          <p:nvPr/>
        </p:nvSpPr>
        <p:spPr>
          <a:xfrm>
            <a:off x="6309360" y="1188720"/>
            <a:ext cx="2560320" cy="54864"/>
          </a:xfrm>
          <a:prstGeom prst="rect">
            <a:avLst/>
          </a:prstGeom>
          <a:solidFill>
            <a:srgbClr val="EF4444"/>
          </a:solidFill>
          <a:ln/>
        </p:spPr>
      </p:sp>
      <p:pic>
        <p:nvPicPr>
          <p:cNvPr id="18" name="Image 2" descr="preencoded.png">    </p:cNvPr>
          <p:cNvPicPr>
            <a:picLocks noChangeAspect="1"/>
          </p:cNvPicPr>
          <p:nvPr/>
        </p:nvPicPr>
        <p:blipFill>
          <a:blip r:embed="rId3"/>
          <a:stretch>
            <a:fillRect/>
          </a:stretch>
        </p:blipFill>
        <p:spPr>
          <a:xfrm>
            <a:off x="7269480" y="1463040"/>
            <a:ext cx="548640" cy="548640"/>
          </a:xfrm>
          <a:prstGeom prst="rect">
            <a:avLst/>
          </a:prstGeom>
        </p:spPr>
      </p:pic>
      <p:sp>
        <p:nvSpPr>
          <p:cNvPr id="19" name="Text 14"/>
          <p:cNvSpPr/>
          <p:nvPr/>
        </p:nvSpPr>
        <p:spPr>
          <a:xfrm>
            <a:off x="6419088" y="2148840"/>
            <a:ext cx="2340864" cy="320040"/>
          </a:xfrm>
          <a:prstGeom prst="rect">
            <a:avLst/>
          </a:prstGeom>
          <a:noFill/>
          <a:ln/>
        </p:spPr>
        <p:txBody>
          <a:bodyPr wrap="square" lIns="0" tIns="0" rIns="0" bIns="0" rtlCol="0" anchor="ctr"/>
          <a:lstStyle/>
          <a:p>
            <a:pPr algn="ctr" indent="0" marL="0">
              <a:buNone/>
            </a:pPr>
            <a:r>
              <a:rPr lang="en-US" sz="1500" b="1" dirty="0">
                <a:solidFill>
                  <a:srgbClr val="FFFFFF"/>
                </a:solidFill>
                <a:latin typeface="Trebuchet MS" pitchFamily="34" charset="0"/>
                <a:ea typeface="Trebuchet MS" pitchFamily="34" charset="-122"/>
                <a:cs typeface="Trebuchet MS" pitchFamily="34" charset="-120"/>
              </a:rPr>
              <a:t>OUT of the Loop</a:t>
            </a:r>
            <a:endParaRPr lang="en-US" sz="1500" dirty="0"/>
          </a:p>
        </p:txBody>
      </p:sp>
      <p:sp>
        <p:nvSpPr>
          <p:cNvPr id="20" name="Text 15"/>
          <p:cNvSpPr/>
          <p:nvPr/>
        </p:nvSpPr>
        <p:spPr>
          <a:xfrm>
            <a:off x="6419088" y="2468880"/>
            <a:ext cx="2340864" cy="228600"/>
          </a:xfrm>
          <a:prstGeom prst="rect">
            <a:avLst/>
          </a:prstGeom>
          <a:noFill/>
          <a:ln/>
        </p:spPr>
        <p:txBody>
          <a:bodyPr wrap="square" lIns="0" tIns="0" rIns="0" bIns="0" rtlCol="0" anchor="ctr"/>
          <a:lstStyle/>
          <a:p>
            <a:pPr algn="ctr" indent="0" marL="0">
              <a:buNone/>
            </a:pPr>
            <a:r>
              <a:rPr lang="en-US" sz="1100" b="1" dirty="0">
                <a:solidFill>
                  <a:srgbClr val="EF4444"/>
                </a:solidFill>
                <a:latin typeface="Calibri" pitchFamily="34" charset="0"/>
                <a:ea typeface="Calibri" pitchFamily="34" charset="-122"/>
                <a:cs typeface="Calibri" pitchFamily="34" charset="-120"/>
              </a:rPr>
              <a:t>Autonomous</a:t>
            </a:r>
            <a:endParaRPr lang="en-US" sz="1100" dirty="0"/>
          </a:p>
        </p:txBody>
      </p:sp>
      <p:sp>
        <p:nvSpPr>
          <p:cNvPr id="21" name="Text 16"/>
          <p:cNvSpPr/>
          <p:nvPr/>
        </p:nvSpPr>
        <p:spPr>
          <a:xfrm>
            <a:off x="6446520" y="2788920"/>
            <a:ext cx="2286000" cy="1371600"/>
          </a:xfrm>
          <a:prstGeom prst="rect">
            <a:avLst/>
          </a:prstGeom>
          <a:noFill/>
          <a:ln/>
        </p:spPr>
        <p:txBody>
          <a:bodyPr wrap="square" lIns="0" tIns="0" rIns="0" bIns="0" rtlCol="0" anchor="ctr"/>
          <a:lstStyle/>
          <a:p>
            <a:pPr algn="ctr" indent="0" marL="0">
              <a:buNone/>
            </a:pPr>
            <a:r>
              <a:rPr lang="en-US" sz="1100" dirty="0">
                <a:solidFill>
                  <a:srgbClr val="E0F2FE"/>
                </a:solidFill>
                <a:latin typeface="Calibri" pitchFamily="34" charset="0"/>
                <a:ea typeface="Calibri" pitchFamily="34" charset="-122"/>
                <a:cs typeface="Calibri" pitchFamily="34" charset="-120"/>
              </a:rPr>
              <a:t>AI operates within guardrails the architect designed. Focus shifts entirely to governance, audit, and alignment.</a:t>
            </a:r>
            <a:endParaRPr lang="en-US" sz="1100" dirty="0"/>
          </a:p>
        </p:txBody>
      </p:sp>
      <p:sp>
        <p:nvSpPr>
          <p:cNvPr id="22" name="Text 17"/>
          <p:cNvSpPr/>
          <p:nvPr/>
        </p:nvSpPr>
        <p:spPr>
          <a:xfrm>
            <a:off x="8229600" y="4800600"/>
            <a:ext cx="73152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9 / 20</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640080" y="228600"/>
            <a:ext cx="7863840" cy="548640"/>
          </a:xfrm>
          <a:prstGeom prst="rect">
            <a:avLst/>
          </a:prstGeom>
          <a:noFill/>
          <a:ln/>
        </p:spPr>
        <p:txBody>
          <a:bodyPr wrap="square" lIns="0" tIns="0" rIns="0" bIns="0" rtlCol="0" anchor="ctr"/>
          <a:lstStyle/>
          <a:p>
            <a:pPr indent="0" marL="0">
              <a:buNone/>
            </a:pPr>
            <a:r>
              <a:rPr lang="en-US" sz="3000" b="1" dirty="0">
                <a:solidFill>
                  <a:srgbClr val="0A1628"/>
                </a:solidFill>
                <a:latin typeface="Trebuchet MS" pitchFamily="34" charset="0"/>
                <a:ea typeface="Trebuchet MS" pitchFamily="34" charset="-122"/>
                <a:cs typeface="Trebuchet MS" pitchFamily="34" charset="-120"/>
              </a:rPr>
              <a:t>DEs &amp; Application Architects — Our Edge</a:t>
            </a:r>
            <a:endParaRPr lang="en-US" sz="3000" dirty="0"/>
          </a:p>
        </p:txBody>
      </p:sp>
      <p:sp>
        <p:nvSpPr>
          <p:cNvPr id="3" name="Text 1"/>
          <p:cNvSpPr/>
          <p:nvPr/>
        </p:nvSpPr>
        <p:spPr>
          <a:xfrm>
            <a:off x="640080" y="777240"/>
            <a:ext cx="6400800" cy="32004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How Capital One's IC leadership evolves in the AI era</a:t>
            </a:r>
            <a:endParaRPr lang="en-US" sz="1300" dirty="0"/>
          </a:p>
        </p:txBody>
      </p:sp>
      <p:sp>
        <p:nvSpPr>
          <p:cNvPr id="4" name="Shape 2"/>
          <p:cNvSpPr/>
          <p:nvPr/>
        </p:nvSpPr>
        <p:spPr>
          <a:xfrm>
            <a:off x="457200" y="1097280"/>
            <a:ext cx="2651760" cy="3566160"/>
          </a:xfrm>
          <a:prstGeom prst="rect">
            <a:avLst/>
          </a:prstGeom>
          <a:solidFill>
            <a:srgbClr val="FFFFFF"/>
          </a:solidFill>
          <a:ln/>
          <a:effectLst>
            <a:outerShdw sx="100000" sy="100000" kx="0" ky="0" algn="bl" rotWithShape="0" blurRad="76200" dist="25400" dir="8100000">
              <a:srgbClr val="000000">
                <a:alpha val="12000"/>
              </a:srgbClr>
            </a:outerShdw>
          </a:effectLst>
        </p:spPr>
      </p:sp>
      <p:pic>
        <p:nvPicPr>
          <p:cNvPr id="5" name="Image 0" descr="preencoded.png">    </p:cNvPr>
          <p:cNvPicPr>
            <a:picLocks noChangeAspect="1"/>
          </p:cNvPicPr>
          <p:nvPr/>
        </p:nvPicPr>
        <p:blipFill>
          <a:blip r:embed="rId1"/>
          <a:stretch>
            <a:fillRect/>
          </a:stretch>
        </p:blipFill>
        <p:spPr>
          <a:xfrm>
            <a:off x="1508760" y="1280160"/>
            <a:ext cx="457200" cy="457200"/>
          </a:xfrm>
          <a:prstGeom prst="rect">
            <a:avLst/>
          </a:prstGeom>
        </p:spPr>
      </p:pic>
      <p:sp>
        <p:nvSpPr>
          <p:cNvPr id="6" name="Text 3"/>
          <p:cNvSpPr/>
          <p:nvPr/>
        </p:nvSpPr>
        <p:spPr>
          <a:xfrm>
            <a:off x="594360" y="1828800"/>
            <a:ext cx="2377440" cy="320040"/>
          </a:xfrm>
          <a:prstGeom prst="rect">
            <a:avLst/>
          </a:prstGeom>
          <a:noFill/>
          <a:ln/>
        </p:spPr>
        <p:txBody>
          <a:bodyPr wrap="square" lIns="0" tIns="0" rIns="0" bIns="0" rtlCol="0" anchor="ctr"/>
          <a:lstStyle/>
          <a:p>
            <a:pPr algn="ctr" indent="0" marL="0">
              <a:buNone/>
            </a:pPr>
            <a:r>
              <a:rPr lang="en-US" sz="1400" b="1" dirty="0">
                <a:solidFill>
                  <a:srgbClr val="0A1628"/>
                </a:solidFill>
                <a:latin typeface="Trebuchet MS" pitchFamily="34" charset="0"/>
                <a:ea typeface="Trebuchet MS" pitchFamily="34" charset="-122"/>
                <a:cs typeface="Trebuchet MS" pitchFamily="34" charset="-120"/>
              </a:rPr>
              <a:t>Subject Matter Experts</a:t>
            </a:r>
            <a:endParaRPr lang="en-US" sz="1400" dirty="0"/>
          </a:p>
        </p:txBody>
      </p:sp>
      <p:sp>
        <p:nvSpPr>
          <p:cNvPr id="7" name="Text 4"/>
          <p:cNvSpPr/>
          <p:nvPr/>
        </p:nvSpPr>
        <p:spPr>
          <a:xfrm>
            <a:off x="594360" y="2194560"/>
            <a:ext cx="2377440" cy="91440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Brought in to solve specific, complex technical problems. Own a technical solution or platform. Write a LOT of code.</a:t>
            </a:r>
            <a:endParaRPr lang="en-US" sz="1100" dirty="0"/>
          </a:p>
        </p:txBody>
      </p:sp>
      <p:sp>
        <p:nvSpPr>
          <p:cNvPr id="8" name="Shape 5"/>
          <p:cNvSpPr/>
          <p:nvPr/>
        </p:nvSpPr>
        <p:spPr>
          <a:xfrm>
            <a:off x="731520" y="3154680"/>
            <a:ext cx="2103120" cy="0"/>
          </a:xfrm>
          <a:prstGeom prst="line">
            <a:avLst/>
          </a:prstGeom>
          <a:noFill/>
          <a:ln w="12700">
            <a:solidFill>
              <a:srgbClr val="0891B2"/>
            </a:solidFill>
            <a:prstDash val="solid"/>
          </a:ln>
        </p:spPr>
      </p:sp>
      <p:sp>
        <p:nvSpPr>
          <p:cNvPr id="9" name="Text 6"/>
          <p:cNvSpPr/>
          <p:nvPr/>
        </p:nvSpPr>
        <p:spPr>
          <a:xfrm>
            <a:off x="594360" y="3246120"/>
            <a:ext cx="2377440" cy="228600"/>
          </a:xfrm>
          <a:prstGeom prst="rect">
            <a:avLst/>
          </a:prstGeom>
          <a:noFill/>
          <a:ln/>
        </p:spPr>
        <p:txBody>
          <a:bodyPr wrap="square" lIns="0" tIns="0" rIns="0" bIns="0" rtlCol="0" anchor="ctr"/>
          <a:lstStyle/>
          <a:p>
            <a:pPr indent="0" marL="0">
              <a:buNone/>
            </a:pPr>
            <a:r>
              <a:rPr lang="en-US" sz="1000" b="1" dirty="0">
                <a:solidFill>
                  <a:srgbClr val="0891B2"/>
                </a:solidFill>
                <a:latin typeface="Calibri" pitchFamily="34" charset="0"/>
                <a:ea typeface="Calibri" pitchFamily="34" charset="-122"/>
                <a:cs typeface="Calibri" pitchFamily="34" charset="-120"/>
              </a:rPr>
              <a:t>AI-Era Addition:</a:t>
            </a:r>
            <a:endParaRPr lang="en-US" sz="1000" dirty="0"/>
          </a:p>
        </p:txBody>
      </p:sp>
      <p:sp>
        <p:nvSpPr>
          <p:cNvPr id="10" name="Text 7"/>
          <p:cNvSpPr/>
          <p:nvPr/>
        </p:nvSpPr>
        <p:spPr>
          <a:xfrm>
            <a:off x="594360" y="3474720"/>
            <a:ext cx="2377440" cy="1005840"/>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Now also: AI model evaluation, prompt engineering patterns, agentic workflow design</a:t>
            </a:r>
            <a:endParaRPr lang="en-US" sz="1050" dirty="0"/>
          </a:p>
        </p:txBody>
      </p:sp>
      <p:sp>
        <p:nvSpPr>
          <p:cNvPr id="11" name="Shape 8"/>
          <p:cNvSpPr/>
          <p:nvPr/>
        </p:nvSpPr>
        <p:spPr>
          <a:xfrm>
            <a:off x="3383280" y="1097280"/>
            <a:ext cx="2651760" cy="3566160"/>
          </a:xfrm>
          <a:prstGeom prst="rect">
            <a:avLst/>
          </a:prstGeom>
          <a:solidFill>
            <a:srgbClr val="FFFFFF"/>
          </a:solidFill>
          <a:ln/>
          <a:effectLst>
            <a:outerShdw sx="100000" sy="100000" kx="0" ky="0" algn="bl" rotWithShape="0" blurRad="76200" dist="25400" dir="8100000">
              <a:srgbClr val="000000">
                <a:alpha val="12000"/>
              </a:srgbClr>
            </a:outerShdw>
          </a:effectLst>
        </p:spPr>
      </p:sp>
      <p:pic>
        <p:nvPicPr>
          <p:cNvPr id="12" name="Image 1" descr="preencoded.png">    </p:cNvPr>
          <p:cNvPicPr>
            <a:picLocks noChangeAspect="1"/>
          </p:cNvPicPr>
          <p:nvPr/>
        </p:nvPicPr>
        <p:blipFill>
          <a:blip r:embed="rId2"/>
          <a:stretch>
            <a:fillRect/>
          </a:stretch>
        </p:blipFill>
        <p:spPr>
          <a:xfrm>
            <a:off x="4434840" y="1280160"/>
            <a:ext cx="457200" cy="457200"/>
          </a:xfrm>
          <a:prstGeom prst="rect">
            <a:avLst/>
          </a:prstGeom>
        </p:spPr>
      </p:pic>
      <p:sp>
        <p:nvSpPr>
          <p:cNvPr id="13" name="Text 9"/>
          <p:cNvSpPr/>
          <p:nvPr/>
        </p:nvSpPr>
        <p:spPr>
          <a:xfrm>
            <a:off x="3520440" y="1828800"/>
            <a:ext cx="2377440" cy="320040"/>
          </a:xfrm>
          <a:prstGeom prst="rect">
            <a:avLst/>
          </a:prstGeom>
          <a:noFill/>
          <a:ln/>
        </p:spPr>
        <p:txBody>
          <a:bodyPr wrap="square" lIns="0" tIns="0" rIns="0" bIns="0" rtlCol="0" anchor="ctr"/>
          <a:lstStyle/>
          <a:p>
            <a:pPr algn="ctr" indent="0" marL="0">
              <a:buNone/>
            </a:pPr>
            <a:r>
              <a:rPr lang="en-US" sz="1400" b="1" dirty="0">
                <a:solidFill>
                  <a:srgbClr val="0A1628"/>
                </a:solidFill>
                <a:latin typeface="Trebuchet MS" pitchFamily="34" charset="0"/>
                <a:ea typeface="Trebuchet MS" pitchFamily="34" charset="-122"/>
                <a:cs typeface="Trebuchet MS" pitchFamily="34" charset="-120"/>
              </a:rPr>
              <a:t>Architects</a:t>
            </a:r>
            <a:endParaRPr lang="en-US" sz="1400" dirty="0"/>
          </a:p>
        </p:txBody>
      </p:sp>
      <p:sp>
        <p:nvSpPr>
          <p:cNvPr id="14" name="Text 10"/>
          <p:cNvSpPr/>
          <p:nvPr/>
        </p:nvSpPr>
        <p:spPr>
          <a:xfrm>
            <a:off x="3520440" y="2194560"/>
            <a:ext cx="2377440" cy="91440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See the big picture. Design system interactions. Define enterprise patterns and standards.</a:t>
            </a:r>
            <a:endParaRPr lang="en-US" sz="1100" dirty="0"/>
          </a:p>
        </p:txBody>
      </p:sp>
      <p:sp>
        <p:nvSpPr>
          <p:cNvPr id="15" name="Shape 11"/>
          <p:cNvSpPr/>
          <p:nvPr/>
        </p:nvSpPr>
        <p:spPr>
          <a:xfrm>
            <a:off x="3657600" y="3154680"/>
            <a:ext cx="2103120" cy="0"/>
          </a:xfrm>
          <a:prstGeom prst="line">
            <a:avLst/>
          </a:prstGeom>
          <a:noFill/>
          <a:ln w="12700">
            <a:solidFill>
              <a:srgbClr val="0891B2"/>
            </a:solidFill>
            <a:prstDash val="solid"/>
          </a:ln>
        </p:spPr>
      </p:sp>
      <p:sp>
        <p:nvSpPr>
          <p:cNvPr id="16" name="Text 12"/>
          <p:cNvSpPr/>
          <p:nvPr/>
        </p:nvSpPr>
        <p:spPr>
          <a:xfrm>
            <a:off x="3520440" y="3246120"/>
            <a:ext cx="2377440" cy="228600"/>
          </a:xfrm>
          <a:prstGeom prst="rect">
            <a:avLst/>
          </a:prstGeom>
          <a:noFill/>
          <a:ln/>
        </p:spPr>
        <p:txBody>
          <a:bodyPr wrap="square" lIns="0" tIns="0" rIns="0" bIns="0" rtlCol="0" anchor="ctr"/>
          <a:lstStyle/>
          <a:p>
            <a:pPr indent="0" marL="0">
              <a:buNone/>
            </a:pPr>
            <a:r>
              <a:rPr lang="en-US" sz="1000" b="1" dirty="0">
                <a:solidFill>
                  <a:srgbClr val="0891B2"/>
                </a:solidFill>
                <a:latin typeface="Calibri" pitchFamily="34" charset="0"/>
                <a:ea typeface="Calibri" pitchFamily="34" charset="-122"/>
                <a:cs typeface="Calibri" pitchFamily="34" charset="-120"/>
              </a:rPr>
              <a:t>AI-Era Addition:</a:t>
            </a:r>
            <a:endParaRPr lang="en-US" sz="1000" dirty="0"/>
          </a:p>
        </p:txBody>
      </p:sp>
      <p:sp>
        <p:nvSpPr>
          <p:cNvPr id="17" name="Text 13"/>
          <p:cNvSpPr/>
          <p:nvPr/>
        </p:nvSpPr>
        <p:spPr>
          <a:xfrm>
            <a:off x="3520440" y="3474720"/>
            <a:ext cx="2377440" cy="1005840"/>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Now also: Agent coordination, governance structures, AI autonomy boundaries, data architecture for RAG</a:t>
            </a:r>
            <a:endParaRPr lang="en-US" sz="1050" dirty="0"/>
          </a:p>
        </p:txBody>
      </p:sp>
      <p:sp>
        <p:nvSpPr>
          <p:cNvPr id="18" name="Shape 14"/>
          <p:cNvSpPr/>
          <p:nvPr/>
        </p:nvSpPr>
        <p:spPr>
          <a:xfrm>
            <a:off x="6309360" y="1097280"/>
            <a:ext cx="2651760" cy="3566160"/>
          </a:xfrm>
          <a:prstGeom prst="rect">
            <a:avLst/>
          </a:prstGeom>
          <a:solidFill>
            <a:srgbClr val="FFFFFF"/>
          </a:solidFill>
          <a:ln/>
          <a:effectLst>
            <a:outerShdw sx="100000" sy="100000" kx="0" ky="0" algn="bl" rotWithShape="0" blurRad="76200" dist="25400" dir="8100000">
              <a:srgbClr val="000000">
                <a:alpha val="12000"/>
              </a:srgbClr>
            </a:outerShdw>
          </a:effectLst>
        </p:spPr>
      </p:sp>
      <p:pic>
        <p:nvPicPr>
          <p:cNvPr id="19" name="Image 2" descr="preencoded.png">    </p:cNvPr>
          <p:cNvPicPr>
            <a:picLocks noChangeAspect="1"/>
          </p:cNvPicPr>
          <p:nvPr/>
        </p:nvPicPr>
        <p:blipFill>
          <a:blip r:embed="rId3"/>
          <a:stretch>
            <a:fillRect/>
          </a:stretch>
        </p:blipFill>
        <p:spPr>
          <a:xfrm>
            <a:off x="7360920" y="1280160"/>
            <a:ext cx="457200" cy="457200"/>
          </a:xfrm>
          <a:prstGeom prst="rect">
            <a:avLst/>
          </a:prstGeom>
        </p:spPr>
      </p:pic>
      <p:sp>
        <p:nvSpPr>
          <p:cNvPr id="20" name="Text 15"/>
          <p:cNvSpPr/>
          <p:nvPr/>
        </p:nvSpPr>
        <p:spPr>
          <a:xfrm>
            <a:off x="6446520" y="1828800"/>
            <a:ext cx="2377440" cy="320040"/>
          </a:xfrm>
          <a:prstGeom prst="rect">
            <a:avLst/>
          </a:prstGeom>
          <a:noFill/>
          <a:ln/>
        </p:spPr>
        <p:txBody>
          <a:bodyPr wrap="square" lIns="0" tIns="0" rIns="0" bIns="0" rtlCol="0" anchor="ctr"/>
          <a:lstStyle/>
          <a:p>
            <a:pPr algn="ctr" indent="0" marL="0">
              <a:buNone/>
            </a:pPr>
            <a:r>
              <a:rPr lang="en-US" sz="1400" b="1" dirty="0">
                <a:solidFill>
                  <a:srgbClr val="0A1628"/>
                </a:solidFill>
                <a:latin typeface="Trebuchet MS" pitchFamily="34" charset="0"/>
                <a:ea typeface="Trebuchet MS" pitchFamily="34" charset="-122"/>
                <a:cs typeface="Trebuchet MS" pitchFamily="34" charset="-120"/>
              </a:rPr>
              <a:t>Developers / Creators</a:t>
            </a:r>
            <a:endParaRPr lang="en-US" sz="1400" dirty="0"/>
          </a:p>
        </p:txBody>
      </p:sp>
      <p:sp>
        <p:nvSpPr>
          <p:cNvPr id="21" name="Text 16"/>
          <p:cNvSpPr/>
          <p:nvPr/>
        </p:nvSpPr>
        <p:spPr>
          <a:xfrm>
            <a:off x="6446520" y="2194560"/>
            <a:ext cx="2377440" cy="91440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Build and ship. Hands-on technical delivery. Innovate at the implementation level.</a:t>
            </a:r>
            <a:endParaRPr lang="en-US" sz="1100" dirty="0"/>
          </a:p>
        </p:txBody>
      </p:sp>
      <p:sp>
        <p:nvSpPr>
          <p:cNvPr id="22" name="Shape 17"/>
          <p:cNvSpPr/>
          <p:nvPr/>
        </p:nvSpPr>
        <p:spPr>
          <a:xfrm>
            <a:off x="6583680" y="3154680"/>
            <a:ext cx="2103120" cy="0"/>
          </a:xfrm>
          <a:prstGeom prst="line">
            <a:avLst/>
          </a:prstGeom>
          <a:noFill/>
          <a:ln w="12700">
            <a:solidFill>
              <a:srgbClr val="0891B2"/>
            </a:solidFill>
            <a:prstDash val="solid"/>
          </a:ln>
        </p:spPr>
      </p:sp>
      <p:sp>
        <p:nvSpPr>
          <p:cNvPr id="23" name="Text 18"/>
          <p:cNvSpPr/>
          <p:nvPr/>
        </p:nvSpPr>
        <p:spPr>
          <a:xfrm>
            <a:off x="6446520" y="3246120"/>
            <a:ext cx="2377440" cy="228600"/>
          </a:xfrm>
          <a:prstGeom prst="rect">
            <a:avLst/>
          </a:prstGeom>
          <a:noFill/>
          <a:ln/>
        </p:spPr>
        <p:txBody>
          <a:bodyPr wrap="square" lIns="0" tIns="0" rIns="0" bIns="0" rtlCol="0" anchor="ctr"/>
          <a:lstStyle/>
          <a:p>
            <a:pPr indent="0" marL="0">
              <a:buNone/>
            </a:pPr>
            <a:r>
              <a:rPr lang="en-US" sz="1000" b="1" dirty="0">
                <a:solidFill>
                  <a:srgbClr val="0891B2"/>
                </a:solidFill>
                <a:latin typeface="Calibri" pitchFamily="34" charset="0"/>
                <a:ea typeface="Calibri" pitchFamily="34" charset="-122"/>
                <a:cs typeface="Calibri" pitchFamily="34" charset="-120"/>
              </a:rPr>
              <a:t>AI-Era Addition:</a:t>
            </a:r>
            <a:endParaRPr lang="en-US" sz="1000" dirty="0"/>
          </a:p>
        </p:txBody>
      </p:sp>
      <p:sp>
        <p:nvSpPr>
          <p:cNvPr id="24" name="Text 19"/>
          <p:cNvSpPr/>
          <p:nvPr/>
        </p:nvSpPr>
        <p:spPr>
          <a:xfrm>
            <a:off x="6446520" y="3474720"/>
            <a:ext cx="2377440" cy="1005840"/>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Now also: AI-augmented development, evaluating AI-generated code, maintaining systems with 'epistemic debt'</a:t>
            </a:r>
            <a:endParaRPr lang="en-US" sz="1050" dirty="0"/>
          </a:p>
        </p:txBody>
      </p:sp>
      <p:sp>
        <p:nvSpPr>
          <p:cNvPr id="25" name="Text 20"/>
          <p:cNvSpPr/>
          <p:nvPr/>
        </p:nvSpPr>
        <p:spPr>
          <a:xfrm>
            <a:off x="8229600" y="4800600"/>
            <a:ext cx="73152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10 / 20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640080" y="228600"/>
            <a:ext cx="7863840" cy="548640"/>
          </a:xfrm>
          <a:prstGeom prst="rect">
            <a:avLst/>
          </a:prstGeom>
          <a:noFill/>
          <a:ln/>
        </p:spPr>
        <p:txBody>
          <a:bodyPr wrap="square" lIns="0" tIns="0" rIns="0" bIns="0" rtlCol="0" anchor="ctr"/>
          <a:lstStyle/>
          <a:p>
            <a:pPr indent="0" marL="0">
              <a:buNone/>
            </a:pPr>
            <a:r>
              <a:rPr lang="en-US" sz="3000" b="1" dirty="0">
                <a:solidFill>
                  <a:srgbClr val="FFFFFF"/>
                </a:solidFill>
                <a:latin typeface="Trebuchet MS" pitchFamily="34" charset="0"/>
                <a:ea typeface="Trebuchet MS" pitchFamily="34" charset="-122"/>
                <a:cs typeface="Trebuchet MS" pitchFamily="34" charset="-120"/>
              </a:rPr>
              <a:t>ADRs in the AI Era</a:t>
            </a:r>
            <a:endParaRPr lang="en-US" sz="3000" dirty="0"/>
          </a:p>
        </p:txBody>
      </p:sp>
      <p:sp>
        <p:nvSpPr>
          <p:cNvPr id="3" name="Text 1"/>
          <p:cNvSpPr/>
          <p:nvPr/>
        </p:nvSpPr>
        <p:spPr>
          <a:xfrm>
            <a:off x="640080" y="777240"/>
            <a:ext cx="6400800" cy="320040"/>
          </a:xfrm>
          <a:prstGeom prst="rect">
            <a:avLst/>
          </a:prstGeom>
          <a:noFill/>
          <a:ln/>
        </p:spPr>
        <p:txBody>
          <a:bodyPr wrap="square" lIns="0" tIns="0" rIns="0" bIns="0" rtlCol="0" anchor="ctr"/>
          <a:lstStyle/>
          <a:p>
            <a:pPr indent="0" marL="0">
              <a:buNone/>
            </a:pPr>
            <a:r>
              <a:rPr lang="en-US" sz="1300" i="1" dirty="0">
                <a:solidFill>
                  <a:srgbClr val="22D3EE"/>
                </a:solidFill>
                <a:latin typeface="Calibri" pitchFamily="34" charset="0"/>
                <a:ea typeface="Calibri" pitchFamily="34" charset="-122"/>
                <a:cs typeface="Calibri" pitchFamily="34" charset="-120"/>
              </a:rPr>
              <a:t>Architecture Decision Records — more critical, not less</a:t>
            </a:r>
            <a:endParaRPr lang="en-US" sz="1300" dirty="0"/>
          </a:p>
        </p:txBody>
      </p:sp>
      <p:sp>
        <p:nvSpPr>
          <p:cNvPr id="4" name="Shape 2"/>
          <p:cNvSpPr/>
          <p:nvPr/>
        </p:nvSpPr>
        <p:spPr>
          <a:xfrm>
            <a:off x="457200" y="1097280"/>
            <a:ext cx="3931920" cy="1645920"/>
          </a:xfrm>
          <a:prstGeom prst="rect">
            <a:avLst/>
          </a:prstGeom>
          <a:solidFill>
            <a:srgbClr val="1A2744"/>
          </a:solidFill>
          <a:ln/>
          <a:effectLst>
            <a:outerShdw sx="100000" sy="100000" kx="0" ky="0" algn="bl" rotWithShape="0" blurRad="76200" dist="25400" dir="8100000">
              <a:srgbClr val="000000">
                <a:alpha val="12000"/>
              </a:srgbClr>
            </a:outerShdw>
          </a:effectLst>
        </p:spPr>
      </p:sp>
      <p:pic>
        <p:nvPicPr>
          <p:cNvPr id="5" name="Image 0" descr="preencoded.png">    </p:cNvPr>
          <p:cNvPicPr>
            <a:picLocks noChangeAspect="1"/>
          </p:cNvPicPr>
          <p:nvPr/>
        </p:nvPicPr>
        <p:blipFill>
          <a:blip r:embed="rId1"/>
          <a:stretch>
            <a:fillRect/>
          </a:stretch>
        </p:blipFill>
        <p:spPr>
          <a:xfrm>
            <a:off x="640080" y="1234440"/>
            <a:ext cx="274320" cy="274320"/>
          </a:xfrm>
          <a:prstGeom prst="rect">
            <a:avLst/>
          </a:prstGeom>
        </p:spPr>
      </p:pic>
      <p:sp>
        <p:nvSpPr>
          <p:cNvPr id="6" name="Text 3"/>
          <p:cNvSpPr/>
          <p:nvPr/>
        </p:nvSpPr>
        <p:spPr>
          <a:xfrm>
            <a:off x="1005840" y="1188720"/>
            <a:ext cx="2743200" cy="320040"/>
          </a:xfrm>
          <a:prstGeom prst="rect">
            <a:avLst/>
          </a:prstGeom>
          <a:noFill/>
          <a:ln/>
        </p:spPr>
        <p:txBody>
          <a:bodyPr wrap="square" lIns="0" tIns="0" rIns="0" bIns="0" rtlCol="0" anchor="ctr"/>
          <a:lstStyle/>
          <a:p>
            <a:pPr indent="0" marL="0">
              <a:buNone/>
            </a:pPr>
            <a:r>
              <a:rPr lang="en-US" sz="1500" b="1" dirty="0">
                <a:solidFill>
                  <a:srgbClr val="10B981"/>
                </a:solidFill>
                <a:latin typeface="Trebuchet MS" pitchFamily="34" charset="0"/>
                <a:ea typeface="Trebuchet MS" pitchFamily="34" charset="-122"/>
                <a:cs typeface="Trebuchet MS" pitchFamily="34" charset="-120"/>
              </a:rPr>
              <a:t>What stays</a:t>
            </a:r>
            <a:endParaRPr lang="en-US" sz="1500" dirty="0"/>
          </a:p>
        </p:txBody>
      </p:sp>
      <p:sp>
        <p:nvSpPr>
          <p:cNvPr id="7" name="Text 4"/>
          <p:cNvSpPr/>
          <p:nvPr/>
        </p:nvSpPr>
        <p:spPr>
          <a:xfrm>
            <a:off x="640080" y="1600200"/>
            <a:ext cx="3474720" cy="1005840"/>
          </a:xfrm>
          <a:prstGeom prst="rect">
            <a:avLst/>
          </a:prstGeom>
          <a:noFill/>
          <a:ln/>
        </p:spPr>
        <p:txBody>
          <a:bodyPr wrap="square" rtlCol="0" anchor="ctr"/>
          <a:lstStyle/>
          <a:p>
            <a:pPr marL="342900" indent="-342900">
              <a:spcAft>
                <a:spcPts val="300"/>
              </a:spcAft>
              <a:buSzPct val="100000"/>
              <a:buChar char="•"/>
            </a:pPr>
            <a:r>
              <a:rPr lang="en-US" sz="1150" dirty="0">
                <a:solidFill>
                  <a:srgbClr val="E0F2FE"/>
                </a:solidFill>
                <a:latin typeface="Calibri" pitchFamily="34" charset="0"/>
                <a:ea typeface="Calibri" pitchFamily="34" charset="-122"/>
                <a:cs typeface="Calibri" pitchFamily="34" charset="-120"/>
              </a:rPr>
              <a:t>Context → Decision → Consequences format</a:t>
            </a:r>
            <a:endParaRPr lang="en-US" sz="1150" dirty="0"/>
          </a:p>
          <a:p>
            <a:pPr marL="342900" indent="-342900">
              <a:spcAft>
                <a:spcPts val="300"/>
              </a:spcAft>
              <a:buSzPct val="100000"/>
              <a:buChar char="•"/>
            </a:pPr>
            <a:r>
              <a:rPr lang="en-US" sz="1150" dirty="0">
                <a:solidFill>
                  <a:srgbClr val="E0F2FE"/>
                </a:solidFill>
                <a:latin typeface="Calibri" pitchFamily="34" charset="0"/>
                <a:ea typeface="Calibri" pitchFamily="34" charset="-122"/>
                <a:cs typeface="Calibri" pitchFamily="34" charset="-120"/>
              </a:rPr>
              <a:t>Capturing WHY, not just WHAT</a:t>
            </a:r>
            <a:endParaRPr lang="en-US" sz="1150" dirty="0"/>
          </a:p>
          <a:p>
            <a:pPr marL="342900" indent="-342900">
              <a:spcAft>
                <a:spcPts val="300"/>
              </a:spcAft>
              <a:buSzPct val="100000"/>
              <a:buChar char="•"/>
            </a:pPr>
            <a:r>
              <a:rPr lang="en-US" sz="1150" dirty="0">
                <a:solidFill>
                  <a:srgbClr val="E0F2FE"/>
                </a:solidFill>
                <a:latin typeface="Calibri" pitchFamily="34" charset="0"/>
                <a:ea typeface="Calibri" pitchFamily="34" charset="-122"/>
                <a:cs typeface="Calibri" pitchFamily="34" charset="-120"/>
              </a:rPr>
              <a:t>Immutable record of architectural intent</a:t>
            </a:r>
            <a:endParaRPr lang="en-US" sz="1150" dirty="0"/>
          </a:p>
        </p:txBody>
      </p:sp>
      <p:sp>
        <p:nvSpPr>
          <p:cNvPr id="8" name="Shape 5"/>
          <p:cNvSpPr/>
          <p:nvPr/>
        </p:nvSpPr>
        <p:spPr>
          <a:xfrm>
            <a:off x="4754880" y="1097280"/>
            <a:ext cx="3931920" cy="1645920"/>
          </a:xfrm>
          <a:prstGeom prst="rect">
            <a:avLst/>
          </a:prstGeom>
          <a:solidFill>
            <a:srgbClr val="1A2744"/>
          </a:solidFill>
          <a:ln/>
          <a:effectLst>
            <a:outerShdw sx="100000" sy="100000" kx="0" ky="0" algn="bl" rotWithShape="0" blurRad="76200" dist="25400" dir="8100000">
              <a:srgbClr val="000000">
                <a:alpha val="12000"/>
              </a:srgbClr>
            </a:outerShdw>
          </a:effectLst>
        </p:spPr>
      </p:sp>
      <p:pic>
        <p:nvPicPr>
          <p:cNvPr id="9" name="Image 1" descr="preencoded.png">    </p:cNvPr>
          <p:cNvPicPr>
            <a:picLocks noChangeAspect="1"/>
          </p:cNvPicPr>
          <p:nvPr/>
        </p:nvPicPr>
        <p:blipFill>
          <a:blip r:embed="rId2"/>
          <a:stretch>
            <a:fillRect/>
          </a:stretch>
        </p:blipFill>
        <p:spPr>
          <a:xfrm>
            <a:off x="4937760" y="1234440"/>
            <a:ext cx="274320" cy="274320"/>
          </a:xfrm>
          <a:prstGeom prst="rect">
            <a:avLst/>
          </a:prstGeom>
        </p:spPr>
      </p:pic>
      <p:sp>
        <p:nvSpPr>
          <p:cNvPr id="10" name="Text 6"/>
          <p:cNvSpPr/>
          <p:nvPr/>
        </p:nvSpPr>
        <p:spPr>
          <a:xfrm>
            <a:off x="5303520" y="1188720"/>
            <a:ext cx="2743200" cy="320040"/>
          </a:xfrm>
          <a:prstGeom prst="rect">
            <a:avLst/>
          </a:prstGeom>
          <a:noFill/>
          <a:ln/>
        </p:spPr>
        <p:txBody>
          <a:bodyPr wrap="square" lIns="0" tIns="0" rIns="0" bIns="0" rtlCol="0" anchor="ctr"/>
          <a:lstStyle/>
          <a:p>
            <a:pPr indent="0" marL="0">
              <a:buNone/>
            </a:pPr>
            <a:r>
              <a:rPr lang="en-US" sz="1500" b="1" dirty="0">
                <a:solidFill>
                  <a:srgbClr val="22D3EE"/>
                </a:solidFill>
                <a:latin typeface="Trebuchet MS" pitchFamily="34" charset="0"/>
                <a:ea typeface="Trebuchet MS" pitchFamily="34" charset="-122"/>
                <a:cs typeface="Trebuchet MS" pitchFamily="34" charset="-120"/>
              </a:rPr>
              <a:t>What changes</a:t>
            </a:r>
            <a:endParaRPr lang="en-US" sz="1500" dirty="0"/>
          </a:p>
        </p:txBody>
      </p:sp>
      <p:sp>
        <p:nvSpPr>
          <p:cNvPr id="11" name="Text 7"/>
          <p:cNvSpPr/>
          <p:nvPr/>
        </p:nvSpPr>
        <p:spPr>
          <a:xfrm>
            <a:off x="4937760" y="1600200"/>
            <a:ext cx="3474720" cy="1005840"/>
          </a:xfrm>
          <a:prstGeom prst="rect">
            <a:avLst/>
          </a:prstGeom>
          <a:noFill/>
          <a:ln/>
        </p:spPr>
        <p:txBody>
          <a:bodyPr wrap="square" rtlCol="0" anchor="ctr"/>
          <a:lstStyle/>
          <a:p>
            <a:pPr marL="342900" indent="-342900">
              <a:spcAft>
                <a:spcPts val="300"/>
              </a:spcAft>
              <a:buSzPct val="100000"/>
              <a:buChar char="•"/>
            </a:pPr>
            <a:r>
              <a:rPr lang="en-US" sz="1150" dirty="0">
                <a:solidFill>
                  <a:srgbClr val="E0F2FE"/>
                </a:solidFill>
                <a:latin typeface="Calibri" pitchFamily="34" charset="0"/>
                <a:ea typeface="Calibri" pitchFamily="34" charset="-122"/>
                <a:cs typeface="Calibri" pitchFamily="34" charset="-120"/>
              </a:rPr>
              <a:t>New decision types: model selection, prompt strategy, agent boundaries</a:t>
            </a:r>
            <a:endParaRPr lang="en-US" sz="1150" dirty="0"/>
          </a:p>
          <a:p>
            <a:pPr marL="342900" indent="-342900">
              <a:spcAft>
                <a:spcPts val="300"/>
              </a:spcAft>
              <a:buSzPct val="100000"/>
              <a:buChar char="•"/>
            </a:pPr>
            <a:r>
              <a:rPr lang="en-US" sz="1150" dirty="0">
                <a:solidFill>
                  <a:srgbClr val="E0F2FE"/>
                </a:solidFill>
                <a:latin typeface="Calibri" pitchFamily="34" charset="0"/>
                <a:ea typeface="Calibri" pitchFamily="34" charset="-122"/>
                <a:cs typeface="Calibri" pitchFamily="34" charset="-120"/>
              </a:rPr>
              <a:t>Non-determinism documented: expected output variance, confidence thresholds</a:t>
            </a:r>
            <a:endParaRPr lang="en-US" sz="1150" dirty="0"/>
          </a:p>
          <a:p>
            <a:pPr marL="342900" indent="-342900">
              <a:spcAft>
                <a:spcPts val="300"/>
              </a:spcAft>
              <a:buSzPct val="100000"/>
              <a:buChar char="•"/>
            </a:pPr>
            <a:r>
              <a:rPr lang="en-US" sz="1150" dirty="0">
                <a:solidFill>
                  <a:srgbClr val="E0F2FE"/>
                </a:solidFill>
                <a:latin typeface="Calibri" pitchFamily="34" charset="0"/>
                <a:ea typeface="Calibri" pitchFamily="34" charset="-122"/>
                <a:cs typeface="Calibri" pitchFamily="34" charset="-120"/>
              </a:rPr>
              <a:t>AI can DRAFT ADRs — humans APPROVE them</a:t>
            </a:r>
            <a:endParaRPr lang="en-US" sz="1150" dirty="0"/>
          </a:p>
        </p:txBody>
      </p:sp>
      <p:sp>
        <p:nvSpPr>
          <p:cNvPr id="12" name="Text 8"/>
          <p:cNvSpPr/>
          <p:nvPr/>
        </p:nvSpPr>
        <p:spPr>
          <a:xfrm>
            <a:off x="640080" y="3017520"/>
            <a:ext cx="7315200" cy="320040"/>
          </a:xfrm>
          <a:prstGeom prst="rect">
            <a:avLst/>
          </a:prstGeom>
          <a:noFill/>
          <a:ln/>
        </p:spPr>
        <p:txBody>
          <a:bodyPr wrap="square" lIns="0" tIns="0" rIns="0" bIns="0" rtlCol="0" anchor="ctr"/>
          <a:lstStyle/>
          <a:p>
            <a:pPr indent="0" marL="0">
              <a:buNone/>
            </a:pPr>
            <a:r>
              <a:rPr lang="en-US" sz="1600" b="1" dirty="0">
                <a:solidFill>
                  <a:srgbClr val="0A1628"/>
                </a:solidFill>
                <a:latin typeface="Trebuchet MS" pitchFamily="34" charset="0"/>
                <a:ea typeface="Trebuchet MS" pitchFamily="34" charset="-122"/>
                <a:cs typeface="Trebuchet MS" pitchFamily="34" charset="-120"/>
              </a:rPr>
              <a:t>New ADR Sections for AI-Native Systems:</a:t>
            </a:r>
            <a:endParaRPr lang="en-US" sz="1600" dirty="0"/>
          </a:p>
        </p:txBody>
      </p:sp>
      <p:pic>
        <p:nvPicPr>
          <p:cNvPr id="13" name="Image 2" descr="preencoded.png">    </p:cNvPr>
          <p:cNvPicPr>
            <a:picLocks noChangeAspect="1"/>
          </p:cNvPicPr>
          <p:nvPr/>
        </p:nvPicPr>
        <p:blipFill>
          <a:blip r:embed="rId3"/>
          <a:stretch>
            <a:fillRect/>
          </a:stretch>
        </p:blipFill>
        <p:spPr>
          <a:xfrm>
            <a:off x="640080" y="3474720"/>
            <a:ext cx="228600" cy="228600"/>
          </a:xfrm>
          <a:prstGeom prst="rect">
            <a:avLst/>
          </a:prstGeom>
        </p:spPr>
      </p:pic>
      <p:sp>
        <p:nvSpPr>
          <p:cNvPr id="14" name="Text 9"/>
          <p:cNvSpPr/>
          <p:nvPr/>
        </p:nvSpPr>
        <p:spPr>
          <a:xfrm>
            <a:off x="960120" y="3447288"/>
            <a:ext cx="2286000" cy="274320"/>
          </a:xfrm>
          <a:prstGeom prst="rect">
            <a:avLst/>
          </a:prstGeom>
          <a:noFill/>
          <a:ln/>
        </p:spPr>
        <p:txBody>
          <a:bodyPr wrap="square" lIns="0" tIns="0" rIns="0" bIns="0" rtlCol="0" anchor="ctr"/>
          <a:lstStyle/>
          <a:p>
            <a:pPr indent="0" marL="0">
              <a:buNone/>
            </a:pPr>
            <a:r>
              <a:rPr lang="en-US" sz="1150" b="1" dirty="0">
                <a:solidFill>
                  <a:srgbClr val="1E293B"/>
                </a:solidFill>
                <a:latin typeface="Calibri" pitchFamily="34" charset="0"/>
                <a:ea typeface="Calibri" pitchFamily="34" charset="-122"/>
                <a:cs typeface="Calibri" pitchFamily="34" charset="-120"/>
              </a:rPr>
              <a:t>Model Selection Rationale</a:t>
            </a:r>
            <a:endParaRPr lang="en-US" sz="1150" dirty="0"/>
          </a:p>
        </p:txBody>
      </p:sp>
      <p:sp>
        <p:nvSpPr>
          <p:cNvPr id="15" name="Text 10"/>
          <p:cNvSpPr/>
          <p:nvPr/>
        </p:nvSpPr>
        <p:spPr>
          <a:xfrm>
            <a:off x="3291840" y="3447288"/>
            <a:ext cx="5486400" cy="2743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Why this model? What were the trade-offs vs alternatives? Cost/quality/latency analysis.</a:t>
            </a:r>
            <a:endParaRPr lang="en-US" sz="1100" dirty="0"/>
          </a:p>
        </p:txBody>
      </p:sp>
      <p:pic>
        <p:nvPicPr>
          <p:cNvPr id="16" name="Image 3" descr="preencoded.png">    </p:cNvPr>
          <p:cNvPicPr>
            <a:picLocks noChangeAspect="1"/>
          </p:cNvPicPr>
          <p:nvPr/>
        </p:nvPicPr>
        <p:blipFill>
          <a:blip r:embed="rId4"/>
          <a:stretch>
            <a:fillRect/>
          </a:stretch>
        </p:blipFill>
        <p:spPr>
          <a:xfrm>
            <a:off x="640080" y="3886200"/>
            <a:ext cx="228600" cy="228600"/>
          </a:xfrm>
          <a:prstGeom prst="rect">
            <a:avLst/>
          </a:prstGeom>
        </p:spPr>
      </p:pic>
      <p:sp>
        <p:nvSpPr>
          <p:cNvPr id="17" name="Text 11"/>
          <p:cNvSpPr/>
          <p:nvPr/>
        </p:nvSpPr>
        <p:spPr>
          <a:xfrm>
            <a:off x="960120" y="3858768"/>
            <a:ext cx="2286000" cy="274320"/>
          </a:xfrm>
          <a:prstGeom prst="rect">
            <a:avLst/>
          </a:prstGeom>
          <a:noFill/>
          <a:ln/>
        </p:spPr>
        <p:txBody>
          <a:bodyPr wrap="square" lIns="0" tIns="0" rIns="0" bIns="0" rtlCol="0" anchor="ctr"/>
          <a:lstStyle/>
          <a:p>
            <a:pPr indent="0" marL="0">
              <a:buNone/>
            </a:pPr>
            <a:r>
              <a:rPr lang="en-US" sz="1150" b="1" dirty="0">
                <a:solidFill>
                  <a:srgbClr val="1E293B"/>
                </a:solidFill>
                <a:latin typeface="Calibri" pitchFamily="34" charset="0"/>
                <a:ea typeface="Calibri" pitchFamily="34" charset="-122"/>
                <a:cs typeface="Calibri" pitchFamily="34" charset="-120"/>
              </a:rPr>
              <a:t>Autonomy Boundary Definition</a:t>
            </a:r>
            <a:endParaRPr lang="en-US" sz="1150" dirty="0"/>
          </a:p>
        </p:txBody>
      </p:sp>
      <p:sp>
        <p:nvSpPr>
          <p:cNvPr id="18" name="Text 12"/>
          <p:cNvSpPr/>
          <p:nvPr/>
        </p:nvSpPr>
        <p:spPr>
          <a:xfrm>
            <a:off x="3291840" y="3858768"/>
            <a:ext cx="5486400" cy="2743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What can AI do independently? What requires human escalation? What triggers automatic halt?</a:t>
            </a:r>
            <a:endParaRPr lang="en-US" sz="1100" dirty="0"/>
          </a:p>
        </p:txBody>
      </p:sp>
      <p:pic>
        <p:nvPicPr>
          <p:cNvPr id="19" name="Image 4" descr="preencoded.png">    </p:cNvPr>
          <p:cNvPicPr>
            <a:picLocks noChangeAspect="1"/>
          </p:cNvPicPr>
          <p:nvPr/>
        </p:nvPicPr>
        <p:blipFill>
          <a:blip r:embed="rId5"/>
          <a:stretch>
            <a:fillRect/>
          </a:stretch>
        </p:blipFill>
        <p:spPr>
          <a:xfrm>
            <a:off x="640080" y="4297680"/>
            <a:ext cx="228600" cy="228600"/>
          </a:xfrm>
          <a:prstGeom prst="rect">
            <a:avLst/>
          </a:prstGeom>
        </p:spPr>
      </p:pic>
      <p:sp>
        <p:nvSpPr>
          <p:cNvPr id="20" name="Text 13"/>
          <p:cNvSpPr/>
          <p:nvPr/>
        </p:nvSpPr>
        <p:spPr>
          <a:xfrm>
            <a:off x="960120" y="4270248"/>
            <a:ext cx="2286000" cy="274320"/>
          </a:xfrm>
          <a:prstGeom prst="rect">
            <a:avLst/>
          </a:prstGeom>
          <a:noFill/>
          <a:ln/>
        </p:spPr>
        <p:txBody>
          <a:bodyPr wrap="square" lIns="0" tIns="0" rIns="0" bIns="0" rtlCol="0" anchor="ctr"/>
          <a:lstStyle/>
          <a:p>
            <a:pPr indent="0" marL="0">
              <a:buNone/>
            </a:pPr>
            <a:r>
              <a:rPr lang="en-US" sz="1150" b="1" dirty="0">
                <a:solidFill>
                  <a:srgbClr val="1E293B"/>
                </a:solidFill>
                <a:latin typeface="Calibri" pitchFamily="34" charset="0"/>
                <a:ea typeface="Calibri" pitchFamily="34" charset="-122"/>
                <a:cs typeface="Calibri" pitchFamily="34" charset="-120"/>
              </a:rPr>
              <a:t>Observability Requirements</a:t>
            </a:r>
            <a:endParaRPr lang="en-US" sz="1150" dirty="0"/>
          </a:p>
        </p:txBody>
      </p:sp>
      <p:sp>
        <p:nvSpPr>
          <p:cNvPr id="21" name="Text 14"/>
          <p:cNvSpPr/>
          <p:nvPr/>
        </p:nvSpPr>
        <p:spPr>
          <a:xfrm>
            <a:off x="3291840" y="4270248"/>
            <a:ext cx="5486400" cy="2743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What metrics, traces, and logs are needed to verify AI behavior in production?</a:t>
            </a:r>
            <a:endParaRPr lang="en-US" sz="1100" dirty="0"/>
          </a:p>
        </p:txBody>
      </p:sp>
      <p:pic>
        <p:nvPicPr>
          <p:cNvPr id="22" name="Image 5" descr="preencoded.png">    </p:cNvPr>
          <p:cNvPicPr>
            <a:picLocks noChangeAspect="1"/>
          </p:cNvPicPr>
          <p:nvPr/>
        </p:nvPicPr>
        <p:blipFill>
          <a:blip r:embed="rId6"/>
          <a:stretch>
            <a:fillRect/>
          </a:stretch>
        </p:blipFill>
        <p:spPr>
          <a:xfrm>
            <a:off x="640080" y="4709160"/>
            <a:ext cx="228600" cy="228600"/>
          </a:xfrm>
          <a:prstGeom prst="rect">
            <a:avLst/>
          </a:prstGeom>
        </p:spPr>
      </p:pic>
      <p:sp>
        <p:nvSpPr>
          <p:cNvPr id="23" name="Text 15"/>
          <p:cNvSpPr/>
          <p:nvPr/>
        </p:nvSpPr>
        <p:spPr>
          <a:xfrm>
            <a:off x="960120" y="4681728"/>
            <a:ext cx="2286000" cy="274320"/>
          </a:xfrm>
          <a:prstGeom prst="rect">
            <a:avLst/>
          </a:prstGeom>
          <a:noFill/>
          <a:ln/>
        </p:spPr>
        <p:txBody>
          <a:bodyPr wrap="square" lIns="0" tIns="0" rIns="0" bIns="0" rtlCol="0" anchor="ctr"/>
          <a:lstStyle/>
          <a:p>
            <a:pPr indent="0" marL="0">
              <a:buNone/>
            </a:pPr>
            <a:r>
              <a:rPr lang="en-US" sz="1150" b="1" dirty="0">
                <a:solidFill>
                  <a:srgbClr val="1E293B"/>
                </a:solidFill>
                <a:latin typeface="Calibri" pitchFamily="34" charset="0"/>
                <a:ea typeface="Calibri" pitchFamily="34" charset="-122"/>
                <a:cs typeface="Calibri" pitchFamily="34" charset="-120"/>
              </a:rPr>
              <a:t>Responsible AI Assessment</a:t>
            </a:r>
            <a:endParaRPr lang="en-US" sz="1150" dirty="0"/>
          </a:p>
        </p:txBody>
      </p:sp>
      <p:sp>
        <p:nvSpPr>
          <p:cNvPr id="24" name="Text 16"/>
          <p:cNvSpPr/>
          <p:nvPr/>
        </p:nvSpPr>
        <p:spPr>
          <a:xfrm>
            <a:off x="3291840" y="4681728"/>
            <a:ext cx="5486400" cy="2743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Mapping to the ten dimensions: fairness, explainability, controllability, veracity...</a:t>
            </a:r>
            <a:endParaRPr lang="en-US" sz="1100" dirty="0"/>
          </a:p>
        </p:txBody>
      </p:sp>
      <p:sp>
        <p:nvSpPr>
          <p:cNvPr id="25" name="Text 17"/>
          <p:cNvSpPr/>
          <p:nvPr/>
        </p:nvSpPr>
        <p:spPr>
          <a:xfrm>
            <a:off x="8229600" y="4800600"/>
            <a:ext cx="73152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11 / 20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640080" y="228600"/>
            <a:ext cx="7863840" cy="548640"/>
          </a:xfrm>
          <a:prstGeom prst="rect">
            <a:avLst/>
          </a:prstGeom>
          <a:noFill/>
          <a:ln/>
        </p:spPr>
        <p:txBody>
          <a:bodyPr wrap="square" lIns="0" tIns="0" rIns="0" bIns="0" rtlCol="0" anchor="ctr"/>
          <a:lstStyle/>
          <a:p>
            <a:pPr indent="0" marL="0">
              <a:buNone/>
            </a:pPr>
            <a:r>
              <a:rPr lang="en-US" sz="3000" b="1" dirty="0">
                <a:solidFill>
                  <a:srgbClr val="0A1628"/>
                </a:solidFill>
                <a:latin typeface="Trebuchet MS" pitchFamily="34" charset="0"/>
                <a:ea typeface="Trebuchet MS" pitchFamily="34" charset="-122"/>
                <a:cs typeface="Trebuchet MS" pitchFamily="34" charset="-120"/>
              </a:rPr>
              <a:t>Design Reviews — Evolved</a:t>
            </a:r>
            <a:endParaRPr lang="en-US" sz="3000" dirty="0"/>
          </a:p>
        </p:txBody>
      </p:sp>
      <p:sp>
        <p:nvSpPr>
          <p:cNvPr id="3" name="Text 1"/>
          <p:cNvSpPr/>
          <p:nvPr/>
        </p:nvSpPr>
        <p:spPr>
          <a:xfrm>
            <a:off x="640080" y="777240"/>
            <a:ext cx="6400800" cy="32004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The review process becomes even more important</a:t>
            </a:r>
            <a:endParaRPr lang="en-US" sz="1300" dirty="0"/>
          </a:p>
        </p:txBody>
      </p:sp>
      <p:sp>
        <p:nvSpPr>
          <p:cNvPr id="4" name="Shape 2"/>
          <p:cNvSpPr/>
          <p:nvPr/>
        </p:nvSpPr>
        <p:spPr>
          <a:xfrm>
            <a:off x="457200" y="1097280"/>
            <a:ext cx="8229600" cy="640080"/>
          </a:xfrm>
          <a:prstGeom prst="rect">
            <a:avLst/>
          </a:prstGeom>
          <a:solidFill>
            <a:srgbClr val="FFFFFF"/>
          </a:solidFill>
          <a:ln/>
          <a:effectLst>
            <a:outerShdw sx="100000" sy="100000" kx="0" ky="0" algn="bl" rotWithShape="0" blurRad="76200" dist="25400" dir="8100000">
              <a:srgbClr val="000000">
                <a:alpha val="12000"/>
              </a:srgbClr>
            </a:outerShdw>
          </a:effectLst>
        </p:spPr>
      </p:sp>
      <p:pic>
        <p:nvPicPr>
          <p:cNvPr id="5" name="Image 0" descr="preencoded.png">    </p:cNvPr>
          <p:cNvPicPr>
            <a:picLocks noChangeAspect="1"/>
          </p:cNvPicPr>
          <p:nvPr/>
        </p:nvPicPr>
        <p:blipFill>
          <a:blip r:embed="rId1"/>
          <a:stretch>
            <a:fillRect/>
          </a:stretch>
        </p:blipFill>
        <p:spPr>
          <a:xfrm>
            <a:off x="594360" y="1234440"/>
            <a:ext cx="320040" cy="320040"/>
          </a:xfrm>
          <a:prstGeom prst="rect">
            <a:avLst/>
          </a:prstGeom>
        </p:spPr>
      </p:pic>
      <p:sp>
        <p:nvSpPr>
          <p:cNvPr id="6" name="Shape 3"/>
          <p:cNvSpPr/>
          <p:nvPr/>
        </p:nvSpPr>
        <p:spPr>
          <a:xfrm>
            <a:off x="7772400" y="1261872"/>
            <a:ext cx="731520" cy="274320"/>
          </a:xfrm>
          <a:prstGeom prst="rect">
            <a:avLst/>
          </a:prstGeom>
          <a:solidFill>
            <a:srgbClr val="10B981"/>
          </a:solidFill>
          <a:ln/>
        </p:spPr>
      </p:sp>
      <p:sp>
        <p:nvSpPr>
          <p:cNvPr id="7" name="Text 4"/>
          <p:cNvSpPr/>
          <p:nvPr/>
        </p:nvSpPr>
        <p:spPr>
          <a:xfrm>
            <a:off x="7772400" y="1261872"/>
            <a:ext cx="73152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KEEPS</a:t>
            </a:r>
            <a:endParaRPr lang="en-US" sz="900" dirty="0"/>
          </a:p>
        </p:txBody>
      </p:sp>
      <p:sp>
        <p:nvSpPr>
          <p:cNvPr id="8" name="Text 5"/>
          <p:cNvSpPr/>
          <p:nvPr/>
        </p:nvSpPr>
        <p:spPr>
          <a:xfrm>
            <a:off x="1051560" y="1143000"/>
            <a:ext cx="3657600" cy="27432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Traditional Review Checklist</a:t>
            </a:r>
            <a:endParaRPr lang="en-US" sz="1300" dirty="0"/>
          </a:p>
        </p:txBody>
      </p:sp>
      <p:sp>
        <p:nvSpPr>
          <p:cNvPr id="9" name="Text 6"/>
          <p:cNvSpPr/>
          <p:nvPr/>
        </p:nvSpPr>
        <p:spPr>
          <a:xfrm>
            <a:off x="1051560" y="1417320"/>
            <a:ext cx="6400800" cy="2743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Scalability, reliability, security, performance, cost — STILL APPLIES.</a:t>
            </a:r>
            <a:endParaRPr lang="en-US" sz="1100" dirty="0"/>
          </a:p>
        </p:txBody>
      </p:sp>
      <p:sp>
        <p:nvSpPr>
          <p:cNvPr id="10" name="Shape 7"/>
          <p:cNvSpPr/>
          <p:nvPr/>
        </p:nvSpPr>
        <p:spPr>
          <a:xfrm>
            <a:off x="457200" y="1874520"/>
            <a:ext cx="8229600" cy="640080"/>
          </a:xfrm>
          <a:prstGeom prst="rect">
            <a:avLst/>
          </a:prstGeom>
          <a:solidFill>
            <a:srgbClr val="FFFFFF"/>
          </a:solidFill>
          <a:ln/>
          <a:effectLst>
            <a:outerShdw sx="100000" sy="100000" kx="0" ky="0" algn="bl" rotWithShape="0" blurRad="76200" dist="25400" dir="8100000">
              <a:srgbClr val="000000">
                <a:alpha val="12000"/>
              </a:srgbClr>
            </a:outerShdw>
          </a:effectLst>
        </p:spPr>
      </p:sp>
      <p:pic>
        <p:nvPicPr>
          <p:cNvPr id="11" name="Image 1" descr="preencoded.png">    </p:cNvPr>
          <p:cNvPicPr>
            <a:picLocks noChangeAspect="1"/>
          </p:cNvPicPr>
          <p:nvPr/>
        </p:nvPicPr>
        <p:blipFill>
          <a:blip r:embed="rId2"/>
          <a:stretch>
            <a:fillRect/>
          </a:stretch>
        </p:blipFill>
        <p:spPr>
          <a:xfrm>
            <a:off x="594360" y="2011680"/>
            <a:ext cx="320040" cy="320040"/>
          </a:xfrm>
          <a:prstGeom prst="rect">
            <a:avLst/>
          </a:prstGeom>
        </p:spPr>
      </p:pic>
      <p:sp>
        <p:nvSpPr>
          <p:cNvPr id="12" name="Shape 8"/>
          <p:cNvSpPr/>
          <p:nvPr/>
        </p:nvSpPr>
        <p:spPr>
          <a:xfrm>
            <a:off x="7772400" y="2039112"/>
            <a:ext cx="731520" cy="274320"/>
          </a:xfrm>
          <a:prstGeom prst="rect">
            <a:avLst/>
          </a:prstGeom>
          <a:solidFill>
            <a:srgbClr val="0891B2"/>
          </a:solidFill>
          <a:ln/>
        </p:spPr>
      </p:sp>
      <p:sp>
        <p:nvSpPr>
          <p:cNvPr id="13" name="Text 9"/>
          <p:cNvSpPr/>
          <p:nvPr/>
        </p:nvSpPr>
        <p:spPr>
          <a:xfrm>
            <a:off x="7772400" y="2039112"/>
            <a:ext cx="73152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ADDS</a:t>
            </a:r>
            <a:endParaRPr lang="en-US" sz="900" dirty="0"/>
          </a:p>
        </p:txBody>
      </p:sp>
      <p:sp>
        <p:nvSpPr>
          <p:cNvPr id="14" name="Text 10"/>
          <p:cNvSpPr/>
          <p:nvPr/>
        </p:nvSpPr>
        <p:spPr>
          <a:xfrm>
            <a:off x="1051560" y="1920240"/>
            <a:ext cx="3657600" cy="27432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AI-Specific Review Additions</a:t>
            </a:r>
            <a:endParaRPr lang="en-US" sz="1300" dirty="0"/>
          </a:p>
        </p:txBody>
      </p:sp>
      <p:sp>
        <p:nvSpPr>
          <p:cNvPr id="15" name="Text 11"/>
          <p:cNvSpPr/>
          <p:nvPr/>
        </p:nvSpPr>
        <p:spPr>
          <a:xfrm>
            <a:off x="1051560" y="2194560"/>
            <a:ext cx="6400800" cy="2743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Model selection, prompt strategy, output validation, fallback logic, confidence thresholds.</a:t>
            </a:r>
            <a:endParaRPr lang="en-US" sz="1100" dirty="0"/>
          </a:p>
        </p:txBody>
      </p:sp>
      <p:sp>
        <p:nvSpPr>
          <p:cNvPr id="16" name="Shape 12"/>
          <p:cNvSpPr/>
          <p:nvPr/>
        </p:nvSpPr>
        <p:spPr>
          <a:xfrm>
            <a:off x="457200" y="2651760"/>
            <a:ext cx="8229600" cy="640080"/>
          </a:xfrm>
          <a:prstGeom prst="rect">
            <a:avLst/>
          </a:prstGeom>
          <a:solidFill>
            <a:srgbClr val="FFFFFF"/>
          </a:solidFill>
          <a:ln/>
          <a:effectLst>
            <a:outerShdw sx="100000" sy="100000" kx="0" ky="0" algn="bl" rotWithShape="0" blurRad="76200" dist="25400" dir="8100000">
              <a:srgbClr val="000000">
                <a:alpha val="12000"/>
              </a:srgbClr>
            </a:outerShdw>
          </a:effectLst>
        </p:spPr>
      </p:sp>
      <p:pic>
        <p:nvPicPr>
          <p:cNvPr id="17" name="Image 2" descr="preencoded.png">    </p:cNvPr>
          <p:cNvPicPr>
            <a:picLocks noChangeAspect="1"/>
          </p:cNvPicPr>
          <p:nvPr/>
        </p:nvPicPr>
        <p:blipFill>
          <a:blip r:embed="rId3"/>
          <a:stretch>
            <a:fillRect/>
          </a:stretch>
        </p:blipFill>
        <p:spPr>
          <a:xfrm>
            <a:off x="594360" y="2788920"/>
            <a:ext cx="320040" cy="320040"/>
          </a:xfrm>
          <a:prstGeom prst="rect">
            <a:avLst/>
          </a:prstGeom>
        </p:spPr>
      </p:pic>
      <p:sp>
        <p:nvSpPr>
          <p:cNvPr id="18" name="Shape 13"/>
          <p:cNvSpPr/>
          <p:nvPr/>
        </p:nvSpPr>
        <p:spPr>
          <a:xfrm>
            <a:off x="7772400" y="2816352"/>
            <a:ext cx="731520" cy="274320"/>
          </a:xfrm>
          <a:prstGeom prst="rect">
            <a:avLst/>
          </a:prstGeom>
          <a:solidFill>
            <a:srgbClr val="0891B2"/>
          </a:solidFill>
          <a:ln/>
        </p:spPr>
      </p:sp>
      <p:sp>
        <p:nvSpPr>
          <p:cNvPr id="19" name="Text 14"/>
          <p:cNvSpPr/>
          <p:nvPr/>
        </p:nvSpPr>
        <p:spPr>
          <a:xfrm>
            <a:off x="7772400" y="2816352"/>
            <a:ext cx="73152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ADDS</a:t>
            </a:r>
            <a:endParaRPr lang="en-US" sz="900" dirty="0"/>
          </a:p>
        </p:txBody>
      </p:sp>
      <p:sp>
        <p:nvSpPr>
          <p:cNvPr id="20" name="Text 15"/>
          <p:cNvSpPr/>
          <p:nvPr/>
        </p:nvSpPr>
        <p:spPr>
          <a:xfrm>
            <a:off x="1051560" y="2697480"/>
            <a:ext cx="3657600" cy="27432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Autonomy Review Gate</a:t>
            </a:r>
            <a:endParaRPr lang="en-US" sz="1300" dirty="0"/>
          </a:p>
        </p:txBody>
      </p:sp>
      <p:sp>
        <p:nvSpPr>
          <p:cNvPr id="21" name="Text 16"/>
          <p:cNvSpPr/>
          <p:nvPr/>
        </p:nvSpPr>
        <p:spPr>
          <a:xfrm>
            <a:off x="1051560" y="2971800"/>
            <a:ext cx="6400800" cy="2743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For every agent: what can it do alone? When does it escalate? Where are the kill switches?</a:t>
            </a:r>
            <a:endParaRPr lang="en-US" sz="1100" dirty="0"/>
          </a:p>
        </p:txBody>
      </p:sp>
      <p:sp>
        <p:nvSpPr>
          <p:cNvPr id="22" name="Shape 17"/>
          <p:cNvSpPr/>
          <p:nvPr/>
        </p:nvSpPr>
        <p:spPr>
          <a:xfrm>
            <a:off x="457200" y="3429000"/>
            <a:ext cx="8229600" cy="640080"/>
          </a:xfrm>
          <a:prstGeom prst="rect">
            <a:avLst/>
          </a:prstGeom>
          <a:solidFill>
            <a:srgbClr val="FFFFFF"/>
          </a:solidFill>
          <a:ln/>
          <a:effectLst>
            <a:outerShdw sx="100000" sy="100000" kx="0" ky="0" algn="bl" rotWithShape="0" blurRad="76200" dist="25400" dir="8100000">
              <a:srgbClr val="000000">
                <a:alpha val="12000"/>
              </a:srgbClr>
            </a:outerShdw>
          </a:effectLst>
        </p:spPr>
      </p:sp>
      <p:pic>
        <p:nvPicPr>
          <p:cNvPr id="23" name="Image 3" descr="preencoded.png">    </p:cNvPr>
          <p:cNvPicPr>
            <a:picLocks noChangeAspect="1"/>
          </p:cNvPicPr>
          <p:nvPr/>
        </p:nvPicPr>
        <p:blipFill>
          <a:blip r:embed="rId4"/>
          <a:stretch>
            <a:fillRect/>
          </a:stretch>
        </p:blipFill>
        <p:spPr>
          <a:xfrm>
            <a:off x="594360" y="3566160"/>
            <a:ext cx="320040" cy="320040"/>
          </a:xfrm>
          <a:prstGeom prst="rect">
            <a:avLst/>
          </a:prstGeom>
        </p:spPr>
      </p:pic>
      <p:sp>
        <p:nvSpPr>
          <p:cNvPr id="24" name="Shape 18"/>
          <p:cNvSpPr/>
          <p:nvPr/>
        </p:nvSpPr>
        <p:spPr>
          <a:xfrm>
            <a:off x="7772400" y="3593592"/>
            <a:ext cx="731520" cy="274320"/>
          </a:xfrm>
          <a:prstGeom prst="rect">
            <a:avLst/>
          </a:prstGeom>
          <a:solidFill>
            <a:srgbClr val="0891B2"/>
          </a:solidFill>
          <a:ln/>
        </p:spPr>
      </p:sp>
      <p:sp>
        <p:nvSpPr>
          <p:cNvPr id="25" name="Text 19"/>
          <p:cNvSpPr/>
          <p:nvPr/>
        </p:nvSpPr>
        <p:spPr>
          <a:xfrm>
            <a:off x="7772400" y="3593592"/>
            <a:ext cx="73152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ADDS</a:t>
            </a:r>
            <a:endParaRPr lang="en-US" sz="900" dirty="0"/>
          </a:p>
        </p:txBody>
      </p:sp>
      <p:sp>
        <p:nvSpPr>
          <p:cNvPr id="26" name="Text 20"/>
          <p:cNvSpPr/>
          <p:nvPr/>
        </p:nvSpPr>
        <p:spPr>
          <a:xfrm>
            <a:off x="1051560" y="3474720"/>
            <a:ext cx="3657600" cy="27432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Responsible AI Review</a:t>
            </a:r>
            <a:endParaRPr lang="en-US" sz="1300" dirty="0"/>
          </a:p>
        </p:txBody>
      </p:sp>
      <p:sp>
        <p:nvSpPr>
          <p:cNvPr id="27" name="Text 21"/>
          <p:cNvSpPr/>
          <p:nvPr/>
        </p:nvSpPr>
        <p:spPr>
          <a:xfrm>
            <a:off x="1051560" y="3749040"/>
            <a:ext cx="6400800" cy="2743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Fairness, bias, explainability, data privacy. Map to ten dimensions BEFORE deployment.</a:t>
            </a:r>
            <a:endParaRPr lang="en-US" sz="1100" dirty="0"/>
          </a:p>
        </p:txBody>
      </p:sp>
      <p:sp>
        <p:nvSpPr>
          <p:cNvPr id="28" name="Shape 22"/>
          <p:cNvSpPr/>
          <p:nvPr/>
        </p:nvSpPr>
        <p:spPr>
          <a:xfrm>
            <a:off x="457200" y="4206240"/>
            <a:ext cx="8229600" cy="640080"/>
          </a:xfrm>
          <a:prstGeom prst="rect">
            <a:avLst/>
          </a:prstGeom>
          <a:solidFill>
            <a:srgbClr val="FFFFFF"/>
          </a:solidFill>
          <a:ln/>
          <a:effectLst>
            <a:outerShdw sx="100000" sy="100000" kx="0" ky="0" algn="bl" rotWithShape="0" blurRad="76200" dist="25400" dir="8100000">
              <a:srgbClr val="000000">
                <a:alpha val="12000"/>
              </a:srgbClr>
            </a:outerShdw>
          </a:effectLst>
        </p:spPr>
      </p:sp>
      <p:pic>
        <p:nvPicPr>
          <p:cNvPr id="29" name="Image 4" descr="preencoded.png">    </p:cNvPr>
          <p:cNvPicPr>
            <a:picLocks noChangeAspect="1"/>
          </p:cNvPicPr>
          <p:nvPr/>
        </p:nvPicPr>
        <p:blipFill>
          <a:blip r:embed="rId5"/>
          <a:stretch>
            <a:fillRect/>
          </a:stretch>
        </p:blipFill>
        <p:spPr>
          <a:xfrm>
            <a:off x="594360" y="4343400"/>
            <a:ext cx="320040" cy="320040"/>
          </a:xfrm>
          <a:prstGeom prst="rect">
            <a:avLst/>
          </a:prstGeom>
        </p:spPr>
      </p:pic>
      <p:sp>
        <p:nvSpPr>
          <p:cNvPr id="30" name="Shape 23"/>
          <p:cNvSpPr/>
          <p:nvPr/>
        </p:nvSpPr>
        <p:spPr>
          <a:xfrm>
            <a:off x="7772400" y="4370832"/>
            <a:ext cx="731520" cy="274320"/>
          </a:xfrm>
          <a:prstGeom prst="rect">
            <a:avLst/>
          </a:prstGeom>
          <a:solidFill>
            <a:srgbClr val="0891B2"/>
          </a:solidFill>
          <a:ln/>
        </p:spPr>
      </p:sp>
      <p:sp>
        <p:nvSpPr>
          <p:cNvPr id="31" name="Text 24"/>
          <p:cNvSpPr/>
          <p:nvPr/>
        </p:nvSpPr>
        <p:spPr>
          <a:xfrm>
            <a:off x="7772400" y="4370832"/>
            <a:ext cx="731520"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ADDS</a:t>
            </a:r>
            <a:endParaRPr lang="en-US" sz="900" dirty="0"/>
          </a:p>
        </p:txBody>
      </p:sp>
      <p:sp>
        <p:nvSpPr>
          <p:cNvPr id="32" name="Text 25"/>
          <p:cNvSpPr/>
          <p:nvPr/>
        </p:nvSpPr>
        <p:spPr>
          <a:xfrm>
            <a:off x="1051560" y="4251960"/>
            <a:ext cx="3657600" cy="27432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Observability Review</a:t>
            </a:r>
            <a:endParaRPr lang="en-US" sz="1300" dirty="0"/>
          </a:p>
        </p:txBody>
      </p:sp>
      <p:sp>
        <p:nvSpPr>
          <p:cNvPr id="33" name="Text 26"/>
          <p:cNvSpPr/>
          <p:nvPr/>
        </p:nvSpPr>
        <p:spPr>
          <a:xfrm>
            <a:off x="1051560" y="4526280"/>
            <a:ext cx="6400800" cy="2743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Can we see what the AI is doing in production? Prompt/response logging, drift detection.</a:t>
            </a:r>
            <a:endParaRPr lang="en-US" sz="1100" dirty="0"/>
          </a:p>
        </p:txBody>
      </p:sp>
      <p:sp>
        <p:nvSpPr>
          <p:cNvPr id="34" name="Text 27"/>
          <p:cNvSpPr/>
          <p:nvPr/>
        </p:nvSpPr>
        <p:spPr>
          <a:xfrm>
            <a:off x="8229600" y="4800600"/>
            <a:ext cx="73152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12 / 20</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640080" y="228600"/>
            <a:ext cx="7863840" cy="548640"/>
          </a:xfrm>
          <a:prstGeom prst="rect">
            <a:avLst/>
          </a:prstGeom>
          <a:noFill/>
          <a:ln/>
        </p:spPr>
        <p:txBody>
          <a:bodyPr wrap="square" lIns="0" tIns="0" rIns="0" bIns="0" rtlCol="0" anchor="ctr"/>
          <a:lstStyle/>
          <a:p>
            <a:pPr indent="0" marL="0">
              <a:buNone/>
            </a:pPr>
            <a:r>
              <a:rPr lang="en-US" sz="3000" b="1" dirty="0">
                <a:solidFill>
                  <a:srgbClr val="FFFFFF"/>
                </a:solidFill>
                <a:latin typeface="Trebuchet MS" pitchFamily="34" charset="0"/>
                <a:ea typeface="Trebuchet MS" pitchFamily="34" charset="-122"/>
                <a:cs typeface="Trebuchet MS" pitchFamily="34" charset="-120"/>
              </a:rPr>
              <a:t>Enterprise Patterns — New Additions</a:t>
            </a:r>
            <a:endParaRPr lang="en-US" sz="3000" dirty="0"/>
          </a:p>
        </p:txBody>
      </p:sp>
      <p:sp>
        <p:nvSpPr>
          <p:cNvPr id="3" name="Text 1"/>
          <p:cNvSpPr/>
          <p:nvPr/>
        </p:nvSpPr>
        <p:spPr>
          <a:xfrm>
            <a:off x="640080" y="777240"/>
            <a:ext cx="6400800" cy="320040"/>
          </a:xfrm>
          <a:prstGeom prst="rect">
            <a:avLst/>
          </a:prstGeom>
          <a:noFill/>
          <a:ln/>
        </p:spPr>
        <p:txBody>
          <a:bodyPr wrap="square" lIns="0" tIns="0" rIns="0" bIns="0" rtlCol="0" anchor="ctr"/>
          <a:lstStyle/>
          <a:p>
            <a:pPr indent="0" marL="0">
              <a:buNone/>
            </a:pPr>
            <a:r>
              <a:rPr lang="en-US" sz="1300" i="1" dirty="0">
                <a:solidFill>
                  <a:srgbClr val="22D3EE"/>
                </a:solidFill>
                <a:latin typeface="Calibri" pitchFamily="34" charset="0"/>
                <a:ea typeface="Calibri" pitchFamily="34" charset="-122"/>
                <a:cs typeface="Calibri" pitchFamily="34" charset="-120"/>
              </a:rPr>
              <a:t>Patterns our DEs define and our teams adopt</a:t>
            </a:r>
            <a:endParaRPr lang="en-US" sz="1300" dirty="0"/>
          </a:p>
        </p:txBody>
      </p:sp>
      <p:sp>
        <p:nvSpPr>
          <p:cNvPr id="4" name="Shape 2"/>
          <p:cNvSpPr/>
          <p:nvPr/>
        </p:nvSpPr>
        <p:spPr>
          <a:xfrm>
            <a:off x="457200" y="1097280"/>
            <a:ext cx="4023360" cy="1051560"/>
          </a:xfrm>
          <a:prstGeom prst="rect">
            <a:avLst/>
          </a:prstGeom>
          <a:solidFill>
            <a:srgbClr val="1A2744"/>
          </a:solidFill>
          <a:ln/>
          <a:effectLst>
            <a:outerShdw sx="100000" sy="100000" kx="0" ky="0" algn="bl" rotWithShape="0" blurRad="76200" dist="25400" dir="8100000">
              <a:srgbClr val="000000">
                <a:alpha val="12000"/>
              </a:srgbClr>
            </a:outerShdw>
          </a:effectLst>
        </p:spPr>
      </p:sp>
      <p:pic>
        <p:nvPicPr>
          <p:cNvPr id="5" name="Image 0" descr="preencoded.png">    </p:cNvPr>
          <p:cNvPicPr>
            <a:picLocks noChangeAspect="1"/>
          </p:cNvPicPr>
          <p:nvPr/>
        </p:nvPicPr>
        <p:blipFill>
          <a:blip r:embed="rId1"/>
          <a:stretch>
            <a:fillRect/>
          </a:stretch>
        </p:blipFill>
        <p:spPr>
          <a:xfrm>
            <a:off x="594360" y="1234440"/>
            <a:ext cx="320040" cy="320040"/>
          </a:xfrm>
          <a:prstGeom prst="rect">
            <a:avLst/>
          </a:prstGeom>
        </p:spPr>
      </p:pic>
      <p:sp>
        <p:nvSpPr>
          <p:cNvPr id="6" name="Text 3"/>
          <p:cNvSpPr/>
          <p:nvPr/>
        </p:nvSpPr>
        <p:spPr>
          <a:xfrm>
            <a:off x="1005840" y="1170432"/>
            <a:ext cx="329184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Agent Orchestration</a:t>
            </a:r>
            <a:endParaRPr lang="en-US" sz="1300" dirty="0"/>
          </a:p>
        </p:txBody>
      </p:sp>
      <p:sp>
        <p:nvSpPr>
          <p:cNvPr id="7" name="Text 4"/>
          <p:cNvSpPr/>
          <p:nvPr/>
        </p:nvSpPr>
        <p:spPr>
          <a:xfrm>
            <a:off x="1005840" y="1481328"/>
            <a:ext cx="3291840" cy="594360"/>
          </a:xfrm>
          <a:prstGeom prst="rect">
            <a:avLst/>
          </a:prstGeom>
          <a:noFill/>
          <a:ln/>
        </p:spPr>
        <p:txBody>
          <a:bodyPr wrap="square" lIns="0" tIns="0" rIns="0" bIns="0" rtlCol="0" anchor="ctr"/>
          <a:lstStyle/>
          <a:p>
            <a:pPr indent="0" marL="0">
              <a:buNone/>
            </a:pPr>
            <a:r>
              <a:rPr lang="en-US" sz="1050" dirty="0">
                <a:solidFill>
                  <a:srgbClr val="E0F2FE"/>
                </a:solidFill>
                <a:latin typeface="Calibri" pitchFamily="34" charset="0"/>
                <a:ea typeface="Calibri" pitchFamily="34" charset="-122"/>
                <a:cs typeface="Calibri" pitchFamily="34" charset="-120"/>
              </a:rPr>
              <a:t>Coordinate multiple AI agents with defined roles, tools, and communication protocols. Include human checkpoints at state-changing actions.</a:t>
            </a:r>
            <a:endParaRPr lang="en-US" sz="1050" dirty="0"/>
          </a:p>
        </p:txBody>
      </p:sp>
      <p:sp>
        <p:nvSpPr>
          <p:cNvPr id="8" name="Shape 5"/>
          <p:cNvSpPr/>
          <p:nvPr/>
        </p:nvSpPr>
        <p:spPr>
          <a:xfrm>
            <a:off x="4754880" y="1097280"/>
            <a:ext cx="4023360" cy="1051560"/>
          </a:xfrm>
          <a:prstGeom prst="rect">
            <a:avLst/>
          </a:prstGeom>
          <a:solidFill>
            <a:srgbClr val="1A2744"/>
          </a:solidFill>
          <a:ln/>
          <a:effectLst>
            <a:outerShdw sx="100000" sy="100000" kx="0" ky="0" algn="bl" rotWithShape="0" blurRad="76200" dist="25400" dir="8100000">
              <a:srgbClr val="000000">
                <a:alpha val="12000"/>
              </a:srgbClr>
            </a:outerShdw>
          </a:effectLst>
        </p:spPr>
      </p:sp>
      <p:pic>
        <p:nvPicPr>
          <p:cNvPr id="9" name="Image 1" descr="preencoded.png">    </p:cNvPr>
          <p:cNvPicPr>
            <a:picLocks noChangeAspect="1"/>
          </p:cNvPicPr>
          <p:nvPr/>
        </p:nvPicPr>
        <p:blipFill>
          <a:blip r:embed="rId2"/>
          <a:stretch>
            <a:fillRect/>
          </a:stretch>
        </p:blipFill>
        <p:spPr>
          <a:xfrm>
            <a:off x="4892040" y="1234440"/>
            <a:ext cx="320040" cy="320040"/>
          </a:xfrm>
          <a:prstGeom prst="rect">
            <a:avLst/>
          </a:prstGeom>
        </p:spPr>
      </p:pic>
      <p:sp>
        <p:nvSpPr>
          <p:cNvPr id="10" name="Text 6"/>
          <p:cNvSpPr/>
          <p:nvPr/>
        </p:nvSpPr>
        <p:spPr>
          <a:xfrm>
            <a:off x="5303520" y="1170432"/>
            <a:ext cx="329184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Confidence-Based Routing</a:t>
            </a:r>
            <a:endParaRPr lang="en-US" sz="1300" dirty="0"/>
          </a:p>
        </p:txBody>
      </p:sp>
      <p:sp>
        <p:nvSpPr>
          <p:cNvPr id="11" name="Text 7"/>
          <p:cNvSpPr/>
          <p:nvPr/>
        </p:nvSpPr>
        <p:spPr>
          <a:xfrm>
            <a:off x="5303520" y="1481328"/>
            <a:ext cx="3291840" cy="594360"/>
          </a:xfrm>
          <a:prstGeom prst="rect">
            <a:avLst/>
          </a:prstGeom>
          <a:noFill/>
          <a:ln/>
        </p:spPr>
        <p:txBody>
          <a:bodyPr wrap="square" lIns="0" tIns="0" rIns="0" bIns="0" rtlCol="0" anchor="ctr"/>
          <a:lstStyle/>
          <a:p>
            <a:pPr indent="0" marL="0">
              <a:buNone/>
            </a:pPr>
            <a:r>
              <a:rPr lang="en-US" sz="1050" dirty="0">
                <a:solidFill>
                  <a:srgbClr val="E0F2FE"/>
                </a:solidFill>
                <a:latin typeface="Calibri" pitchFamily="34" charset="0"/>
                <a:ea typeface="Calibri" pitchFamily="34" charset="-122"/>
                <a:cs typeface="Calibri" pitchFamily="34" charset="-120"/>
              </a:rPr>
              <a:t>Route high-confidence outputs to auto-approve; low-confidence to human review. Dynamic thresholds that learn from reviewer decisions.</a:t>
            </a:r>
            <a:endParaRPr lang="en-US" sz="1050" dirty="0"/>
          </a:p>
        </p:txBody>
      </p:sp>
      <p:sp>
        <p:nvSpPr>
          <p:cNvPr id="12" name="Shape 8"/>
          <p:cNvSpPr/>
          <p:nvPr/>
        </p:nvSpPr>
        <p:spPr>
          <a:xfrm>
            <a:off x="457200" y="2331720"/>
            <a:ext cx="4023360" cy="1051560"/>
          </a:xfrm>
          <a:prstGeom prst="rect">
            <a:avLst/>
          </a:prstGeom>
          <a:solidFill>
            <a:srgbClr val="1A2744"/>
          </a:solidFill>
          <a:ln/>
          <a:effectLst>
            <a:outerShdw sx="100000" sy="100000" kx="0" ky="0" algn="bl" rotWithShape="0" blurRad="76200" dist="25400" dir="8100000">
              <a:srgbClr val="000000">
                <a:alpha val="12000"/>
              </a:srgbClr>
            </a:outerShdw>
          </a:effectLst>
        </p:spPr>
      </p:sp>
      <p:pic>
        <p:nvPicPr>
          <p:cNvPr id="13" name="Image 2" descr="preencoded.png">    </p:cNvPr>
          <p:cNvPicPr>
            <a:picLocks noChangeAspect="1"/>
          </p:cNvPicPr>
          <p:nvPr/>
        </p:nvPicPr>
        <p:blipFill>
          <a:blip r:embed="rId3"/>
          <a:stretch>
            <a:fillRect/>
          </a:stretch>
        </p:blipFill>
        <p:spPr>
          <a:xfrm>
            <a:off x="594360" y="2468880"/>
            <a:ext cx="320040" cy="320040"/>
          </a:xfrm>
          <a:prstGeom prst="rect">
            <a:avLst/>
          </a:prstGeom>
        </p:spPr>
      </p:pic>
      <p:sp>
        <p:nvSpPr>
          <p:cNvPr id="14" name="Text 9"/>
          <p:cNvSpPr/>
          <p:nvPr/>
        </p:nvSpPr>
        <p:spPr>
          <a:xfrm>
            <a:off x="1005840" y="2404872"/>
            <a:ext cx="329184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Prompt Security Layer</a:t>
            </a:r>
            <a:endParaRPr lang="en-US" sz="1300" dirty="0"/>
          </a:p>
        </p:txBody>
      </p:sp>
      <p:sp>
        <p:nvSpPr>
          <p:cNvPr id="15" name="Text 10"/>
          <p:cNvSpPr/>
          <p:nvPr/>
        </p:nvSpPr>
        <p:spPr>
          <a:xfrm>
            <a:off x="1005840" y="2715768"/>
            <a:ext cx="3291840" cy="594360"/>
          </a:xfrm>
          <a:prstGeom prst="rect">
            <a:avLst/>
          </a:prstGeom>
          <a:noFill/>
          <a:ln/>
        </p:spPr>
        <p:txBody>
          <a:bodyPr wrap="square" lIns="0" tIns="0" rIns="0" bIns="0" rtlCol="0" anchor="ctr"/>
          <a:lstStyle/>
          <a:p>
            <a:pPr indent="0" marL="0">
              <a:buNone/>
            </a:pPr>
            <a:r>
              <a:rPr lang="en-US" sz="1050" dirty="0">
                <a:solidFill>
                  <a:srgbClr val="E0F2FE"/>
                </a:solidFill>
                <a:latin typeface="Calibri" pitchFamily="34" charset="0"/>
                <a:ea typeface="Calibri" pitchFamily="34" charset="-122"/>
                <a:cs typeface="Calibri" pitchFamily="34" charset="-120"/>
              </a:rPr>
              <a:t>Input validation, output filtering, adversarial prompt detection. Defense-in-depth for the AI layer.</a:t>
            </a:r>
            <a:endParaRPr lang="en-US" sz="1050" dirty="0"/>
          </a:p>
        </p:txBody>
      </p:sp>
      <p:sp>
        <p:nvSpPr>
          <p:cNvPr id="16" name="Shape 11"/>
          <p:cNvSpPr/>
          <p:nvPr/>
        </p:nvSpPr>
        <p:spPr>
          <a:xfrm>
            <a:off x="4754880" y="2331720"/>
            <a:ext cx="4023360" cy="1051560"/>
          </a:xfrm>
          <a:prstGeom prst="rect">
            <a:avLst/>
          </a:prstGeom>
          <a:solidFill>
            <a:srgbClr val="1A2744"/>
          </a:solidFill>
          <a:ln/>
          <a:effectLst>
            <a:outerShdw sx="100000" sy="100000" kx="0" ky="0" algn="bl" rotWithShape="0" blurRad="76200" dist="25400" dir="8100000">
              <a:srgbClr val="000000">
                <a:alpha val="12000"/>
              </a:srgbClr>
            </a:outerShdw>
          </a:effectLst>
        </p:spPr>
      </p:sp>
      <p:pic>
        <p:nvPicPr>
          <p:cNvPr id="17" name="Image 3" descr="preencoded.png">    </p:cNvPr>
          <p:cNvPicPr>
            <a:picLocks noChangeAspect="1"/>
          </p:cNvPicPr>
          <p:nvPr/>
        </p:nvPicPr>
        <p:blipFill>
          <a:blip r:embed="rId4"/>
          <a:stretch>
            <a:fillRect/>
          </a:stretch>
        </p:blipFill>
        <p:spPr>
          <a:xfrm>
            <a:off x="4892040" y="2468880"/>
            <a:ext cx="320040" cy="320040"/>
          </a:xfrm>
          <a:prstGeom prst="rect">
            <a:avLst/>
          </a:prstGeom>
        </p:spPr>
      </p:pic>
      <p:sp>
        <p:nvSpPr>
          <p:cNvPr id="18" name="Text 12"/>
          <p:cNvSpPr/>
          <p:nvPr/>
        </p:nvSpPr>
        <p:spPr>
          <a:xfrm>
            <a:off x="5303520" y="2404872"/>
            <a:ext cx="329184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RAG Pipeline Pattern</a:t>
            </a:r>
            <a:endParaRPr lang="en-US" sz="1300" dirty="0"/>
          </a:p>
        </p:txBody>
      </p:sp>
      <p:sp>
        <p:nvSpPr>
          <p:cNvPr id="19" name="Text 13"/>
          <p:cNvSpPr/>
          <p:nvPr/>
        </p:nvSpPr>
        <p:spPr>
          <a:xfrm>
            <a:off x="5303520" y="2715768"/>
            <a:ext cx="3291840" cy="594360"/>
          </a:xfrm>
          <a:prstGeom prst="rect">
            <a:avLst/>
          </a:prstGeom>
          <a:noFill/>
          <a:ln/>
        </p:spPr>
        <p:txBody>
          <a:bodyPr wrap="square" lIns="0" tIns="0" rIns="0" bIns="0" rtlCol="0" anchor="ctr"/>
          <a:lstStyle/>
          <a:p>
            <a:pPr indent="0" marL="0">
              <a:buNone/>
            </a:pPr>
            <a:r>
              <a:rPr lang="en-US" sz="1050" dirty="0">
                <a:solidFill>
                  <a:srgbClr val="E0F2FE"/>
                </a:solidFill>
                <a:latin typeface="Calibri" pitchFamily="34" charset="0"/>
                <a:ea typeface="Calibri" pitchFamily="34" charset="-122"/>
                <a:cs typeface="Calibri" pitchFamily="34" charset="-120"/>
              </a:rPr>
              <a:t>Vector DB + embedding model + retrieval + generation. Standardize how we augment models with enterprise knowledge.</a:t>
            </a:r>
            <a:endParaRPr lang="en-US" sz="1050" dirty="0"/>
          </a:p>
        </p:txBody>
      </p:sp>
      <p:sp>
        <p:nvSpPr>
          <p:cNvPr id="20" name="Shape 14"/>
          <p:cNvSpPr/>
          <p:nvPr/>
        </p:nvSpPr>
        <p:spPr>
          <a:xfrm>
            <a:off x="457200" y="3566160"/>
            <a:ext cx="4023360" cy="1051560"/>
          </a:xfrm>
          <a:prstGeom prst="rect">
            <a:avLst/>
          </a:prstGeom>
          <a:solidFill>
            <a:srgbClr val="1A2744"/>
          </a:solidFill>
          <a:ln/>
          <a:effectLst>
            <a:outerShdw sx="100000" sy="100000" kx="0" ky="0" algn="bl" rotWithShape="0" blurRad="76200" dist="25400" dir="8100000">
              <a:srgbClr val="000000">
                <a:alpha val="12000"/>
              </a:srgbClr>
            </a:outerShdw>
          </a:effectLst>
        </p:spPr>
      </p:sp>
      <p:pic>
        <p:nvPicPr>
          <p:cNvPr id="21" name="Image 4" descr="preencoded.png">    </p:cNvPr>
          <p:cNvPicPr>
            <a:picLocks noChangeAspect="1"/>
          </p:cNvPicPr>
          <p:nvPr/>
        </p:nvPicPr>
        <p:blipFill>
          <a:blip r:embed="rId5"/>
          <a:stretch>
            <a:fillRect/>
          </a:stretch>
        </p:blipFill>
        <p:spPr>
          <a:xfrm>
            <a:off x="594360" y="3703320"/>
            <a:ext cx="320040" cy="320040"/>
          </a:xfrm>
          <a:prstGeom prst="rect">
            <a:avLst/>
          </a:prstGeom>
        </p:spPr>
      </p:pic>
      <p:sp>
        <p:nvSpPr>
          <p:cNvPr id="22" name="Text 15"/>
          <p:cNvSpPr/>
          <p:nvPr/>
        </p:nvSpPr>
        <p:spPr>
          <a:xfrm>
            <a:off x="1005840" y="3639312"/>
            <a:ext cx="329184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Circuit Breaker for AI</a:t>
            </a:r>
            <a:endParaRPr lang="en-US" sz="1300" dirty="0"/>
          </a:p>
        </p:txBody>
      </p:sp>
      <p:sp>
        <p:nvSpPr>
          <p:cNvPr id="23" name="Text 16"/>
          <p:cNvSpPr/>
          <p:nvPr/>
        </p:nvSpPr>
        <p:spPr>
          <a:xfrm>
            <a:off x="1005840" y="3950208"/>
            <a:ext cx="3291840" cy="594360"/>
          </a:xfrm>
          <a:prstGeom prst="rect">
            <a:avLst/>
          </a:prstGeom>
          <a:noFill/>
          <a:ln/>
        </p:spPr>
        <p:txBody>
          <a:bodyPr wrap="square" lIns="0" tIns="0" rIns="0" bIns="0" rtlCol="0" anchor="ctr"/>
          <a:lstStyle/>
          <a:p>
            <a:pPr indent="0" marL="0">
              <a:buNone/>
            </a:pPr>
            <a:r>
              <a:rPr lang="en-US" sz="1050" dirty="0">
                <a:solidFill>
                  <a:srgbClr val="E0F2FE"/>
                </a:solidFill>
                <a:latin typeface="Calibri" pitchFamily="34" charset="0"/>
                <a:ea typeface="Calibri" pitchFamily="34" charset="-122"/>
                <a:cs typeface="Calibri" pitchFamily="34" charset="-120"/>
              </a:rPr>
              <a:t>When model quality degrades below threshold, automatically fall back to rule-based systems or human handling.</a:t>
            </a:r>
            <a:endParaRPr lang="en-US" sz="1050" dirty="0"/>
          </a:p>
        </p:txBody>
      </p:sp>
      <p:sp>
        <p:nvSpPr>
          <p:cNvPr id="24" name="Shape 17"/>
          <p:cNvSpPr/>
          <p:nvPr/>
        </p:nvSpPr>
        <p:spPr>
          <a:xfrm>
            <a:off x="4754880" y="3566160"/>
            <a:ext cx="4023360" cy="1051560"/>
          </a:xfrm>
          <a:prstGeom prst="rect">
            <a:avLst/>
          </a:prstGeom>
          <a:solidFill>
            <a:srgbClr val="1A2744"/>
          </a:solidFill>
          <a:ln/>
          <a:effectLst>
            <a:outerShdw sx="100000" sy="100000" kx="0" ky="0" algn="bl" rotWithShape="0" blurRad="76200" dist="25400" dir="8100000">
              <a:srgbClr val="000000">
                <a:alpha val="12000"/>
              </a:srgbClr>
            </a:outerShdw>
          </a:effectLst>
        </p:spPr>
      </p:sp>
      <p:pic>
        <p:nvPicPr>
          <p:cNvPr id="25" name="Image 5" descr="preencoded.png">    </p:cNvPr>
          <p:cNvPicPr>
            <a:picLocks noChangeAspect="1"/>
          </p:cNvPicPr>
          <p:nvPr/>
        </p:nvPicPr>
        <p:blipFill>
          <a:blip r:embed="rId6"/>
          <a:stretch>
            <a:fillRect/>
          </a:stretch>
        </p:blipFill>
        <p:spPr>
          <a:xfrm>
            <a:off x="4892040" y="3703320"/>
            <a:ext cx="320040" cy="320040"/>
          </a:xfrm>
          <a:prstGeom prst="rect">
            <a:avLst/>
          </a:prstGeom>
        </p:spPr>
      </p:pic>
      <p:sp>
        <p:nvSpPr>
          <p:cNvPr id="26" name="Text 18"/>
          <p:cNvSpPr/>
          <p:nvPr/>
        </p:nvSpPr>
        <p:spPr>
          <a:xfrm>
            <a:off x="5303520" y="3639312"/>
            <a:ext cx="329184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Model Lifecycle Pattern</a:t>
            </a:r>
            <a:endParaRPr lang="en-US" sz="1300" dirty="0"/>
          </a:p>
        </p:txBody>
      </p:sp>
      <p:sp>
        <p:nvSpPr>
          <p:cNvPr id="27" name="Text 19"/>
          <p:cNvSpPr/>
          <p:nvPr/>
        </p:nvSpPr>
        <p:spPr>
          <a:xfrm>
            <a:off x="5303520" y="3950208"/>
            <a:ext cx="3291840" cy="594360"/>
          </a:xfrm>
          <a:prstGeom prst="rect">
            <a:avLst/>
          </a:prstGeom>
          <a:noFill/>
          <a:ln/>
        </p:spPr>
        <p:txBody>
          <a:bodyPr wrap="square" lIns="0" tIns="0" rIns="0" bIns="0" rtlCol="0" anchor="ctr"/>
          <a:lstStyle/>
          <a:p>
            <a:pPr indent="0" marL="0">
              <a:buNone/>
            </a:pPr>
            <a:r>
              <a:rPr lang="en-US" sz="1050" dirty="0">
                <a:solidFill>
                  <a:srgbClr val="E0F2FE"/>
                </a:solidFill>
                <a:latin typeface="Calibri" pitchFamily="34" charset="0"/>
                <a:ea typeface="Calibri" pitchFamily="34" charset="-122"/>
                <a:cs typeface="Calibri" pitchFamily="34" charset="-120"/>
              </a:rPr>
              <a:t>Selection → deployment → monitoring → retraining/replacement. Version everything. Rollback capability.</a:t>
            </a:r>
            <a:endParaRPr lang="en-US" sz="1050" dirty="0"/>
          </a:p>
        </p:txBody>
      </p:sp>
      <p:sp>
        <p:nvSpPr>
          <p:cNvPr id="28" name="Text 20"/>
          <p:cNvSpPr/>
          <p:nvPr/>
        </p:nvSpPr>
        <p:spPr>
          <a:xfrm>
            <a:off x="8229600" y="4800600"/>
            <a:ext cx="73152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13 / 20</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640080" y="228600"/>
            <a:ext cx="7863840" cy="548640"/>
          </a:xfrm>
          <a:prstGeom prst="rect">
            <a:avLst/>
          </a:prstGeom>
          <a:noFill/>
          <a:ln/>
        </p:spPr>
        <p:txBody>
          <a:bodyPr wrap="square" lIns="0" tIns="0" rIns="0" bIns="0" rtlCol="0" anchor="ctr"/>
          <a:lstStyle/>
          <a:p>
            <a:pPr indent="0" marL="0">
              <a:buNone/>
            </a:pPr>
            <a:r>
              <a:rPr lang="en-US" sz="3000" b="1" dirty="0">
                <a:solidFill>
                  <a:srgbClr val="0A1628"/>
                </a:solidFill>
                <a:latin typeface="Trebuchet MS" pitchFamily="34" charset="0"/>
                <a:ea typeface="Trebuchet MS" pitchFamily="34" charset="-122"/>
                <a:cs typeface="Trebuchet MS" pitchFamily="34" charset="-120"/>
              </a:rPr>
              <a:t>Policy Standards — What Evolves</a:t>
            </a:r>
            <a:endParaRPr lang="en-US" sz="3000" dirty="0"/>
          </a:p>
        </p:txBody>
      </p:sp>
      <p:sp>
        <p:nvSpPr>
          <p:cNvPr id="3" name="Text 1"/>
          <p:cNvSpPr/>
          <p:nvPr/>
        </p:nvSpPr>
        <p:spPr>
          <a:xfrm>
            <a:off x="640080" y="777240"/>
            <a:ext cx="6400800" cy="32004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Standards that govern AI-native systems</a:t>
            </a:r>
            <a:endParaRPr lang="en-US" sz="1300" dirty="0"/>
          </a:p>
        </p:txBody>
      </p:sp>
      <p:sp>
        <p:nvSpPr>
          <p:cNvPr id="4" name="Shape 2"/>
          <p:cNvSpPr/>
          <p:nvPr/>
        </p:nvSpPr>
        <p:spPr>
          <a:xfrm>
            <a:off x="457200" y="1097280"/>
            <a:ext cx="8229600" cy="457200"/>
          </a:xfrm>
          <a:prstGeom prst="rect">
            <a:avLst/>
          </a:prstGeom>
          <a:solidFill>
            <a:srgbClr val="0A1628"/>
          </a:solidFill>
          <a:ln/>
        </p:spPr>
      </p:sp>
      <p:sp>
        <p:nvSpPr>
          <p:cNvPr id="5" name="Text 3"/>
          <p:cNvSpPr/>
          <p:nvPr/>
        </p:nvSpPr>
        <p:spPr>
          <a:xfrm>
            <a:off x="640080" y="1097280"/>
            <a:ext cx="7863840" cy="457200"/>
          </a:xfrm>
          <a:prstGeom prst="rect">
            <a:avLst/>
          </a:prstGeom>
          <a:noFill/>
          <a:ln/>
        </p:spPr>
        <p:txBody>
          <a:bodyPr wrap="square" lIns="0" tIns="0" rIns="0" bIns="0"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ENDURING STANDARDS</a:t>
            </a:r>
            <a:endParaRPr lang="en-US" sz="1400" dirty="0"/>
          </a:p>
        </p:txBody>
      </p:sp>
      <p:pic>
        <p:nvPicPr>
          <p:cNvPr id="6" name="Image 0" descr="preencoded.png">    </p:cNvPr>
          <p:cNvPicPr>
            <a:picLocks noChangeAspect="1"/>
          </p:cNvPicPr>
          <p:nvPr/>
        </p:nvPicPr>
        <p:blipFill>
          <a:blip r:embed="rId1"/>
          <a:stretch>
            <a:fillRect/>
          </a:stretch>
        </p:blipFill>
        <p:spPr>
          <a:xfrm>
            <a:off x="548640" y="1691640"/>
            <a:ext cx="182880" cy="182880"/>
          </a:xfrm>
          <a:prstGeom prst="rect">
            <a:avLst/>
          </a:prstGeom>
        </p:spPr>
      </p:pic>
      <p:sp>
        <p:nvSpPr>
          <p:cNvPr id="7" name="Text 4"/>
          <p:cNvSpPr/>
          <p:nvPr/>
        </p:nvSpPr>
        <p:spPr>
          <a:xfrm>
            <a:off x="822960" y="1655064"/>
            <a:ext cx="7772400" cy="256032"/>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Data encryption at rest and in transit</a:t>
            </a:r>
            <a:endParaRPr lang="en-US" sz="1200" dirty="0"/>
          </a:p>
        </p:txBody>
      </p:sp>
      <p:pic>
        <p:nvPicPr>
          <p:cNvPr id="8" name="Image 1" descr="preencoded.png">    </p:cNvPr>
          <p:cNvPicPr>
            <a:picLocks noChangeAspect="1"/>
          </p:cNvPicPr>
          <p:nvPr/>
        </p:nvPicPr>
        <p:blipFill>
          <a:blip r:embed="rId2"/>
          <a:stretch>
            <a:fillRect/>
          </a:stretch>
        </p:blipFill>
        <p:spPr>
          <a:xfrm>
            <a:off x="548640" y="2011680"/>
            <a:ext cx="182880" cy="182880"/>
          </a:xfrm>
          <a:prstGeom prst="rect">
            <a:avLst/>
          </a:prstGeom>
        </p:spPr>
      </p:pic>
      <p:sp>
        <p:nvSpPr>
          <p:cNvPr id="9" name="Text 5"/>
          <p:cNvSpPr/>
          <p:nvPr/>
        </p:nvSpPr>
        <p:spPr>
          <a:xfrm>
            <a:off x="822960" y="1975104"/>
            <a:ext cx="7772400" cy="256032"/>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Access control and least privilege</a:t>
            </a:r>
            <a:endParaRPr lang="en-US" sz="1200" dirty="0"/>
          </a:p>
        </p:txBody>
      </p:sp>
      <p:pic>
        <p:nvPicPr>
          <p:cNvPr id="10" name="Image 2" descr="preencoded.png">    </p:cNvPr>
          <p:cNvPicPr>
            <a:picLocks noChangeAspect="1"/>
          </p:cNvPicPr>
          <p:nvPr/>
        </p:nvPicPr>
        <p:blipFill>
          <a:blip r:embed="rId3"/>
          <a:stretch>
            <a:fillRect/>
          </a:stretch>
        </p:blipFill>
        <p:spPr>
          <a:xfrm>
            <a:off x="548640" y="2331720"/>
            <a:ext cx="182880" cy="182880"/>
          </a:xfrm>
          <a:prstGeom prst="rect">
            <a:avLst/>
          </a:prstGeom>
        </p:spPr>
      </p:pic>
      <p:sp>
        <p:nvSpPr>
          <p:cNvPr id="11" name="Text 6"/>
          <p:cNvSpPr/>
          <p:nvPr/>
        </p:nvSpPr>
        <p:spPr>
          <a:xfrm>
            <a:off x="822960" y="2295144"/>
            <a:ext cx="7772400" cy="256032"/>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Audit logging for all state changes</a:t>
            </a:r>
            <a:endParaRPr lang="en-US" sz="1200" dirty="0"/>
          </a:p>
        </p:txBody>
      </p:sp>
      <p:pic>
        <p:nvPicPr>
          <p:cNvPr id="12" name="Image 3" descr="preencoded.png">    </p:cNvPr>
          <p:cNvPicPr>
            <a:picLocks noChangeAspect="1"/>
          </p:cNvPicPr>
          <p:nvPr/>
        </p:nvPicPr>
        <p:blipFill>
          <a:blip r:embed="rId4"/>
          <a:stretch>
            <a:fillRect/>
          </a:stretch>
        </p:blipFill>
        <p:spPr>
          <a:xfrm>
            <a:off x="548640" y="2651760"/>
            <a:ext cx="182880" cy="182880"/>
          </a:xfrm>
          <a:prstGeom prst="rect">
            <a:avLst/>
          </a:prstGeom>
        </p:spPr>
      </p:pic>
      <p:sp>
        <p:nvSpPr>
          <p:cNvPr id="13" name="Text 7"/>
          <p:cNvSpPr/>
          <p:nvPr/>
        </p:nvSpPr>
        <p:spPr>
          <a:xfrm>
            <a:off x="822960" y="2615184"/>
            <a:ext cx="7772400" cy="256032"/>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High availability and disaster recovery</a:t>
            </a:r>
            <a:endParaRPr lang="en-US" sz="1200" dirty="0"/>
          </a:p>
        </p:txBody>
      </p:sp>
      <p:pic>
        <p:nvPicPr>
          <p:cNvPr id="14" name="Image 4" descr="preencoded.png">    </p:cNvPr>
          <p:cNvPicPr>
            <a:picLocks noChangeAspect="1"/>
          </p:cNvPicPr>
          <p:nvPr/>
        </p:nvPicPr>
        <p:blipFill>
          <a:blip r:embed="rId5"/>
          <a:stretch>
            <a:fillRect/>
          </a:stretch>
        </p:blipFill>
        <p:spPr>
          <a:xfrm>
            <a:off x="548640" y="2971800"/>
            <a:ext cx="182880" cy="182880"/>
          </a:xfrm>
          <a:prstGeom prst="rect">
            <a:avLst/>
          </a:prstGeom>
        </p:spPr>
      </p:pic>
      <p:sp>
        <p:nvSpPr>
          <p:cNvPr id="15" name="Text 8"/>
          <p:cNvSpPr/>
          <p:nvPr/>
        </p:nvSpPr>
        <p:spPr>
          <a:xfrm>
            <a:off x="822960" y="2935224"/>
            <a:ext cx="7772400" cy="256032"/>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Code quality and testing standards</a:t>
            </a:r>
            <a:endParaRPr lang="en-US" sz="1200" dirty="0"/>
          </a:p>
        </p:txBody>
      </p:sp>
      <p:sp>
        <p:nvSpPr>
          <p:cNvPr id="16" name="Shape 9"/>
          <p:cNvSpPr/>
          <p:nvPr/>
        </p:nvSpPr>
        <p:spPr>
          <a:xfrm>
            <a:off x="457200" y="3383280"/>
            <a:ext cx="8229600" cy="457200"/>
          </a:xfrm>
          <a:prstGeom prst="rect">
            <a:avLst/>
          </a:prstGeom>
          <a:solidFill>
            <a:srgbClr val="0891B2"/>
          </a:solidFill>
          <a:ln/>
        </p:spPr>
      </p:sp>
      <p:sp>
        <p:nvSpPr>
          <p:cNvPr id="17" name="Text 10"/>
          <p:cNvSpPr/>
          <p:nvPr/>
        </p:nvSpPr>
        <p:spPr>
          <a:xfrm>
            <a:off x="640080" y="3383280"/>
            <a:ext cx="7863840" cy="457200"/>
          </a:xfrm>
          <a:prstGeom prst="rect">
            <a:avLst/>
          </a:prstGeom>
          <a:noFill/>
          <a:ln/>
        </p:spPr>
        <p:txBody>
          <a:bodyPr wrap="square" lIns="0" tIns="0" rIns="0" bIns="0"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NEW AI-ERA STANDARDS NEEDED</a:t>
            </a:r>
            <a:endParaRPr lang="en-US" sz="1400" dirty="0"/>
          </a:p>
        </p:txBody>
      </p:sp>
      <p:pic>
        <p:nvPicPr>
          <p:cNvPr id="18" name="Image 5" descr="preencoded.png">    </p:cNvPr>
          <p:cNvPicPr>
            <a:picLocks noChangeAspect="1"/>
          </p:cNvPicPr>
          <p:nvPr/>
        </p:nvPicPr>
        <p:blipFill>
          <a:blip r:embed="rId6"/>
          <a:stretch>
            <a:fillRect/>
          </a:stretch>
        </p:blipFill>
        <p:spPr>
          <a:xfrm>
            <a:off x="548640" y="3968496"/>
            <a:ext cx="182880" cy="182880"/>
          </a:xfrm>
          <a:prstGeom prst="rect">
            <a:avLst/>
          </a:prstGeom>
        </p:spPr>
      </p:pic>
      <p:sp>
        <p:nvSpPr>
          <p:cNvPr id="19" name="Text 11"/>
          <p:cNvSpPr/>
          <p:nvPr/>
        </p:nvSpPr>
        <p:spPr>
          <a:xfrm>
            <a:off x="822960" y="3941064"/>
            <a:ext cx="7772400" cy="22860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Model approval process — no model goes to production without documented evaluation</a:t>
            </a:r>
            <a:endParaRPr lang="en-US" sz="1100" dirty="0"/>
          </a:p>
        </p:txBody>
      </p:sp>
      <p:pic>
        <p:nvPicPr>
          <p:cNvPr id="20" name="Image 6" descr="preencoded.png">    </p:cNvPr>
          <p:cNvPicPr>
            <a:picLocks noChangeAspect="1"/>
          </p:cNvPicPr>
          <p:nvPr/>
        </p:nvPicPr>
        <p:blipFill>
          <a:blip r:embed="rId7"/>
          <a:stretch>
            <a:fillRect/>
          </a:stretch>
        </p:blipFill>
        <p:spPr>
          <a:xfrm>
            <a:off x="548640" y="4206240"/>
            <a:ext cx="182880" cy="182880"/>
          </a:xfrm>
          <a:prstGeom prst="rect">
            <a:avLst/>
          </a:prstGeom>
        </p:spPr>
      </p:pic>
      <p:sp>
        <p:nvSpPr>
          <p:cNvPr id="21" name="Text 12"/>
          <p:cNvSpPr/>
          <p:nvPr/>
        </p:nvSpPr>
        <p:spPr>
          <a:xfrm>
            <a:off x="822960" y="4178808"/>
            <a:ext cx="7772400" cy="22860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Prompt/response logging — every AI interaction auditable</a:t>
            </a:r>
            <a:endParaRPr lang="en-US" sz="1100" dirty="0"/>
          </a:p>
        </p:txBody>
      </p:sp>
      <p:pic>
        <p:nvPicPr>
          <p:cNvPr id="22" name="Image 7" descr="preencoded.png">    </p:cNvPr>
          <p:cNvPicPr>
            <a:picLocks noChangeAspect="1"/>
          </p:cNvPicPr>
          <p:nvPr/>
        </p:nvPicPr>
        <p:blipFill>
          <a:blip r:embed="rId8"/>
          <a:stretch>
            <a:fillRect/>
          </a:stretch>
        </p:blipFill>
        <p:spPr>
          <a:xfrm>
            <a:off x="548640" y="4443984"/>
            <a:ext cx="182880" cy="182880"/>
          </a:xfrm>
          <a:prstGeom prst="rect">
            <a:avLst/>
          </a:prstGeom>
        </p:spPr>
      </p:pic>
      <p:sp>
        <p:nvSpPr>
          <p:cNvPr id="23" name="Text 13"/>
          <p:cNvSpPr/>
          <p:nvPr/>
        </p:nvSpPr>
        <p:spPr>
          <a:xfrm>
            <a:off x="822960" y="4416552"/>
            <a:ext cx="7772400" cy="22860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AI output validation — mandatory output checking before customer-facing actions</a:t>
            </a:r>
            <a:endParaRPr lang="en-US" sz="1100" dirty="0"/>
          </a:p>
        </p:txBody>
      </p:sp>
      <p:pic>
        <p:nvPicPr>
          <p:cNvPr id="24" name="Image 8" descr="preencoded.png">    </p:cNvPr>
          <p:cNvPicPr>
            <a:picLocks noChangeAspect="1"/>
          </p:cNvPicPr>
          <p:nvPr/>
        </p:nvPicPr>
        <p:blipFill>
          <a:blip r:embed="rId9"/>
          <a:stretch>
            <a:fillRect/>
          </a:stretch>
        </p:blipFill>
        <p:spPr>
          <a:xfrm>
            <a:off x="548640" y="4681728"/>
            <a:ext cx="182880" cy="182880"/>
          </a:xfrm>
          <a:prstGeom prst="rect">
            <a:avLst/>
          </a:prstGeom>
        </p:spPr>
      </p:pic>
      <p:sp>
        <p:nvSpPr>
          <p:cNvPr id="25" name="Text 14"/>
          <p:cNvSpPr/>
          <p:nvPr/>
        </p:nvSpPr>
        <p:spPr>
          <a:xfrm>
            <a:off x="822960" y="4654296"/>
            <a:ext cx="7772400" cy="22860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Autonomy boundary documentation — required in every AI system design</a:t>
            </a:r>
            <a:endParaRPr lang="en-US" sz="1100" dirty="0"/>
          </a:p>
        </p:txBody>
      </p:sp>
      <p:pic>
        <p:nvPicPr>
          <p:cNvPr id="26" name="Image 9" descr="preencoded.png">    </p:cNvPr>
          <p:cNvPicPr>
            <a:picLocks noChangeAspect="1"/>
          </p:cNvPicPr>
          <p:nvPr/>
        </p:nvPicPr>
        <p:blipFill>
          <a:blip r:embed="rId10"/>
          <a:stretch>
            <a:fillRect/>
          </a:stretch>
        </p:blipFill>
        <p:spPr>
          <a:xfrm>
            <a:off x="548640" y="4919472"/>
            <a:ext cx="182880" cy="182880"/>
          </a:xfrm>
          <a:prstGeom prst="rect">
            <a:avLst/>
          </a:prstGeom>
        </p:spPr>
      </p:pic>
      <p:sp>
        <p:nvSpPr>
          <p:cNvPr id="27" name="Text 15"/>
          <p:cNvSpPr/>
          <p:nvPr/>
        </p:nvSpPr>
        <p:spPr>
          <a:xfrm>
            <a:off x="822960" y="4892040"/>
            <a:ext cx="7772400" cy="22860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Responsible AI review — mandatory mapping to ten dimensions before deployment</a:t>
            </a:r>
            <a:endParaRPr lang="en-US" sz="1100" dirty="0"/>
          </a:p>
        </p:txBody>
      </p:sp>
      <p:sp>
        <p:nvSpPr>
          <p:cNvPr id="28" name="Text 16"/>
          <p:cNvSpPr/>
          <p:nvPr/>
        </p:nvSpPr>
        <p:spPr>
          <a:xfrm>
            <a:off x="8229600" y="4800600"/>
            <a:ext cx="73152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14 / 20</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640080" y="228600"/>
            <a:ext cx="7863840" cy="548640"/>
          </a:xfrm>
          <a:prstGeom prst="rect">
            <a:avLst/>
          </a:prstGeom>
          <a:noFill/>
          <a:ln/>
        </p:spPr>
        <p:txBody>
          <a:bodyPr wrap="square" lIns="0" tIns="0" rIns="0" bIns="0" rtlCol="0" anchor="ctr"/>
          <a:lstStyle/>
          <a:p>
            <a:pPr indent="0" marL="0">
              <a:buNone/>
            </a:pPr>
            <a:r>
              <a:rPr lang="en-US" sz="3000" b="1" dirty="0">
                <a:solidFill>
                  <a:srgbClr val="FFFFFF"/>
                </a:solidFill>
                <a:latin typeface="Trebuchet MS" pitchFamily="34" charset="0"/>
                <a:ea typeface="Trebuchet MS" pitchFamily="34" charset="-122"/>
                <a:cs typeface="Trebuchet MS" pitchFamily="34" charset="-120"/>
              </a:rPr>
              <a:t>Human-in-the-Loop — The Data</a:t>
            </a:r>
            <a:endParaRPr lang="en-US" sz="3000" dirty="0"/>
          </a:p>
        </p:txBody>
      </p:sp>
      <p:sp>
        <p:nvSpPr>
          <p:cNvPr id="3" name="Shape 1"/>
          <p:cNvSpPr/>
          <p:nvPr/>
        </p:nvSpPr>
        <p:spPr>
          <a:xfrm>
            <a:off x="457200" y="1188720"/>
            <a:ext cx="1965960" cy="1371600"/>
          </a:xfrm>
          <a:prstGeom prst="rect">
            <a:avLst/>
          </a:prstGeom>
          <a:solidFill>
            <a:srgbClr val="1A2744"/>
          </a:solidFill>
          <a:ln/>
          <a:effectLst>
            <a:outerShdw sx="100000" sy="100000" kx="0" ky="0" algn="bl" rotWithShape="0" blurRad="76200" dist="25400" dir="8100000">
              <a:srgbClr val="000000">
                <a:alpha val="12000"/>
              </a:srgbClr>
            </a:outerShdw>
          </a:effectLst>
        </p:spPr>
      </p:sp>
      <p:sp>
        <p:nvSpPr>
          <p:cNvPr id="4" name="Shape 2"/>
          <p:cNvSpPr/>
          <p:nvPr/>
        </p:nvSpPr>
        <p:spPr>
          <a:xfrm>
            <a:off x="457200" y="1188720"/>
            <a:ext cx="1965960" cy="45720"/>
          </a:xfrm>
          <a:prstGeom prst="rect">
            <a:avLst/>
          </a:prstGeom>
          <a:solidFill>
            <a:srgbClr val="EF4444"/>
          </a:solidFill>
          <a:ln/>
        </p:spPr>
      </p:sp>
      <p:sp>
        <p:nvSpPr>
          <p:cNvPr id="5" name="Text 3"/>
          <p:cNvSpPr/>
          <p:nvPr/>
        </p:nvSpPr>
        <p:spPr>
          <a:xfrm>
            <a:off x="457200" y="1325880"/>
            <a:ext cx="1965960" cy="594360"/>
          </a:xfrm>
          <a:prstGeom prst="rect">
            <a:avLst/>
          </a:prstGeom>
          <a:noFill/>
          <a:ln/>
        </p:spPr>
        <p:txBody>
          <a:bodyPr wrap="square" lIns="0" tIns="0" rIns="0" bIns="0" rtlCol="0" anchor="ctr"/>
          <a:lstStyle/>
          <a:p>
            <a:pPr algn="ctr" indent="0" marL="0">
              <a:buNone/>
            </a:pPr>
            <a:r>
              <a:rPr lang="en-US" sz="3200" b="1" dirty="0">
                <a:solidFill>
                  <a:srgbClr val="EF4444"/>
                </a:solidFill>
                <a:latin typeface="Trebuchet MS" pitchFamily="34" charset="0"/>
                <a:ea typeface="Trebuchet MS" pitchFamily="34" charset="-122"/>
                <a:cs typeface="Trebuchet MS" pitchFamily="34" charset="-120"/>
              </a:rPr>
              <a:t>42%</a:t>
            </a:r>
            <a:endParaRPr lang="en-US" sz="3200" dirty="0"/>
          </a:p>
        </p:txBody>
      </p:sp>
      <p:sp>
        <p:nvSpPr>
          <p:cNvPr id="6" name="Text 4"/>
          <p:cNvSpPr/>
          <p:nvPr/>
        </p:nvSpPr>
        <p:spPr>
          <a:xfrm>
            <a:off x="457200" y="1965960"/>
            <a:ext cx="1965960" cy="502920"/>
          </a:xfrm>
          <a:prstGeom prst="rect">
            <a:avLst/>
          </a:prstGeom>
          <a:noFill/>
          <a:ln/>
        </p:spPr>
        <p:txBody>
          <a:bodyPr wrap="square" lIns="0" tIns="0" rIns="0" bIns="0" rtlCol="0" anchor="ctr"/>
          <a:lstStyle/>
          <a:p>
            <a:pPr algn="ctr" indent="0" marL="0">
              <a:buNone/>
            </a:pPr>
            <a:r>
              <a:rPr lang="en-US" sz="1050" dirty="0">
                <a:solidFill>
                  <a:srgbClr val="E0F2FE"/>
                </a:solidFill>
                <a:latin typeface="Calibri" pitchFamily="34" charset="0"/>
                <a:ea typeface="Calibri" pitchFamily="34" charset="-122"/>
                <a:cs typeface="Calibri" pitchFamily="34" charset="-120"/>
              </a:rPr>
              <a:t>of companies abandoned</a:t>
            </a:r>
            <a:endParaRPr lang="en-US" sz="1050" dirty="0"/>
          </a:p>
          <a:p>
            <a:pPr algn="ctr" indent="0" marL="0">
              <a:buNone/>
            </a:pPr>
            <a:r>
              <a:rPr lang="en-US" sz="1050" dirty="0">
                <a:solidFill>
                  <a:srgbClr val="E0F2FE"/>
                </a:solidFill>
                <a:latin typeface="Calibri" pitchFamily="34" charset="0"/>
                <a:ea typeface="Calibri" pitchFamily="34" charset="-122"/>
                <a:cs typeface="Calibri" pitchFamily="34" charset="-120"/>
              </a:rPr>
              <a:t>AI initiatives in 2025</a:t>
            </a:r>
            <a:endParaRPr lang="en-US" sz="1050" dirty="0"/>
          </a:p>
        </p:txBody>
      </p:sp>
      <p:sp>
        <p:nvSpPr>
          <p:cNvPr id="7" name="Shape 5"/>
          <p:cNvSpPr/>
          <p:nvPr/>
        </p:nvSpPr>
        <p:spPr>
          <a:xfrm>
            <a:off x="2606040" y="1188720"/>
            <a:ext cx="1965960" cy="1371600"/>
          </a:xfrm>
          <a:prstGeom prst="rect">
            <a:avLst/>
          </a:prstGeom>
          <a:solidFill>
            <a:srgbClr val="1A2744"/>
          </a:solidFill>
          <a:ln/>
          <a:effectLst>
            <a:outerShdw sx="100000" sy="100000" kx="0" ky="0" algn="bl" rotWithShape="0" blurRad="76200" dist="25400" dir="8100000">
              <a:srgbClr val="000000">
                <a:alpha val="12000"/>
              </a:srgbClr>
            </a:outerShdw>
          </a:effectLst>
        </p:spPr>
      </p:sp>
      <p:sp>
        <p:nvSpPr>
          <p:cNvPr id="8" name="Shape 6"/>
          <p:cNvSpPr/>
          <p:nvPr/>
        </p:nvSpPr>
        <p:spPr>
          <a:xfrm>
            <a:off x="2606040" y="1188720"/>
            <a:ext cx="1965960" cy="45720"/>
          </a:xfrm>
          <a:prstGeom prst="rect">
            <a:avLst/>
          </a:prstGeom>
          <a:solidFill>
            <a:srgbClr val="10B981"/>
          </a:solidFill>
          <a:ln/>
        </p:spPr>
      </p:sp>
      <p:sp>
        <p:nvSpPr>
          <p:cNvPr id="9" name="Text 7"/>
          <p:cNvSpPr/>
          <p:nvPr/>
        </p:nvSpPr>
        <p:spPr>
          <a:xfrm>
            <a:off x="2606040" y="1325880"/>
            <a:ext cx="1965960" cy="594360"/>
          </a:xfrm>
          <a:prstGeom prst="rect">
            <a:avLst/>
          </a:prstGeom>
          <a:noFill/>
          <a:ln/>
        </p:spPr>
        <p:txBody>
          <a:bodyPr wrap="square" lIns="0" tIns="0" rIns="0" bIns="0" rtlCol="0" anchor="ctr"/>
          <a:lstStyle/>
          <a:p>
            <a:pPr algn="ctr" indent="0" marL="0">
              <a:buNone/>
            </a:pPr>
            <a:r>
              <a:rPr lang="en-US" sz="3200" b="1" dirty="0">
                <a:solidFill>
                  <a:srgbClr val="10B981"/>
                </a:solidFill>
                <a:latin typeface="Trebuchet MS" pitchFamily="34" charset="0"/>
                <a:ea typeface="Trebuchet MS" pitchFamily="34" charset="-122"/>
                <a:cs typeface="Trebuchet MS" pitchFamily="34" charset="-120"/>
              </a:rPr>
              <a:t>96%</a:t>
            </a:r>
            <a:endParaRPr lang="en-US" sz="3200" dirty="0"/>
          </a:p>
        </p:txBody>
      </p:sp>
      <p:sp>
        <p:nvSpPr>
          <p:cNvPr id="10" name="Text 8"/>
          <p:cNvSpPr/>
          <p:nvPr/>
        </p:nvSpPr>
        <p:spPr>
          <a:xfrm>
            <a:off x="2606040" y="1965960"/>
            <a:ext cx="1965960" cy="502920"/>
          </a:xfrm>
          <a:prstGeom prst="rect">
            <a:avLst/>
          </a:prstGeom>
          <a:noFill/>
          <a:ln/>
        </p:spPr>
        <p:txBody>
          <a:bodyPr wrap="square" lIns="0" tIns="0" rIns="0" bIns="0" rtlCol="0" anchor="ctr"/>
          <a:lstStyle/>
          <a:p>
            <a:pPr algn="ctr" indent="0" marL="0">
              <a:buNone/>
            </a:pPr>
            <a:r>
              <a:rPr lang="en-US" sz="1050" dirty="0">
                <a:solidFill>
                  <a:srgbClr val="E0F2FE"/>
                </a:solidFill>
                <a:latin typeface="Calibri" pitchFamily="34" charset="0"/>
                <a:ea typeface="Calibri" pitchFamily="34" charset="-122"/>
                <a:cs typeface="Calibri" pitchFamily="34" charset="-120"/>
              </a:rPr>
              <a:t>accuracy with HITL</a:t>
            </a:r>
            <a:endParaRPr lang="en-US" sz="1050" dirty="0"/>
          </a:p>
          <a:p>
            <a:pPr algn="ctr" indent="0" marL="0">
              <a:buNone/>
            </a:pPr>
            <a:r>
              <a:rPr lang="en-US" sz="1050" dirty="0">
                <a:solidFill>
                  <a:srgbClr val="E0F2FE"/>
                </a:solidFill>
                <a:latin typeface="Calibri" pitchFamily="34" charset="0"/>
                <a:ea typeface="Calibri" pitchFamily="34" charset="-122"/>
                <a:cs typeface="Calibri" pitchFamily="34" charset="-120"/>
              </a:rPr>
              <a:t>vs 71% without</a:t>
            </a:r>
            <a:endParaRPr lang="en-US" sz="1050" dirty="0"/>
          </a:p>
        </p:txBody>
      </p:sp>
      <p:sp>
        <p:nvSpPr>
          <p:cNvPr id="11" name="Shape 9"/>
          <p:cNvSpPr/>
          <p:nvPr/>
        </p:nvSpPr>
        <p:spPr>
          <a:xfrm>
            <a:off x="4754880" y="1188720"/>
            <a:ext cx="1965960" cy="1371600"/>
          </a:xfrm>
          <a:prstGeom prst="rect">
            <a:avLst/>
          </a:prstGeom>
          <a:solidFill>
            <a:srgbClr val="1A2744"/>
          </a:solidFill>
          <a:ln/>
          <a:effectLst>
            <a:outerShdw sx="100000" sy="100000" kx="0" ky="0" algn="bl" rotWithShape="0" blurRad="76200" dist="25400" dir="8100000">
              <a:srgbClr val="000000">
                <a:alpha val="12000"/>
              </a:srgbClr>
            </a:outerShdw>
          </a:effectLst>
        </p:spPr>
      </p:sp>
      <p:sp>
        <p:nvSpPr>
          <p:cNvPr id="12" name="Shape 10"/>
          <p:cNvSpPr/>
          <p:nvPr/>
        </p:nvSpPr>
        <p:spPr>
          <a:xfrm>
            <a:off x="4754880" y="1188720"/>
            <a:ext cx="1965960" cy="45720"/>
          </a:xfrm>
          <a:prstGeom prst="rect">
            <a:avLst/>
          </a:prstGeom>
          <a:solidFill>
            <a:srgbClr val="0891B2"/>
          </a:solidFill>
          <a:ln/>
        </p:spPr>
      </p:sp>
      <p:sp>
        <p:nvSpPr>
          <p:cNvPr id="13" name="Text 11"/>
          <p:cNvSpPr/>
          <p:nvPr/>
        </p:nvSpPr>
        <p:spPr>
          <a:xfrm>
            <a:off x="4754880" y="1325880"/>
            <a:ext cx="1965960" cy="594360"/>
          </a:xfrm>
          <a:prstGeom prst="rect">
            <a:avLst/>
          </a:prstGeom>
          <a:noFill/>
          <a:ln/>
        </p:spPr>
        <p:txBody>
          <a:bodyPr wrap="square" lIns="0" tIns="0" rIns="0" bIns="0" rtlCol="0" anchor="ctr"/>
          <a:lstStyle/>
          <a:p>
            <a:pPr algn="ctr" indent="0" marL="0">
              <a:buNone/>
            </a:pPr>
            <a:r>
              <a:rPr lang="en-US" sz="3200" b="1" dirty="0">
                <a:solidFill>
                  <a:srgbClr val="0891B2"/>
                </a:solidFill>
                <a:latin typeface="Trebuchet MS" pitchFamily="34" charset="0"/>
                <a:ea typeface="Trebuchet MS" pitchFamily="34" charset="-122"/>
                <a:cs typeface="Trebuchet MS" pitchFamily="34" charset="-120"/>
              </a:rPr>
              <a:t>$3.70</a:t>
            </a:r>
            <a:endParaRPr lang="en-US" sz="3200" dirty="0"/>
          </a:p>
        </p:txBody>
      </p:sp>
      <p:sp>
        <p:nvSpPr>
          <p:cNvPr id="14" name="Text 12"/>
          <p:cNvSpPr/>
          <p:nvPr/>
        </p:nvSpPr>
        <p:spPr>
          <a:xfrm>
            <a:off x="4754880" y="1965960"/>
            <a:ext cx="1965960" cy="502920"/>
          </a:xfrm>
          <a:prstGeom prst="rect">
            <a:avLst/>
          </a:prstGeom>
          <a:noFill/>
          <a:ln/>
        </p:spPr>
        <p:txBody>
          <a:bodyPr wrap="square" lIns="0" tIns="0" rIns="0" bIns="0" rtlCol="0" anchor="ctr"/>
          <a:lstStyle/>
          <a:p>
            <a:pPr algn="ctr" indent="0" marL="0">
              <a:buNone/>
            </a:pPr>
            <a:r>
              <a:rPr lang="en-US" sz="1050" dirty="0">
                <a:solidFill>
                  <a:srgbClr val="E0F2FE"/>
                </a:solidFill>
                <a:latin typeface="Calibri" pitchFamily="34" charset="0"/>
                <a:ea typeface="Calibri" pitchFamily="34" charset="-122"/>
                <a:cs typeface="Calibri" pitchFamily="34" charset="-120"/>
              </a:rPr>
              <a:t>value per $1 invested</a:t>
            </a:r>
            <a:endParaRPr lang="en-US" sz="1050" dirty="0"/>
          </a:p>
          <a:p>
            <a:pPr algn="ctr" indent="0" marL="0">
              <a:buNone/>
            </a:pPr>
            <a:r>
              <a:rPr lang="en-US" sz="1050" dirty="0">
                <a:solidFill>
                  <a:srgbClr val="E0F2FE"/>
                </a:solidFill>
                <a:latin typeface="Calibri" pitchFamily="34" charset="0"/>
                <a:ea typeface="Calibri" pitchFamily="34" charset="-122"/>
                <a:cs typeface="Calibri" pitchFamily="34" charset="-120"/>
              </a:rPr>
              <a:t>with HITL governance</a:t>
            </a:r>
            <a:endParaRPr lang="en-US" sz="1050" dirty="0"/>
          </a:p>
        </p:txBody>
      </p:sp>
      <p:sp>
        <p:nvSpPr>
          <p:cNvPr id="15" name="Shape 13"/>
          <p:cNvSpPr/>
          <p:nvPr/>
        </p:nvSpPr>
        <p:spPr>
          <a:xfrm>
            <a:off x="6903720" y="1188720"/>
            <a:ext cx="1965960" cy="1371600"/>
          </a:xfrm>
          <a:prstGeom prst="rect">
            <a:avLst/>
          </a:prstGeom>
          <a:solidFill>
            <a:srgbClr val="1A2744"/>
          </a:solidFill>
          <a:ln/>
          <a:effectLst>
            <a:outerShdw sx="100000" sy="100000" kx="0" ky="0" algn="bl" rotWithShape="0" blurRad="76200" dist="25400" dir="8100000">
              <a:srgbClr val="000000">
                <a:alpha val="12000"/>
              </a:srgbClr>
            </a:outerShdw>
          </a:effectLst>
        </p:spPr>
      </p:sp>
      <p:sp>
        <p:nvSpPr>
          <p:cNvPr id="16" name="Shape 14"/>
          <p:cNvSpPr/>
          <p:nvPr/>
        </p:nvSpPr>
        <p:spPr>
          <a:xfrm>
            <a:off x="6903720" y="1188720"/>
            <a:ext cx="1965960" cy="45720"/>
          </a:xfrm>
          <a:prstGeom prst="rect">
            <a:avLst/>
          </a:prstGeom>
          <a:solidFill>
            <a:srgbClr val="F59E0B"/>
          </a:solidFill>
          <a:ln/>
        </p:spPr>
      </p:sp>
      <p:sp>
        <p:nvSpPr>
          <p:cNvPr id="17" name="Text 15"/>
          <p:cNvSpPr/>
          <p:nvPr/>
        </p:nvSpPr>
        <p:spPr>
          <a:xfrm>
            <a:off x="6903720" y="1325880"/>
            <a:ext cx="1965960" cy="594360"/>
          </a:xfrm>
          <a:prstGeom prst="rect">
            <a:avLst/>
          </a:prstGeom>
          <a:noFill/>
          <a:ln/>
        </p:spPr>
        <p:txBody>
          <a:bodyPr wrap="square" lIns="0" tIns="0" rIns="0" bIns="0" rtlCol="0" anchor="ctr"/>
          <a:lstStyle/>
          <a:p>
            <a:pPr algn="ctr" indent="0" marL="0">
              <a:buNone/>
            </a:pPr>
            <a:r>
              <a:rPr lang="en-US" sz="3200" b="1" dirty="0">
                <a:solidFill>
                  <a:srgbClr val="F59E0B"/>
                </a:solidFill>
                <a:latin typeface="Trebuchet MS" pitchFamily="34" charset="0"/>
                <a:ea typeface="Trebuchet MS" pitchFamily="34" charset="-122"/>
                <a:cs typeface="Trebuchet MS" pitchFamily="34" charset="-120"/>
              </a:rPr>
              <a:t>210%</a:t>
            </a:r>
            <a:endParaRPr lang="en-US" sz="3200" dirty="0"/>
          </a:p>
        </p:txBody>
      </p:sp>
      <p:sp>
        <p:nvSpPr>
          <p:cNvPr id="18" name="Text 16"/>
          <p:cNvSpPr/>
          <p:nvPr/>
        </p:nvSpPr>
        <p:spPr>
          <a:xfrm>
            <a:off x="6903720" y="1965960"/>
            <a:ext cx="1965960" cy="502920"/>
          </a:xfrm>
          <a:prstGeom prst="rect">
            <a:avLst/>
          </a:prstGeom>
          <a:noFill/>
          <a:ln/>
        </p:spPr>
        <p:txBody>
          <a:bodyPr wrap="square" lIns="0" tIns="0" rIns="0" bIns="0" rtlCol="0" anchor="ctr"/>
          <a:lstStyle/>
          <a:p>
            <a:pPr algn="ctr" indent="0" marL="0">
              <a:buNone/>
            </a:pPr>
            <a:r>
              <a:rPr lang="en-US" sz="1050" dirty="0">
                <a:solidFill>
                  <a:srgbClr val="E0F2FE"/>
                </a:solidFill>
                <a:latin typeface="Calibri" pitchFamily="34" charset="0"/>
                <a:ea typeface="Calibri" pitchFamily="34" charset="-122"/>
                <a:cs typeface="Calibri" pitchFamily="34" charset="-120"/>
              </a:rPr>
              <a:t>ROI over 3 years with</a:t>
            </a:r>
            <a:endParaRPr lang="en-US" sz="1050" dirty="0"/>
          </a:p>
          <a:p>
            <a:pPr algn="ctr" indent="0" marL="0">
              <a:buNone/>
            </a:pPr>
            <a:r>
              <a:rPr lang="en-US" sz="1050" dirty="0">
                <a:solidFill>
                  <a:srgbClr val="E0F2FE"/>
                </a:solidFill>
                <a:latin typeface="Calibri" pitchFamily="34" charset="0"/>
                <a:ea typeface="Calibri" pitchFamily="34" charset="-122"/>
                <a:cs typeface="Calibri" pitchFamily="34" charset="-120"/>
              </a:rPr>
              <a:t>well-executed AI + HITL</a:t>
            </a:r>
            <a:endParaRPr lang="en-US" sz="1050" dirty="0"/>
          </a:p>
        </p:txBody>
      </p:sp>
      <p:sp>
        <p:nvSpPr>
          <p:cNvPr id="19" name="Text 17"/>
          <p:cNvSpPr/>
          <p:nvPr/>
        </p:nvSpPr>
        <p:spPr>
          <a:xfrm>
            <a:off x="640080" y="2880360"/>
            <a:ext cx="7315200" cy="320040"/>
          </a:xfrm>
          <a:prstGeom prst="rect">
            <a:avLst/>
          </a:prstGeom>
          <a:noFill/>
          <a:ln/>
        </p:spPr>
        <p:txBody>
          <a:bodyPr wrap="square" lIns="0" tIns="0" rIns="0" bIns="0" rtlCol="0" anchor="ctr"/>
          <a:lstStyle/>
          <a:p>
            <a:pPr indent="0" marL="0">
              <a:buNone/>
            </a:pPr>
            <a:r>
              <a:rPr lang="en-US" sz="1600" b="1" dirty="0">
                <a:solidFill>
                  <a:srgbClr val="FFFFFF"/>
                </a:solidFill>
                <a:latin typeface="Trebuchet MS" pitchFamily="34" charset="0"/>
                <a:ea typeface="Trebuchet MS" pitchFamily="34" charset="-122"/>
                <a:cs typeface="Trebuchet MS" pitchFamily="34" charset="-120"/>
              </a:rPr>
              <a:t>Regulation is making HITL mandatory:</a:t>
            </a:r>
            <a:endParaRPr lang="en-US" sz="1600" dirty="0"/>
          </a:p>
        </p:txBody>
      </p:sp>
      <p:sp>
        <p:nvSpPr>
          <p:cNvPr id="20" name="Text 18"/>
          <p:cNvSpPr/>
          <p:nvPr/>
        </p:nvSpPr>
        <p:spPr>
          <a:xfrm>
            <a:off x="640080" y="3291840"/>
            <a:ext cx="1828800" cy="320040"/>
          </a:xfrm>
          <a:prstGeom prst="rect">
            <a:avLst/>
          </a:prstGeom>
          <a:noFill/>
          <a:ln/>
        </p:spPr>
        <p:txBody>
          <a:bodyPr wrap="square" lIns="0" tIns="0" rIns="0" bIns="0" rtlCol="0" anchor="ctr"/>
          <a:lstStyle/>
          <a:p>
            <a:pPr indent="0" marL="0">
              <a:buNone/>
            </a:pPr>
            <a:r>
              <a:rPr lang="en-US" sz="1200" b="1" dirty="0">
                <a:solidFill>
                  <a:srgbClr val="22D3EE"/>
                </a:solidFill>
                <a:latin typeface="Calibri" pitchFamily="34" charset="0"/>
                <a:ea typeface="Calibri" pitchFamily="34" charset="-122"/>
                <a:cs typeface="Calibri" pitchFamily="34" charset="-120"/>
              </a:rPr>
              <a:t>EU AI Act</a:t>
            </a:r>
            <a:endParaRPr lang="en-US" sz="1200" dirty="0"/>
          </a:p>
        </p:txBody>
      </p:sp>
      <p:sp>
        <p:nvSpPr>
          <p:cNvPr id="21" name="Text 19"/>
          <p:cNvSpPr/>
          <p:nvPr/>
        </p:nvSpPr>
        <p:spPr>
          <a:xfrm>
            <a:off x="2560320" y="3291840"/>
            <a:ext cx="5943600" cy="320040"/>
          </a:xfrm>
          <a:prstGeom prst="rect">
            <a:avLst/>
          </a:prstGeom>
          <a:noFill/>
          <a:ln/>
        </p:spPr>
        <p:txBody>
          <a:bodyPr wrap="square" lIns="0" tIns="0" rIns="0" bIns="0" rtlCol="0" anchor="ctr"/>
          <a:lstStyle/>
          <a:p>
            <a:pPr indent="0" marL="0">
              <a:buNone/>
            </a:pPr>
            <a:r>
              <a:rPr lang="en-US" sz="1150" dirty="0">
                <a:solidFill>
                  <a:srgbClr val="E0F2FE"/>
                </a:solidFill>
                <a:latin typeface="Calibri" pitchFamily="34" charset="0"/>
                <a:ea typeface="Calibri" pitchFamily="34" charset="-122"/>
                <a:cs typeface="Calibri" pitchFamily="34" charset="-120"/>
              </a:rPr>
              <a:t>Human oversight required for high-risk AI. Full enforcement 2026.</a:t>
            </a:r>
            <a:endParaRPr lang="en-US" sz="1150" dirty="0"/>
          </a:p>
        </p:txBody>
      </p:sp>
      <p:sp>
        <p:nvSpPr>
          <p:cNvPr id="22" name="Text 20"/>
          <p:cNvSpPr/>
          <p:nvPr/>
        </p:nvSpPr>
        <p:spPr>
          <a:xfrm>
            <a:off x="640080" y="3721608"/>
            <a:ext cx="1828800" cy="320040"/>
          </a:xfrm>
          <a:prstGeom prst="rect">
            <a:avLst/>
          </a:prstGeom>
          <a:noFill/>
          <a:ln/>
        </p:spPr>
        <p:txBody>
          <a:bodyPr wrap="square" lIns="0" tIns="0" rIns="0" bIns="0" rtlCol="0" anchor="ctr"/>
          <a:lstStyle/>
          <a:p>
            <a:pPr indent="0" marL="0">
              <a:buNone/>
            </a:pPr>
            <a:r>
              <a:rPr lang="en-US" sz="1200" b="1" dirty="0">
                <a:solidFill>
                  <a:srgbClr val="22D3EE"/>
                </a:solidFill>
                <a:latin typeface="Calibri" pitchFamily="34" charset="0"/>
                <a:ea typeface="Calibri" pitchFamily="34" charset="-122"/>
                <a:cs typeface="Calibri" pitchFamily="34" charset="-120"/>
              </a:rPr>
              <a:t>GDPR Art. 22</a:t>
            </a:r>
            <a:endParaRPr lang="en-US" sz="1200" dirty="0"/>
          </a:p>
        </p:txBody>
      </p:sp>
      <p:sp>
        <p:nvSpPr>
          <p:cNvPr id="23" name="Text 21"/>
          <p:cNvSpPr/>
          <p:nvPr/>
        </p:nvSpPr>
        <p:spPr>
          <a:xfrm>
            <a:off x="2560320" y="3721608"/>
            <a:ext cx="5943600" cy="320040"/>
          </a:xfrm>
          <a:prstGeom prst="rect">
            <a:avLst/>
          </a:prstGeom>
          <a:noFill/>
          <a:ln/>
        </p:spPr>
        <p:txBody>
          <a:bodyPr wrap="square" lIns="0" tIns="0" rIns="0" bIns="0" rtlCol="0" anchor="ctr"/>
          <a:lstStyle/>
          <a:p>
            <a:pPr indent="0" marL="0">
              <a:buNone/>
            </a:pPr>
            <a:r>
              <a:rPr lang="en-US" sz="1150" dirty="0">
                <a:solidFill>
                  <a:srgbClr val="E0F2FE"/>
                </a:solidFill>
                <a:latin typeface="Calibri" pitchFamily="34" charset="0"/>
                <a:ea typeface="Calibri" pitchFamily="34" charset="-122"/>
                <a:cs typeface="Calibri" pitchFamily="34" charset="-120"/>
              </a:rPr>
              <a:t>Right to human intervention in automated decisions.</a:t>
            </a:r>
            <a:endParaRPr lang="en-US" sz="1150" dirty="0"/>
          </a:p>
        </p:txBody>
      </p:sp>
      <p:sp>
        <p:nvSpPr>
          <p:cNvPr id="24" name="Text 22"/>
          <p:cNvSpPr/>
          <p:nvPr/>
        </p:nvSpPr>
        <p:spPr>
          <a:xfrm>
            <a:off x="640080" y="4151376"/>
            <a:ext cx="1828800" cy="320040"/>
          </a:xfrm>
          <a:prstGeom prst="rect">
            <a:avLst/>
          </a:prstGeom>
          <a:noFill/>
          <a:ln/>
        </p:spPr>
        <p:txBody>
          <a:bodyPr wrap="square" lIns="0" tIns="0" rIns="0" bIns="0" rtlCol="0" anchor="ctr"/>
          <a:lstStyle/>
          <a:p>
            <a:pPr indent="0" marL="0">
              <a:buNone/>
            </a:pPr>
            <a:r>
              <a:rPr lang="en-US" sz="1200" b="1" dirty="0">
                <a:solidFill>
                  <a:srgbClr val="22D3EE"/>
                </a:solidFill>
                <a:latin typeface="Calibri" pitchFamily="34" charset="0"/>
                <a:ea typeface="Calibri" pitchFamily="34" charset="-122"/>
                <a:cs typeface="Calibri" pitchFamily="34" charset="-120"/>
              </a:rPr>
              <a:t>US Fed guidance</a:t>
            </a:r>
            <a:endParaRPr lang="en-US" sz="1200" dirty="0"/>
          </a:p>
        </p:txBody>
      </p:sp>
      <p:sp>
        <p:nvSpPr>
          <p:cNvPr id="25" name="Text 23"/>
          <p:cNvSpPr/>
          <p:nvPr/>
        </p:nvSpPr>
        <p:spPr>
          <a:xfrm>
            <a:off x="2560320" y="4151376"/>
            <a:ext cx="5943600" cy="320040"/>
          </a:xfrm>
          <a:prstGeom prst="rect">
            <a:avLst/>
          </a:prstGeom>
          <a:noFill/>
          <a:ln/>
        </p:spPr>
        <p:txBody>
          <a:bodyPr wrap="square" lIns="0" tIns="0" rIns="0" bIns="0" rtlCol="0" anchor="ctr"/>
          <a:lstStyle/>
          <a:p>
            <a:pPr indent="0" marL="0">
              <a:buNone/>
            </a:pPr>
            <a:r>
              <a:rPr lang="en-US" sz="1150" dirty="0">
                <a:solidFill>
                  <a:srgbClr val="E0F2FE"/>
                </a:solidFill>
                <a:latin typeface="Calibri" pitchFamily="34" charset="0"/>
                <a:ea typeface="Calibri" pitchFamily="34" charset="-122"/>
                <a:cs typeface="Calibri" pitchFamily="34" charset="-120"/>
              </a:rPr>
              <a:t>Model risk management frameworks expect documented human controls.</a:t>
            </a:r>
            <a:endParaRPr lang="en-US" sz="1150" dirty="0"/>
          </a:p>
        </p:txBody>
      </p:sp>
      <p:sp>
        <p:nvSpPr>
          <p:cNvPr id="26" name="Text 24"/>
          <p:cNvSpPr/>
          <p:nvPr/>
        </p:nvSpPr>
        <p:spPr>
          <a:xfrm>
            <a:off x="640080" y="4581144"/>
            <a:ext cx="1828800" cy="320040"/>
          </a:xfrm>
          <a:prstGeom prst="rect">
            <a:avLst/>
          </a:prstGeom>
          <a:noFill/>
          <a:ln/>
        </p:spPr>
        <p:txBody>
          <a:bodyPr wrap="square" lIns="0" tIns="0" rIns="0" bIns="0" rtlCol="0" anchor="ctr"/>
          <a:lstStyle/>
          <a:p>
            <a:pPr indent="0" marL="0">
              <a:buNone/>
            </a:pPr>
            <a:r>
              <a:rPr lang="en-US" sz="1200" b="1" dirty="0">
                <a:solidFill>
                  <a:srgbClr val="22D3EE"/>
                </a:solidFill>
                <a:latin typeface="Calibri" pitchFamily="34" charset="0"/>
                <a:ea typeface="Calibri" pitchFamily="34" charset="-122"/>
                <a:cs typeface="Calibri" pitchFamily="34" charset="-120"/>
              </a:rPr>
              <a:t>Only 25%</a:t>
            </a:r>
            <a:endParaRPr lang="en-US" sz="1200" dirty="0"/>
          </a:p>
        </p:txBody>
      </p:sp>
      <p:sp>
        <p:nvSpPr>
          <p:cNvPr id="27" name="Text 25"/>
          <p:cNvSpPr/>
          <p:nvPr/>
        </p:nvSpPr>
        <p:spPr>
          <a:xfrm>
            <a:off x="2560320" y="4581144"/>
            <a:ext cx="5943600" cy="320040"/>
          </a:xfrm>
          <a:prstGeom prst="rect">
            <a:avLst/>
          </a:prstGeom>
          <a:noFill/>
          <a:ln/>
        </p:spPr>
        <p:txBody>
          <a:bodyPr wrap="square" lIns="0" tIns="0" rIns="0" bIns="0" rtlCol="0" anchor="ctr"/>
          <a:lstStyle/>
          <a:p>
            <a:pPr indent="0" marL="0">
              <a:buNone/>
            </a:pPr>
            <a:r>
              <a:rPr lang="en-US" sz="1150" dirty="0">
                <a:solidFill>
                  <a:srgbClr val="E0F2FE"/>
                </a:solidFill>
                <a:latin typeface="Calibri" pitchFamily="34" charset="0"/>
                <a:ea typeface="Calibri" pitchFamily="34" charset="-122"/>
                <a:cs typeface="Calibri" pitchFamily="34" charset="-120"/>
              </a:rPr>
              <a:t>of organizations have fully implemented AI governance programs.</a:t>
            </a:r>
            <a:endParaRPr lang="en-US" sz="1150" dirty="0"/>
          </a:p>
        </p:txBody>
      </p:sp>
      <p:sp>
        <p:nvSpPr>
          <p:cNvPr id="28" name="Text 26"/>
          <p:cNvSpPr/>
          <p:nvPr/>
        </p:nvSpPr>
        <p:spPr>
          <a:xfrm>
            <a:off x="8229600" y="4800600"/>
            <a:ext cx="73152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15 / 20</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640080" y="228600"/>
            <a:ext cx="7863840" cy="548640"/>
          </a:xfrm>
          <a:prstGeom prst="rect">
            <a:avLst/>
          </a:prstGeom>
          <a:noFill/>
          <a:ln/>
        </p:spPr>
        <p:txBody>
          <a:bodyPr wrap="square" lIns="0" tIns="0" rIns="0" bIns="0" rtlCol="0" anchor="ctr"/>
          <a:lstStyle/>
          <a:p>
            <a:pPr indent="0" marL="0">
              <a:buNone/>
            </a:pPr>
            <a:r>
              <a:rPr lang="en-US" sz="3000" b="1" dirty="0">
                <a:solidFill>
                  <a:srgbClr val="0A1628"/>
                </a:solidFill>
                <a:latin typeface="Trebuchet MS" pitchFamily="34" charset="0"/>
                <a:ea typeface="Trebuchet MS" pitchFamily="34" charset="-122"/>
                <a:cs typeface="Trebuchet MS" pitchFamily="34" charset="-120"/>
              </a:rPr>
              <a:t>HITL Architectural Patterns</a:t>
            </a:r>
            <a:endParaRPr lang="en-US" sz="3000" dirty="0"/>
          </a:p>
        </p:txBody>
      </p:sp>
      <p:sp>
        <p:nvSpPr>
          <p:cNvPr id="3" name="Text 1"/>
          <p:cNvSpPr/>
          <p:nvPr/>
        </p:nvSpPr>
        <p:spPr>
          <a:xfrm>
            <a:off x="640080" y="777240"/>
            <a:ext cx="6400800" cy="32004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Concrete patterns for our systems</a:t>
            </a:r>
            <a:endParaRPr lang="en-US" sz="1300" dirty="0"/>
          </a:p>
        </p:txBody>
      </p:sp>
      <p:sp>
        <p:nvSpPr>
          <p:cNvPr id="4" name="Shape 2"/>
          <p:cNvSpPr/>
          <p:nvPr/>
        </p:nvSpPr>
        <p:spPr>
          <a:xfrm>
            <a:off x="457200" y="1097280"/>
            <a:ext cx="4023360" cy="1554480"/>
          </a:xfrm>
          <a:prstGeom prst="rect">
            <a:avLst/>
          </a:prstGeom>
          <a:solidFill>
            <a:srgbClr val="FFFFFF"/>
          </a:solidFill>
          <a:ln/>
          <a:effectLst>
            <a:outerShdw sx="100000" sy="100000" kx="0" ky="0" algn="bl" rotWithShape="0" blurRad="76200" dist="25400" dir="8100000">
              <a:srgbClr val="000000">
                <a:alpha val="12000"/>
              </a:srgbClr>
            </a:outerShdw>
          </a:effectLst>
        </p:spPr>
      </p:sp>
      <p:pic>
        <p:nvPicPr>
          <p:cNvPr id="5" name="Image 0" descr="preencoded.png">    </p:cNvPr>
          <p:cNvPicPr>
            <a:picLocks noChangeAspect="1"/>
          </p:cNvPicPr>
          <p:nvPr/>
        </p:nvPicPr>
        <p:blipFill>
          <a:blip r:embed="rId1"/>
          <a:stretch>
            <a:fillRect/>
          </a:stretch>
        </p:blipFill>
        <p:spPr>
          <a:xfrm>
            <a:off x="640080" y="1280160"/>
            <a:ext cx="365760" cy="365760"/>
          </a:xfrm>
          <a:prstGeom prst="rect">
            <a:avLst/>
          </a:prstGeom>
        </p:spPr>
      </p:pic>
      <p:sp>
        <p:nvSpPr>
          <p:cNvPr id="6" name="Text 3"/>
          <p:cNvSpPr/>
          <p:nvPr/>
        </p:nvSpPr>
        <p:spPr>
          <a:xfrm>
            <a:off x="1097280" y="1234440"/>
            <a:ext cx="3108960" cy="320040"/>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Approval Gates</a:t>
            </a:r>
            <a:endParaRPr lang="en-US" sz="1500" dirty="0"/>
          </a:p>
        </p:txBody>
      </p:sp>
      <p:sp>
        <p:nvSpPr>
          <p:cNvPr id="7" name="Text 4"/>
          <p:cNvSpPr/>
          <p:nvPr/>
        </p:nvSpPr>
        <p:spPr>
          <a:xfrm>
            <a:off x="640080" y="1691640"/>
            <a:ext cx="3657600" cy="82296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Database-layer checkpoints where AI outputs are staged for human review before execution. For agentic systems — non-negotiable.</a:t>
            </a:r>
            <a:endParaRPr lang="en-US" sz="1150" dirty="0"/>
          </a:p>
        </p:txBody>
      </p:sp>
      <p:sp>
        <p:nvSpPr>
          <p:cNvPr id="8" name="Shape 5"/>
          <p:cNvSpPr/>
          <p:nvPr/>
        </p:nvSpPr>
        <p:spPr>
          <a:xfrm>
            <a:off x="4754880" y="1097280"/>
            <a:ext cx="4023360" cy="1554480"/>
          </a:xfrm>
          <a:prstGeom prst="rect">
            <a:avLst/>
          </a:prstGeom>
          <a:solidFill>
            <a:srgbClr val="FFFFFF"/>
          </a:solidFill>
          <a:ln/>
          <a:effectLst>
            <a:outerShdw sx="100000" sy="100000" kx="0" ky="0" algn="bl" rotWithShape="0" blurRad="76200" dist="25400" dir="8100000">
              <a:srgbClr val="000000">
                <a:alpha val="12000"/>
              </a:srgbClr>
            </a:outerShdw>
          </a:effectLst>
        </p:spPr>
      </p:sp>
      <p:pic>
        <p:nvPicPr>
          <p:cNvPr id="9" name="Image 1" descr="preencoded.png">    </p:cNvPr>
          <p:cNvPicPr>
            <a:picLocks noChangeAspect="1"/>
          </p:cNvPicPr>
          <p:nvPr/>
        </p:nvPicPr>
        <p:blipFill>
          <a:blip r:embed="rId2"/>
          <a:stretch>
            <a:fillRect/>
          </a:stretch>
        </p:blipFill>
        <p:spPr>
          <a:xfrm>
            <a:off x="4937760" y="1280160"/>
            <a:ext cx="365760" cy="365760"/>
          </a:xfrm>
          <a:prstGeom prst="rect">
            <a:avLst/>
          </a:prstGeom>
        </p:spPr>
      </p:pic>
      <p:sp>
        <p:nvSpPr>
          <p:cNvPr id="10" name="Text 6"/>
          <p:cNvSpPr/>
          <p:nvPr/>
        </p:nvSpPr>
        <p:spPr>
          <a:xfrm>
            <a:off x="5394960" y="1234440"/>
            <a:ext cx="3108960" cy="320040"/>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Confidence Thresholds</a:t>
            </a:r>
            <a:endParaRPr lang="en-US" sz="1500" dirty="0"/>
          </a:p>
        </p:txBody>
      </p:sp>
      <p:sp>
        <p:nvSpPr>
          <p:cNvPr id="11" name="Text 7"/>
          <p:cNvSpPr/>
          <p:nvPr/>
        </p:nvSpPr>
        <p:spPr>
          <a:xfrm>
            <a:off x="4937760" y="1691640"/>
            <a:ext cx="3657600" cy="82296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Auto-approve above 95%. Human review between 70-95%. Reject below 70%. Thresholds learn from reviewer behavior.</a:t>
            </a:r>
            <a:endParaRPr lang="en-US" sz="1150" dirty="0"/>
          </a:p>
        </p:txBody>
      </p:sp>
      <p:sp>
        <p:nvSpPr>
          <p:cNvPr id="12" name="Shape 8"/>
          <p:cNvSpPr/>
          <p:nvPr/>
        </p:nvSpPr>
        <p:spPr>
          <a:xfrm>
            <a:off x="457200" y="2926080"/>
            <a:ext cx="4023360" cy="1554480"/>
          </a:xfrm>
          <a:prstGeom prst="rect">
            <a:avLst/>
          </a:prstGeom>
          <a:solidFill>
            <a:srgbClr val="FFFFFF"/>
          </a:solidFill>
          <a:ln/>
          <a:effectLst>
            <a:outerShdw sx="100000" sy="100000" kx="0" ky="0" algn="bl" rotWithShape="0" blurRad="76200" dist="25400" dir="8100000">
              <a:srgbClr val="000000">
                <a:alpha val="12000"/>
              </a:srgbClr>
            </a:outerShdw>
          </a:effectLst>
        </p:spPr>
      </p:sp>
      <p:pic>
        <p:nvPicPr>
          <p:cNvPr id="13" name="Image 2" descr="preencoded.png">    </p:cNvPr>
          <p:cNvPicPr>
            <a:picLocks noChangeAspect="1"/>
          </p:cNvPicPr>
          <p:nvPr/>
        </p:nvPicPr>
        <p:blipFill>
          <a:blip r:embed="rId3"/>
          <a:stretch>
            <a:fillRect/>
          </a:stretch>
        </p:blipFill>
        <p:spPr>
          <a:xfrm>
            <a:off x="640080" y="3108960"/>
            <a:ext cx="365760" cy="365760"/>
          </a:xfrm>
          <a:prstGeom prst="rect">
            <a:avLst/>
          </a:prstGeom>
        </p:spPr>
      </p:pic>
      <p:sp>
        <p:nvSpPr>
          <p:cNvPr id="14" name="Text 9"/>
          <p:cNvSpPr/>
          <p:nvPr/>
        </p:nvSpPr>
        <p:spPr>
          <a:xfrm>
            <a:off x="1097280" y="3063240"/>
            <a:ext cx="3108960" cy="320040"/>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Escalation Chains</a:t>
            </a:r>
            <a:endParaRPr lang="en-US" sz="1500" dirty="0"/>
          </a:p>
        </p:txBody>
      </p:sp>
      <p:sp>
        <p:nvSpPr>
          <p:cNvPr id="15" name="Text 10"/>
          <p:cNvSpPr/>
          <p:nvPr/>
        </p:nvSpPr>
        <p:spPr>
          <a:xfrm>
            <a:off x="640080" y="3520440"/>
            <a:ext cx="3657600" cy="82296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Clear boundaries: AI acts / AI escalates / system halts. Configurable without code changes. Auditable and versioned.</a:t>
            </a:r>
            <a:endParaRPr lang="en-US" sz="1150" dirty="0"/>
          </a:p>
        </p:txBody>
      </p:sp>
      <p:sp>
        <p:nvSpPr>
          <p:cNvPr id="16" name="Shape 11"/>
          <p:cNvSpPr/>
          <p:nvPr/>
        </p:nvSpPr>
        <p:spPr>
          <a:xfrm>
            <a:off x="4754880" y="2926080"/>
            <a:ext cx="4023360" cy="1554480"/>
          </a:xfrm>
          <a:prstGeom prst="rect">
            <a:avLst/>
          </a:prstGeom>
          <a:solidFill>
            <a:srgbClr val="FFFFFF"/>
          </a:solidFill>
          <a:ln/>
          <a:effectLst>
            <a:outerShdw sx="100000" sy="100000" kx="0" ky="0" algn="bl" rotWithShape="0" blurRad="76200" dist="25400" dir="8100000">
              <a:srgbClr val="000000">
                <a:alpha val="12000"/>
              </a:srgbClr>
            </a:outerShdw>
          </a:effectLst>
        </p:spPr>
      </p:sp>
      <p:pic>
        <p:nvPicPr>
          <p:cNvPr id="17" name="Image 3" descr="preencoded.png">    </p:cNvPr>
          <p:cNvPicPr>
            <a:picLocks noChangeAspect="1"/>
          </p:cNvPicPr>
          <p:nvPr/>
        </p:nvPicPr>
        <p:blipFill>
          <a:blip r:embed="rId4"/>
          <a:stretch>
            <a:fillRect/>
          </a:stretch>
        </p:blipFill>
        <p:spPr>
          <a:xfrm>
            <a:off x="4937760" y="3108960"/>
            <a:ext cx="365760" cy="365760"/>
          </a:xfrm>
          <a:prstGeom prst="rect">
            <a:avLst/>
          </a:prstGeom>
        </p:spPr>
      </p:pic>
      <p:sp>
        <p:nvSpPr>
          <p:cNvPr id="18" name="Text 12"/>
          <p:cNvSpPr/>
          <p:nvPr/>
        </p:nvSpPr>
        <p:spPr>
          <a:xfrm>
            <a:off x="5394960" y="3063240"/>
            <a:ext cx="3108960" cy="320040"/>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Feedback Loops</a:t>
            </a:r>
            <a:endParaRPr lang="en-US" sz="1500" dirty="0"/>
          </a:p>
        </p:txBody>
      </p:sp>
      <p:sp>
        <p:nvSpPr>
          <p:cNvPr id="19" name="Text 13"/>
          <p:cNvSpPr/>
          <p:nvPr/>
        </p:nvSpPr>
        <p:spPr>
          <a:xfrm>
            <a:off x="4937760" y="3520440"/>
            <a:ext cx="3657600" cy="82296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Human corrections feed back into model improvement. Active learning. The 5% humans review today reduces to 3% tomorrow.</a:t>
            </a:r>
            <a:endParaRPr lang="en-US" sz="1150" dirty="0"/>
          </a:p>
        </p:txBody>
      </p:sp>
      <p:sp>
        <p:nvSpPr>
          <p:cNvPr id="20" name="Text 14"/>
          <p:cNvSpPr/>
          <p:nvPr/>
        </p:nvSpPr>
        <p:spPr>
          <a:xfrm>
            <a:off x="8229600" y="4800600"/>
            <a:ext cx="73152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16 / 20</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640080" y="228600"/>
            <a:ext cx="7863840" cy="548640"/>
          </a:xfrm>
          <a:prstGeom prst="rect">
            <a:avLst/>
          </a:prstGeom>
          <a:noFill/>
          <a:ln/>
        </p:spPr>
        <p:txBody>
          <a:bodyPr wrap="square" lIns="0" tIns="0" rIns="0" bIns="0" rtlCol="0" anchor="ctr"/>
          <a:lstStyle/>
          <a:p>
            <a:pPr indent="0" marL="0">
              <a:buNone/>
            </a:pPr>
            <a:r>
              <a:rPr lang="en-US" sz="3000" b="1" dirty="0">
                <a:solidFill>
                  <a:srgbClr val="FFFFFF"/>
                </a:solidFill>
                <a:latin typeface="Trebuchet MS" pitchFamily="34" charset="0"/>
                <a:ea typeface="Trebuchet MS" pitchFamily="34" charset="-122"/>
                <a:cs typeface="Trebuchet MS" pitchFamily="34" charset="-120"/>
              </a:rPr>
              <a:t>Two New Risks Architects Must Manage</a:t>
            </a:r>
            <a:endParaRPr lang="en-US" sz="3000" dirty="0"/>
          </a:p>
        </p:txBody>
      </p:sp>
      <p:sp>
        <p:nvSpPr>
          <p:cNvPr id="3" name="Text 1"/>
          <p:cNvSpPr/>
          <p:nvPr/>
        </p:nvSpPr>
        <p:spPr>
          <a:xfrm>
            <a:off x="640080" y="777240"/>
            <a:ext cx="6400800" cy="320040"/>
          </a:xfrm>
          <a:prstGeom prst="rect">
            <a:avLst/>
          </a:prstGeom>
          <a:noFill/>
          <a:ln/>
        </p:spPr>
        <p:txBody>
          <a:bodyPr wrap="square" lIns="0" tIns="0" rIns="0" bIns="0" rtlCol="0" anchor="ctr"/>
          <a:lstStyle/>
          <a:p>
            <a:pPr indent="0" marL="0">
              <a:buNone/>
            </a:pPr>
            <a:r>
              <a:rPr lang="en-US" sz="1300" i="1" dirty="0">
                <a:solidFill>
                  <a:srgbClr val="22D3EE"/>
                </a:solidFill>
                <a:latin typeface="Calibri" pitchFamily="34" charset="0"/>
                <a:ea typeface="Calibri" pitchFamily="34" charset="-122"/>
                <a:cs typeface="Calibri" pitchFamily="34" charset="-120"/>
              </a:rPr>
              <a:t>Beyond technical debt</a:t>
            </a:r>
            <a:endParaRPr lang="en-US" sz="1300" dirty="0"/>
          </a:p>
        </p:txBody>
      </p:sp>
      <p:sp>
        <p:nvSpPr>
          <p:cNvPr id="4" name="Shape 2"/>
          <p:cNvSpPr/>
          <p:nvPr/>
        </p:nvSpPr>
        <p:spPr>
          <a:xfrm>
            <a:off x="457200" y="1097280"/>
            <a:ext cx="3931920" cy="3200400"/>
          </a:xfrm>
          <a:prstGeom prst="rect">
            <a:avLst/>
          </a:prstGeom>
          <a:solidFill>
            <a:srgbClr val="1A2744"/>
          </a:solidFill>
          <a:ln/>
          <a:effectLst>
            <a:outerShdw sx="100000" sy="100000" kx="0" ky="0" algn="bl" rotWithShape="0" blurRad="76200" dist="25400" dir="8100000">
              <a:srgbClr val="000000">
                <a:alpha val="12000"/>
              </a:srgbClr>
            </a:outerShdw>
          </a:effectLst>
        </p:spPr>
      </p:sp>
      <p:sp>
        <p:nvSpPr>
          <p:cNvPr id="5" name="Shape 3"/>
          <p:cNvSpPr/>
          <p:nvPr/>
        </p:nvSpPr>
        <p:spPr>
          <a:xfrm>
            <a:off x="457200" y="1097280"/>
            <a:ext cx="3931920" cy="54864"/>
          </a:xfrm>
          <a:prstGeom prst="rect">
            <a:avLst/>
          </a:prstGeom>
          <a:solidFill>
            <a:srgbClr val="F59E0B"/>
          </a:solidFill>
          <a:ln/>
        </p:spPr>
      </p:sp>
      <p:sp>
        <p:nvSpPr>
          <p:cNvPr id="6" name="Text 4"/>
          <p:cNvSpPr/>
          <p:nvPr/>
        </p:nvSpPr>
        <p:spPr>
          <a:xfrm>
            <a:off x="640080" y="1280160"/>
            <a:ext cx="3474720" cy="365760"/>
          </a:xfrm>
          <a:prstGeom prst="rect">
            <a:avLst/>
          </a:prstGeom>
          <a:noFill/>
          <a:ln/>
        </p:spPr>
        <p:txBody>
          <a:bodyPr wrap="square" lIns="0" tIns="0" rIns="0" bIns="0" rtlCol="0" anchor="ctr"/>
          <a:lstStyle/>
          <a:p>
            <a:pPr indent="0" marL="0">
              <a:buNone/>
            </a:pPr>
            <a:r>
              <a:rPr lang="en-US" sz="1800" b="1" dirty="0">
                <a:solidFill>
                  <a:srgbClr val="F59E0B"/>
                </a:solidFill>
                <a:latin typeface="Trebuchet MS" pitchFamily="34" charset="0"/>
                <a:ea typeface="Trebuchet MS" pitchFamily="34" charset="-122"/>
                <a:cs typeface="Trebuchet MS" pitchFamily="34" charset="-120"/>
              </a:rPr>
              <a:t>Epistemic Debt</a:t>
            </a:r>
            <a:endParaRPr lang="en-US" sz="1800" dirty="0"/>
          </a:p>
        </p:txBody>
      </p:sp>
      <p:sp>
        <p:nvSpPr>
          <p:cNvPr id="7" name="Text 5"/>
          <p:cNvSpPr/>
          <p:nvPr/>
        </p:nvSpPr>
        <p:spPr>
          <a:xfrm>
            <a:off x="640080" y="1737360"/>
            <a:ext cx="3474720" cy="2377440"/>
          </a:xfrm>
          <a:prstGeom prst="rect">
            <a:avLst/>
          </a:prstGeom>
          <a:noFill/>
          <a:ln/>
        </p:spPr>
        <p:txBody>
          <a:bodyPr wrap="square" lIns="0" tIns="0" rIns="0" bIns="0" rtlCol="0" anchor="ctr"/>
          <a:lstStyle/>
          <a:p>
            <a:pPr indent="0" marL="0">
              <a:buNone/>
            </a:pPr>
            <a:r>
              <a:rPr lang="en-US" sz="1200" dirty="0">
                <a:solidFill>
                  <a:srgbClr val="E0F2FE"/>
                </a:solidFill>
                <a:latin typeface="Calibri" pitchFamily="34" charset="0"/>
                <a:ea typeface="Calibri" pitchFamily="34" charset="-122"/>
                <a:cs typeface="Calibri" pitchFamily="34" charset="-120"/>
              </a:rPr>
              <a:t>When AI generates solutions teams don't fully understand, knowledge gaps accumulate. Like technical debt, but for COMPREHENSION.</a:t>
            </a:r>
            <a:endParaRPr lang="en-US" sz="1200" dirty="0"/>
          </a:p>
          <a:p>
            <a:pPr indent="0" marL="0">
              <a:buNone/>
            </a:pPr>
            <a:endParaRPr lang="en-US" sz="1200" dirty="0"/>
          </a:p>
          <a:p>
            <a:pPr indent="0" marL="0">
              <a:buNone/>
            </a:pPr>
            <a:r>
              <a:rPr lang="en-US" sz="1200" dirty="0">
                <a:solidFill>
                  <a:srgbClr val="E0F2FE"/>
                </a:solidFill>
                <a:latin typeface="Calibri" pitchFamily="34" charset="0"/>
                <a:ea typeface="Calibri" pitchFamily="34" charset="-122"/>
                <a:cs typeface="Calibri" pitchFamily="34" charset="-120"/>
              </a:rPr>
              <a:t>The risk: your team ships fast but can't debug, maintain, or evolve what AI built.</a:t>
            </a:r>
            <a:endParaRPr lang="en-US" sz="1200" dirty="0"/>
          </a:p>
          <a:p>
            <a:pPr indent="0" marL="0">
              <a:buNone/>
            </a:pPr>
            <a:endParaRPr lang="en-US" sz="1200" dirty="0"/>
          </a:p>
          <a:p>
            <a:pPr indent="0" marL="0">
              <a:buNone/>
            </a:pPr>
            <a:r>
              <a:rPr lang="en-US" sz="1200" dirty="0">
                <a:solidFill>
                  <a:srgbClr val="E0F2FE"/>
                </a:solidFill>
                <a:latin typeface="Calibri" pitchFamily="34" charset="0"/>
                <a:ea typeface="Calibri" pitchFamily="34" charset="-122"/>
                <a:cs typeface="Calibri" pitchFamily="34" charset="-120"/>
              </a:rPr>
              <a:t>The fix: require "understanding documentation" alongside AI-generated code. If the team can't explain it, it doesn't ship.</a:t>
            </a:r>
            <a:endParaRPr lang="en-US" sz="1200" dirty="0"/>
          </a:p>
        </p:txBody>
      </p:sp>
      <p:sp>
        <p:nvSpPr>
          <p:cNvPr id="8" name="Shape 6"/>
          <p:cNvSpPr/>
          <p:nvPr/>
        </p:nvSpPr>
        <p:spPr>
          <a:xfrm>
            <a:off x="4754880" y="1097280"/>
            <a:ext cx="3931920" cy="3200400"/>
          </a:xfrm>
          <a:prstGeom prst="rect">
            <a:avLst/>
          </a:prstGeom>
          <a:solidFill>
            <a:srgbClr val="1A2744"/>
          </a:solidFill>
          <a:ln/>
          <a:effectLst>
            <a:outerShdw sx="100000" sy="100000" kx="0" ky="0" algn="bl" rotWithShape="0" blurRad="76200" dist="25400" dir="8100000">
              <a:srgbClr val="000000">
                <a:alpha val="12000"/>
              </a:srgbClr>
            </a:outerShdw>
          </a:effectLst>
        </p:spPr>
      </p:sp>
      <p:sp>
        <p:nvSpPr>
          <p:cNvPr id="9" name="Shape 7"/>
          <p:cNvSpPr/>
          <p:nvPr/>
        </p:nvSpPr>
        <p:spPr>
          <a:xfrm>
            <a:off x="4754880" y="1097280"/>
            <a:ext cx="3931920" cy="54864"/>
          </a:xfrm>
          <a:prstGeom prst="rect">
            <a:avLst/>
          </a:prstGeom>
          <a:solidFill>
            <a:srgbClr val="EF4444"/>
          </a:solidFill>
          <a:ln/>
        </p:spPr>
      </p:sp>
      <p:sp>
        <p:nvSpPr>
          <p:cNvPr id="10" name="Text 8"/>
          <p:cNvSpPr/>
          <p:nvPr/>
        </p:nvSpPr>
        <p:spPr>
          <a:xfrm>
            <a:off x="4937760" y="1280160"/>
            <a:ext cx="3474720" cy="365760"/>
          </a:xfrm>
          <a:prstGeom prst="rect">
            <a:avLst/>
          </a:prstGeom>
          <a:noFill/>
          <a:ln/>
        </p:spPr>
        <p:txBody>
          <a:bodyPr wrap="square" lIns="0" tIns="0" rIns="0" bIns="0" rtlCol="0" anchor="ctr"/>
          <a:lstStyle/>
          <a:p>
            <a:pPr indent="0" marL="0">
              <a:buNone/>
            </a:pPr>
            <a:r>
              <a:rPr lang="en-US" sz="1800" b="1" dirty="0">
                <a:solidFill>
                  <a:srgbClr val="EF4444"/>
                </a:solidFill>
                <a:latin typeface="Trebuchet MS" pitchFamily="34" charset="0"/>
                <a:ea typeface="Trebuchet MS" pitchFamily="34" charset="-122"/>
                <a:cs typeface="Trebuchet MS" pitchFamily="34" charset="-120"/>
              </a:rPr>
              <a:t>Skill Atrophy</a:t>
            </a:r>
            <a:endParaRPr lang="en-US" sz="1800" dirty="0"/>
          </a:p>
        </p:txBody>
      </p:sp>
      <p:sp>
        <p:nvSpPr>
          <p:cNvPr id="11" name="Text 9"/>
          <p:cNvSpPr/>
          <p:nvPr/>
        </p:nvSpPr>
        <p:spPr>
          <a:xfrm>
            <a:off x="4937760" y="1737360"/>
            <a:ext cx="3474720" cy="2377440"/>
          </a:xfrm>
          <a:prstGeom prst="rect">
            <a:avLst/>
          </a:prstGeom>
          <a:noFill/>
          <a:ln/>
        </p:spPr>
        <p:txBody>
          <a:bodyPr wrap="square" lIns="0" tIns="0" rIns="0" bIns="0" rtlCol="0" anchor="ctr"/>
          <a:lstStyle/>
          <a:p>
            <a:pPr indent="0" marL="0">
              <a:buNone/>
            </a:pPr>
            <a:r>
              <a:rPr lang="en-US" sz="1200" dirty="0">
                <a:solidFill>
                  <a:srgbClr val="E0F2FE"/>
                </a:solidFill>
                <a:latin typeface="Calibri" pitchFamily="34" charset="0"/>
                <a:ea typeface="Calibri" pitchFamily="34" charset="-122"/>
                <a:cs typeface="Calibri" pitchFamily="34" charset="-120"/>
              </a:rPr>
              <a:t>Over-reliance on AI tools erodes the tacit knowledge that makes architects valuable. If you never manually design systems, you lose the intuition.</a:t>
            </a:r>
            <a:endParaRPr lang="en-US" sz="1200" dirty="0"/>
          </a:p>
          <a:p>
            <a:pPr indent="0" marL="0">
              <a:buNone/>
            </a:pPr>
            <a:endParaRPr lang="en-US" sz="1200" dirty="0"/>
          </a:p>
          <a:p>
            <a:pPr indent="0" marL="0">
              <a:buNone/>
            </a:pPr>
            <a:r>
              <a:rPr lang="en-US" sz="1200" dirty="0">
                <a:solidFill>
                  <a:srgbClr val="E0F2FE"/>
                </a:solidFill>
                <a:latin typeface="Calibri" pitchFamily="34" charset="0"/>
                <a:ea typeface="Calibri" pitchFamily="34" charset="-122"/>
                <a:cs typeface="Calibri" pitchFamily="34" charset="-120"/>
              </a:rPr>
              <a:t>The risk: architects become prompt-writers, not system thinkers.</a:t>
            </a:r>
            <a:endParaRPr lang="en-US" sz="1200" dirty="0"/>
          </a:p>
          <a:p>
            <a:pPr indent="0" marL="0">
              <a:buNone/>
            </a:pPr>
            <a:endParaRPr lang="en-US" sz="1200" dirty="0"/>
          </a:p>
          <a:p>
            <a:pPr indent="0" marL="0">
              <a:buNone/>
            </a:pPr>
            <a:r>
              <a:rPr lang="en-US" sz="1200" dirty="0">
                <a:solidFill>
                  <a:srgbClr val="E0F2FE"/>
                </a:solidFill>
                <a:latin typeface="Calibri" pitchFamily="34" charset="0"/>
                <a:ea typeface="Calibri" pitchFamily="34" charset="-122"/>
                <a:cs typeface="Calibri" pitchFamily="34" charset="-120"/>
              </a:rPr>
              <a:t>The fix: deliberate friction. Manual design sessions. Hands-on coding sprints. Preserve professional judgment through practice.</a:t>
            </a:r>
            <a:endParaRPr lang="en-US" sz="1200" dirty="0"/>
          </a:p>
        </p:txBody>
      </p:sp>
      <p:sp>
        <p:nvSpPr>
          <p:cNvPr id="12" name="Text 10"/>
          <p:cNvSpPr/>
          <p:nvPr/>
        </p:nvSpPr>
        <p:spPr>
          <a:xfrm>
            <a:off x="8229600" y="4800600"/>
            <a:ext cx="73152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17 / 20</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640080" y="457200"/>
            <a:ext cx="7863840" cy="2286000"/>
          </a:xfrm>
          <a:prstGeom prst="rect">
            <a:avLst/>
          </a:prstGeom>
          <a:noFill/>
          <a:ln/>
        </p:spPr>
        <p:txBody>
          <a:bodyPr wrap="square" lIns="0" tIns="0" rIns="0" bIns="0" rtlCol="0" anchor="ctr"/>
          <a:lstStyle/>
          <a:p>
            <a:pPr algn="ctr" indent="0" marL="0">
              <a:buNone/>
            </a:pPr>
            <a:r>
              <a:rPr lang="en-US" sz="3000" b="1" dirty="0">
                <a:solidFill>
                  <a:srgbClr val="FFFFFF"/>
                </a:solidFill>
                <a:latin typeface="Trebuchet MS" pitchFamily="34" charset="0"/>
                <a:ea typeface="Trebuchet MS" pitchFamily="34" charset="-122"/>
                <a:cs typeface="Trebuchet MS" pitchFamily="34" charset="-120"/>
              </a:rPr>
              <a:t>"When AI-generated code</a:t>
            </a:r>
            <a:endParaRPr lang="en-US" sz="3000" dirty="0"/>
          </a:p>
          <a:p>
            <a:pPr algn="ctr" indent="0" marL="0">
              <a:buNone/>
            </a:pPr>
            <a:r>
              <a:rPr lang="en-US" sz="3000" b="1" dirty="0">
                <a:solidFill>
                  <a:srgbClr val="FFFFFF"/>
                </a:solidFill>
                <a:latin typeface="Trebuchet MS" pitchFamily="34" charset="0"/>
                <a:ea typeface="Trebuchet MS" pitchFamily="34" charset="-122"/>
                <a:cs typeface="Trebuchet MS" pitchFamily="34" charset="-120"/>
              </a:rPr>
              <a:t>fails in production,</a:t>
            </a:r>
            <a:endParaRPr lang="en-US" sz="3000" dirty="0"/>
          </a:p>
          <a:p>
            <a:pPr algn="ctr" indent="0" marL="0">
              <a:buNone/>
            </a:pPr>
            <a:r>
              <a:rPr lang="en-US" sz="3000" b="1" dirty="0">
                <a:solidFill>
                  <a:srgbClr val="FFFFFF"/>
                </a:solidFill>
                <a:latin typeface="Trebuchet MS" pitchFamily="34" charset="0"/>
                <a:ea typeface="Trebuchet MS" pitchFamily="34" charset="-122"/>
                <a:cs typeface="Trebuchet MS" pitchFamily="34" charset="-120"/>
              </a:rPr>
              <a:t>accountability sits with</a:t>
            </a:r>
            <a:endParaRPr lang="en-US" sz="3000" dirty="0"/>
          </a:p>
          <a:p>
            <a:pPr algn="ctr" indent="0" marL="0">
              <a:buNone/>
            </a:pPr>
            <a:r>
              <a:rPr lang="en-US" sz="3000" b="1" dirty="0">
                <a:solidFill>
                  <a:srgbClr val="FFFFFF"/>
                </a:solidFill>
                <a:latin typeface="Trebuchet MS" pitchFamily="34" charset="0"/>
                <a:ea typeface="Trebuchet MS" pitchFamily="34" charset="-122"/>
                <a:cs typeface="Trebuchet MS" pitchFamily="34" charset="-120"/>
              </a:rPr>
              <a:t>the human — not the tool."</a:t>
            </a:r>
            <a:endParaRPr lang="en-US" sz="3000" dirty="0"/>
          </a:p>
        </p:txBody>
      </p:sp>
      <p:sp>
        <p:nvSpPr>
          <p:cNvPr id="3" name="Text 1"/>
          <p:cNvSpPr/>
          <p:nvPr/>
        </p:nvSpPr>
        <p:spPr>
          <a:xfrm>
            <a:off x="640080" y="2743200"/>
            <a:ext cx="7863840" cy="365760"/>
          </a:xfrm>
          <a:prstGeom prst="rect">
            <a:avLst/>
          </a:prstGeom>
          <a:noFill/>
          <a:ln/>
        </p:spPr>
        <p:txBody>
          <a:bodyPr wrap="square" lIns="0" tIns="0" rIns="0" bIns="0" rtlCol="0" anchor="ctr"/>
          <a:lstStyle/>
          <a:p>
            <a:pPr algn="ctr" indent="0" marL="0">
              <a:buNone/>
            </a:pPr>
            <a:r>
              <a:rPr lang="en-US" sz="1400" i="1" dirty="0">
                <a:solidFill>
                  <a:srgbClr val="22D3EE"/>
                </a:solidFill>
                <a:latin typeface="Calibri" pitchFamily="34" charset="0"/>
                <a:ea typeface="Calibri" pitchFamily="34" charset="-122"/>
                <a:cs typeface="Calibri" pitchFamily="34" charset="-120"/>
              </a:rPr>
              <a:t>— Grady Booch, in conversation with InfoQ</a:t>
            </a:r>
            <a:endParaRPr lang="en-US" sz="1400" dirty="0"/>
          </a:p>
        </p:txBody>
      </p:sp>
      <p:sp>
        <p:nvSpPr>
          <p:cNvPr id="4" name="Shape 2"/>
          <p:cNvSpPr/>
          <p:nvPr/>
        </p:nvSpPr>
        <p:spPr>
          <a:xfrm>
            <a:off x="2743200" y="3383280"/>
            <a:ext cx="3657600" cy="0"/>
          </a:xfrm>
          <a:prstGeom prst="line">
            <a:avLst/>
          </a:prstGeom>
          <a:noFill/>
          <a:ln w="12700">
            <a:solidFill>
              <a:srgbClr val="0891B2"/>
            </a:solidFill>
            <a:prstDash val="solid"/>
          </a:ln>
        </p:spPr>
      </p:sp>
      <p:sp>
        <p:nvSpPr>
          <p:cNvPr id="5" name="Text 3"/>
          <p:cNvSpPr/>
          <p:nvPr/>
        </p:nvSpPr>
        <p:spPr>
          <a:xfrm>
            <a:off x="914400" y="3566160"/>
            <a:ext cx="7315200" cy="640080"/>
          </a:xfrm>
          <a:prstGeom prst="rect">
            <a:avLst/>
          </a:prstGeom>
          <a:noFill/>
          <a:ln/>
        </p:spPr>
        <p:txBody>
          <a:bodyPr wrap="square" lIns="0" tIns="0" rIns="0" bIns="0" rtlCol="0" anchor="ctr"/>
          <a:lstStyle/>
          <a:p>
            <a:pPr algn="ctr" indent="0" marL="0">
              <a:buNone/>
            </a:pPr>
            <a:r>
              <a:rPr lang="en-US" sz="1600" dirty="0">
                <a:solidFill>
                  <a:srgbClr val="E0F2FE"/>
                </a:solidFill>
                <a:latin typeface="Calibri" pitchFamily="34" charset="0"/>
                <a:ea typeface="Calibri" pitchFamily="34" charset="-122"/>
                <a:cs typeface="Calibri" pitchFamily="34" charset="-120"/>
              </a:rPr>
              <a:t>This is why human-in-the-loop isn't optional.</a:t>
            </a:r>
            <a:endParaRPr lang="en-US" sz="1600" dirty="0"/>
          </a:p>
          <a:p>
            <a:pPr algn="ctr" indent="0" marL="0">
              <a:buNone/>
            </a:pPr>
            <a:r>
              <a:rPr lang="en-US" sz="1600" dirty="0">
                <a:solidFill>
                  <a:srgbClr val="E0F2FE"/>
                </a:solidFill>
                <a:latin typeface="Calibri" pitchFamily="34" charset="0"/>
                <a:ea typeface="Calibri" pitchFamily="34" charset="-122"/>
                <a:cs typeface="Calibri" pitchFamily="34" charset="-120"/>
              </a:rPr>
              <a:t>It's the architecture of accountability.</a:t>
            </a:r>
            <a:endParaRPr lang="en-US" sz="1600" dirty="0"/>
          </a:p>
        </p:txBody>
      </p:sp>
      <p:sp>
        <p:nvSpPr>
          <p:cNvPr id="6" name="Text 4"/>
          <p:cNvSpPr/>
          <p:nvPr/>
        </p:nvSpPr>
        <p:spPr>
          <a:xfrm>
            <a:off x="914400" y="4206240"/>
            <a:ext cx="7315200" cy="731520"/>
          </a:xfrm>
          <a:prstGeom prst="rect">
            <a:avLst/>
          </a:prstGeom>
          <a:noFill/>
          <a:ln/>
        </p:spPr>
        <p:txBody>
          <a:bodyPr wrap="square" lIns="0" tIns="0" rIns="0" bIns="0" rtlCol="0" anchor="ctr"/>
          <a:lstStyle/>
          <a:p>
            <a:pPr algn="ctr" indent="0" marL="0">
              <a:buNone/>
            </a:pPr>
            <a:r>
              <a:rPr lang="en-US" sz="1300" dirty="0">
                <a:solidFill>
                  <a:srgbClr val="64748B"/>
                </a:solidFill>
                <a:latin typeface="Calibri" pitchFamily="34" charset="0"/>
                <a:ea typeface="Calibri" pitchFamily="34" charset="-122"/>
                <a:cs typeface="Calibri" pitchFamily="34" charset="-120"/>
              </a:rPr>
              <a:t>At Capital One, we are the humans in the loop.</a:t>
            </a:r>
            <a:endParaRPr lang="en-US" sz="1300" dirty="0"/>
          </a:p>
          <a:p>
            <a:pPr algn="ctr" indent="0" marL="0">
              <a:buNone/>
            </a:pPr>
            <a:r>
              <a:rPr lang="en-US" sz="1300" dirty="0">
                <a:solidFill>
                  <a:srgbClr val="64748B"/>
                </a:solidFill>
                <a:latin typeface="Calibri" pitchFamily="34" charset="0"/>
                <a:ea typeface="Calibri" pitchFamily="34" charset="-122"/>
                <a:cs typeface="Calibri" pitchFamily="34" charset="-120"/>
              </a:rPr>
              <a:t>DEs. Application Architects. Design reviewers. ADR approvers.</a:t>
            </a:r>
            <a:endParaRPr lang="en-US" sz="1300" dirty="0"/>
          </a:p>
          <a:p>
            <a:pPr algn="ctr" indent="0" marL="0">
              <a:buNone/>
            </a:pPr>
            <a:r>
              <a:rPr lang="en-US" sz="1300" dirty="0">
                <a:solidFill>
                  <a:srgbClr val="64748B"/>
                </a:solidFill>
                <a:latin typeface="Calibri" pitchFamily="34" charset="0"/>
                <a:ea typeface="Calibri" pitchFamily="34" charset="-122"/>
                <a:cs typeface="Calibri" pitchFamily="34" charset="-120"/>
              </a:rPr>
              <a:t>We own the outcome.</a:t>
            </a:r>
            <a:endParaRPr lang="en-US" sz="1300" dirty="0"/>
          </a:p>
        </p:txBody>
      </p:sp>
      <p:sp>
        <p:nvSpPr>
          <p:cNvPr id="7" name="Text 5"/>
          <p:cNvSpPr/>
          <p:nvPr/>
        </p:nvSpPr>
        <p:spPr>
          <a:xfrm>
            <a:off x="8229600" y="4800600"/>
            <a:ext cx="73152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18 / 20</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640080" y="228600"/>
            <a:ext cx="7863840" cy="548640"/>
          </a:xfrm>
          <a:prstGeom prst="rect">
            <a:avLst/>
          </a:prstGeom>
          <a:noFill/>
          <a:ln/>
        </p:spPr>
        <p:txBody>
          <a:bodyPr wrap="square" lIns="0" tIns="0" rIns="0" bIns="0" rtlCol="0" anchor="ctr"/>
          <a:lstStyle/>
          <a:p>
            <a:pPr indent="0" marL="0">
              <a:buNone/>
            </a:pPr>
            <a:r>
              <a:rPr lang="en-US" sz="3000" b="1" dirty="0">
                <a:solidFill>
                  <a:srgbClr val="0A1628"/>
                </a:solidFill>
                <a:latin typeface="Trebuchet MS" pitchFamily="34" charset="0"/>
                <a:ea typeface="Trebuchet MS" pitchFamily="34" charset="-122"/>
                <a:cs typeface="Trebuchet MS" pitchFamily="34" charset="-120"/>
              </a:rPr>
              <a:t>The Bottom Line</a:t>
            </a:r>
            <a:endParaRPr lang="en-US" sz="3000" dirty="0"/>
          </a:p>
        </p:txBody>
      </p:sp>
      <p:sp>
        <p:nvSpPr>
          <p:cNvPr id="3" name="Shape 1"/>
          <p:cNvSpPr/>
          <p:nvPr/>
        </p:nvSpPr>
        <p:spPr>
          <a:xfrm>
            <a:off x="457200" y="1005840"/>
            <a:ext cx="4023360" cy="173736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4" name="Shape 2"/>
          <p:cNvSpPr/>
          <p:nvPr/>
        </p:nvSpPr>
        <p:spPr>
          <a:xfrm>
            <a:off x="457200" y="1005840"/>
            <a:ext cx="64008" cy="1737360"/>
          </a:xfrm>
          <a:prstGeom prst="rect">
            <a:avLst/>
          </a:prstGeom>
          <a:solidFill>
            <a:srgbClr val="0891B2"/>
          </a:solidFill>
          <a:ln/>
        </p:spPr>
      </p:sp>
      <p:sp>
        <p:nvSpPr>
          <p:cNvPr id="5" name="Text 3"/>
          <p:cNvSpPr/>
          <p:nvPr/>
        </p:nvSpPr>
        <p:spPr>
          <a:xfrm>
            <a:off x="640080" y="1097280"/>
            <a:ext cx="3657600" cy="320040"/>
          </a:xfrm>
          <a:prstGeom prst="rect">
            <a:avLst/>
          </a:prstGeom>
          <a:noFill/>
          <a:ln/>
        </p:spPr>
        <p:txBody>
          <a:bodyPr wrap="square" lIns="0" tIns="0" rIns="0" bIns="0" rtlCol="0" anchor="ctr"/>
          <a:lstStyle/>
          <a:p>
            <a:pPr indent="0" marL="0">
              <a:buNone/>
            </a:pPr>
            <a:r>
              <a:rPr lang="en-US" sz="1500" b="1" dirty="0">
                <a:solidFill>
                  <a:srgbClr val="0891B2"/>
                </a:solidFill>
                <a:latin typeface="Trebuchet MS" pitchFamily="34" charset="0"/>
                <a:ea typeface="Trebuchet MS" pitchFamily="34" charset="-122"/>
                <a:cs typeface="Trebuchet MS" pitchFamily="34" charset="-120"/>
              </a:rPr>
              <a:t>What's Changing</a:t>
            </a:r>
            <a:endParaRPr lang="en-US" sz="1500" dirty="0"/>
          </a:p>
        </p:txBody>
      </p:sp>
      <p:sp>
        <p:nvSpPr>
          <p:cNvPr id="6" name="Text 4"/>
          <p:cNvSpPr/>
          <p:nvPr/>
        </p:nvSpPr>
        <p:spPr>
          <a:xfrm>
            <a:off x="640080" y="1463040"/>
            <a:ext cx="3657600" cy="118872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New threat vectors (prompt injection, model poisoning, excessive agency). Non-deterministic outputs. Token-based costs. Agentic systems. Ten responsible AI dimensions as architecture requirements.</a:t>
            </a:r>
            <a:endParaRPr lang="en-US" sz="1150" dirty="0"/>
          </a:p>
        </p:txBody>
      </p:sp>
      <p:sp>
        <p:nvSpPr>
          <p:cNvPr id="7" name="Shape 5"/>
          <p:cNvSpPr/>
          <p:nvPr/>
        </p:nvSpPr>
        <p:spPr>
          <a:xfrm>
            <a:off x="4754880" y="1005840"/>
            <a:ext cx="4023360" cy="173736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8" name="Shape 6"/>
          <p:cNvSpPr/>
          <p:nvPr/>
        </p:nvSpPr>
        <p:spPr>
          <a:xfrm>
            <a:off x="4754880" y="1005840"/>
            <a:ext cx="64008" cy="1737360"/>
          </a:xfrm>
          <a:prstGeom prst="rect">
            <a:avLst/>
          </a:prstGeom>
          <a:solidFill>
            <a:srgbClr val="10B981"/>
          </a:solidFill>
          <a:ln/>
        </p:spPr>
      </p:sp>
      <p:sp>
        <p:nvSpPr>
          <p:cNvPr id="9" name="Text 7"/>
          <p:cNvSpPr/>
          <p:nvPr/>
        </p:nvSpPr>
        <p:spPr>
          <a:xfrm>
            <a:off x="4937760" y="1097280"/>
            <a:ext cx="3657600" cy="320040"/>
          </a:xfrm>
          <a:prstGeom prst="rect">
            <a:avLst/>
          </a:prstGeom>
          <a:noFill/>
          <a:ln/>
        </p:spPr>
        <p:txBody>
          <a:bodyPr wrap="square" lIns="0" tIns="0" rIns="0" bIns="0" rtlCol="0" anchor="ctr"/>
          <a:lstStyle/>
          <a:p>
            <a:pPr indent="0" marL="0">
              <a:buNone/>
            </a:pPr>
            <a:r>
              <a:rPr lang="en-US" sz="1500" b="1" dirty="0">
                <a:solidFill>
                  <a:srgbClr val="10B981"/>
                </a:solidFill>
                <a:latin typeface="Trebuchet MS" pitchFamily="34" charset="0"/>
                <a:ea typeface="Trebuchet MS" pitchFamily="34" charset="-122"/>
                <a:cs typeface="Trebuchet MS" pitchFamily="34" charset="-120"/>
              </a:rPr>
              <a:t>What Stays</a:t>
            </a:r>
            <a:endParaRPr lang="en-US" sz="1500" dirty="0"/>
          </a:p>
        </p:txBody>
      </p:sp>
      <p:sp>
        <p:nvSpPr>
          <p:cNvPr id="10" name="Text 8"/>
          <p:cNvSpPr/>
          <p:nvPr/>
        </p:nvSpPr>
        <p:spPr>
          <a:xfrm>
            <a:off x="4937760" y="1463040"/>
            <a:ext cx="3657600" cy="118872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Six pillars. Scalability. Reliability. Defense in depth. Iterative design. Observability. Our commitment to engineering excellence.</a:t>
            </a:r>
            <a:endParaRPr lang="en-US" sz="1150" dirty="0"/>
          </a:p>
        </p:txBody>
      </p:sp>
      <p:sp>
        <p:nvSpPr>
          <p:cNvPr id="11" name="Shape 9"/>
          <p:cNvSpPr/>
          <p:nvPr/>
        </p:nvSpPr>
        <p:spPr>
          <a:xfrm>
            <a:off x="457200" y="2971800"/>
            <a:ext cx="4023360" cy="173736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2" name="Shape 10"/>
          <p:cNvSpPr/>
          <p:nvPr/>
        </p:nvSpPr>
        <p:spPr>
          <a:xfrm>
            <a:off x="457200" y="2971800"/>
            <a:ext cx="64008" cy="1737360"/>
          </a:xfrm>
          <a:prstGeom prst="rect">
            <a:avLst/>
          </a:prstGeom>
          <a:solidFill>
            <a:srgbClr val="F59E0B"/>
          </a:solidFill>
          <a:ln/>
        </p:spPr>
      </p:sp>
      <p:sp>
        <p:nvSpPr>
          <p:cNvPr id="13" name="Text 11"/>
          <p:cNvSpPr/>
          <p:nvPr/>
        </p:nvSpPr>
        <p:spPr>
          <a:xfrm>
            <a:off x="640080" y="3063240"/>
            <a:ext cx="3657600" cy="320040"/>
          </a:xfrm>
          <a:prstGeom prst="rect">
            <a:avLst/>
          </a:prstGeom>
          <a:noFill/>
          <a:ln/>
        </p:spPr>
        <p:txBody>
          <a:bodyPr wrap="square" lIns="0" tIns="0" rIns="0" bIns="0" rtlCol="0" anchor="ctr"/>
          <a:lstStyle/>
          <a:p>
            <a:pPr indent="0" marL="0">
              <a:buNone/>
            </a:pPr>
            <a:r>
              <a:rPr lang="en-US" sz="1500" b="1" dirty="0">
                <a:solidFill>
                  <a:srgbClr val="F59E0B"/>
                </a:solidFill>
                <a:latin typeface="Trebuchet MS" pitchFamily="34" charset="0"/>
                <a:ea typeface="Trebuchet MS" pitchFamily="34" charset="-122"/>
                <a:cs typeface="Trebuchet MS" pitchFamily="34" charset="-120"/>
              </a:rPr>
              <a:t>Our Practices Evolve</a:t>
            </a:r>
            <a:endParaRPr lang="en-US" sz="1500" dirty="0"/>
          </a:p>
        </p:txBody>
      </p:sp>
      <p:sp>
        <p:nvSpPr>
          <p:cNvPr id="14" name="Text 12"/>
          <p:cNvSpPr/>
          <p:nvPr/>
        </p:nvSpPr>
        <p:spPr>
          <a:xfrm>
            <a:off x="640080" y="3429000"/>
            <a:ext cx="3657600" cy="118872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ADRs gain AI sections. Design reviews add autonomy gates. Enterprise patterns expand. Policy standards add model approval, output validation, responsible AI review.</a:t>
            </a:r>
            <a:endParaRPr lang="en-US" sz="1150" dirty="0"/>
          </a:p>
        </p:txBody>
      </p:sp>
      <p:sp>
        <p:nvSpPr>
          <p:cNvPr id="15" name="Shape 13"/>
          <p:cNvSpPr/>
          <p:nvPr/>
        </p:nvSpPr>
        <p:spPr>
          <a:xfrm>
            <a:off x="4754880" y="2971800"/>
            <a:ext cx="4023360" cy="173736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6" name="Shape 14"/>
          <p:cNvSpPr/>
          <p:nvPr/>
        </p:nvSpPr>
        <p:spPr>
          <a:xfrm>
            <a:off x="4754880" y="2971800"/>
            <a:ext cx="64008" cy="1737360"/>
          </a:xfrm>
          <a:prstGeom prst="rect">
            <a:avLst/>
          </a:prstGeom>
          <a:solidFill>
            <a:srgbClr val="8B5CF6"/>
          </a:solidFill>
          <a:ln/>
        </p:spPr>
      </p:sp>
      <p:sp>
        <p:nvSpPr>
          <p:cNvPr id="17" name="Text 15"/>
          <p:cNvSpPr/>
          <p:nvPr/>
        </p:nvSpPr>
        <p:spPr>
          <a:xfrm>
            <a:off x="4937760" y="3063240"/>
            <a:ext cx="3657600" cy="320040"/>
          </a:xfrm>
          <a:prstGeom prst="rect">
            <a:avLst/>
          </a:prstGeom>
          <a:noFill/>
          <a:ln/>
        </p:spPr>
        <p:txBody>
          <a:bodyPr wrap="square" lIns="0" tIns="0" rIns="0" bIns="0" rtlCol="0" anchor="ctr"/>
          <a:lstStyle/>
          <a:p>
            <a:pPr indent="0" marL="0">
              <a:buNone/>
            </a:pPr>
            <a:r>
              <a:rPr lang="en-US" sz="1500" b="1" dirty="0">
                <a:solidFill>
                  <a:srgbClr val="8B5CF6"/>
                </a:solidFill>
                <a:latin typeface="Trebuchet MS" pitchFamily="34" charset="0"/>
                <a:ea typeface="Trebuchet MS" pitchFamily="34" charset="-122"/>
                <a:cs typeface="Trebuchet MS" pitchFamily="34" charset="-120"/>
              </a:rPr>
              <a:t>Humans Remain Central</a:t>
            </a:r>
            <a:endParaRPr lang="en-US" sz="1500" dirty="0"/>
          </a:p>
        </p:txBody>
      </p:sp>
      <p:sp>
        <p:nvSpPr>
          <p:cNvPr id="18" name="Text 16"/>
          <p:cNvSpPr/>
          <p:nvPr/>
        </p:nvSpPr>
        <p:spPr>
          <a:xfrm>
            <a:off x="4937760" y="3429000"/>
            <a:ext cx="3657600" cy="118872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DEs and architects shift from makers to meta-designers. Accountability stays human. The Three Loops define engagement. HITL is the architecture of trust.</a:t>
            </a:r>
            <a:endParaRPr lang="en-US" sz="1150" dirty="0"/>
          </a:p>
        </p:txBody>
      </p:sp>
      <p:sp>
        <p:nvSpPr>
          <p:cNvPr id="19" name="Text 17"/>
          <p:cNvSpPr/>
          <p:nvPr/>
        </p:nvSpPr>
        <p:spPr>
          <a:xfrm>
            <a:off x="8229600" y="4800600"/>
            <a:ext cx="73152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19 / 20</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628"/>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3886200" y="365760"/>
            <a:ext cx="822960" cy="822960"/>
          </a:xfrm>
          <a:prstGeom prst="rect">
            <a:avLst/>
          </a:prstGeom>
        </p:spPr>
      </p:pic>
      <p:sp>
        <p:nvSpPr>
          <p:cNvPr id="3" name="Text 0"/>
          <p:cNvSpPr/>
          <p:nvPr/>
        </p:nvSpPr>
        <p:spPr>
          <a:xfrm>
            <a:off x="640080" y="1280160"/>
            <a:ext cx="7863840" cy="502920"/>
          </a:xfrm>
          <a:prstGeom prst="rect">
            <a:avLst/>
          </a:prstGeom>
          <a:noFill/>
          <a:ln/>
        </p:spPr>
        <p:txBody>
          <a:bodyPr wrap="square" lIns="0" tIns="0" rIns="0" bIns="0" rtlCol="0" anchor="ctr"/>
          <a:lstStyle/>
          <a:p>
            <a:pPr algn="ctr" indent="0" marL="0">
              <a:buNone/>
            </a:pPr>
            <a:r>
              <a:rPr lang="en-US" sz="3400" b="1" dirty="0">
                <a:solidFill>
                  <a:srgbClr val="FFFFFF"/>
                </a:solidFill>
                <a:latin typeface="Trebuchet MS" pitchFamily="34" charset="0"/>
                <a:ea typeface="Trebuchet MS" pitchFamily="34" charset="-122"/>
                <a:cs typeface="Trebuchet MS" pitchFamily="34" charset="-120"/>
              </a:rPr>
              <a:t>Start Monday Morning</a:t>
            </a:r>
            <a:endParaRPr lang="en-US" sz="3400" dirty="0"/>
          </a:p>
        </p:txBody>
      </p:sp>
      <p:pic>
        <p:nvPicPr>
          <p:cNvPr id="4" name="Image 1" descr="preencoded.png">    </p:cNvPr>
          <p:cNvPicPr>
            <a:picLocks noChangeAspect="1"/>
          </p:cNvPicPr>
          <p:nvPr/>
        </p:nvPicPr>
        <p:blipFill>
          <a:blip r:embed="rId2"/>
          <a:stretch>
            <a:fillRect/>
          </a:stretch>
        </p:blipFill>
        <p:spPr>
          <a:xfrm>
            <a:off x="1371600" y="1984248"/>
            <a:ext cx="274320" cy="274320"/>
          </a:xfrm>
          <a:prstGeom prst="rect">
            <a:avLst/>
          </a:prstGeom>
        </p:spPr>
      </p:pic>
      <p:sp>
        <p:nvSpPr>
          <p:cNvPr id="5" name="Text 1"/>
          <p:cNvSpPr/>
          <p:nvPr/>
        </p:nvSpPr>
        <p:spPr>
          <a:xfrm>
            <a:off x="1828800" y="1965960"/>
            <a:ext cx="5943600" cy="411480"/>
          </a:xfrm>
          <a:prstGeom prst="rect">
            <a:avLst/>
          </a:prstGeom>
          <a:noFill/>
          <a:ln/>
        </p:spPr>
        <p:txBody>
          <a:bodyPr wrap="square" lIns="0" tIns="0" rIns="0" bIns="0" rtlCol="0" anchor="ctr"/>
          <a:lstStyle/>
          <a:p>
            <a:pPr indent="0" marL="0">
              <a:buNone/>
            </a:pPr>
            <a:r>
              <a:rPr lang="en-US" sz="1400" dirty="0">
                <a:solidFill>
                  <a:srgbClr val="E0F2FE"/>
                </a:solidFill>
                <a:latin typeface="Calibri" pitchFamily="34" charset="0"/>
                <a:ea typeface="Calibri" pitchFamily="34" charset="-122"/>
                <a:cs typeface="Calibri" pitchFamily="34" charset="-120"/>
              </a:rPr>
              <a:t>Review one workload against all three AWS AI Lenses — not just one</a:t>
            </a:r>
            <a:endParaRPr lang="en-US" sz="1400" dirty="0"/>
          </a:p>
        </p:txBody>
      </p:sp>
      <p:pic>
        <p:nvPicPr>
          <p:cNvPr id="6" name="Image 2" descr="preencoded.png">    </p:cNvPr>
          <p:cNvPicPr>
            <a:picLocks noChangeAspect="1"/>
          </p:cNvPicPr>
          <p:nvPr/>
        </p:nvPicPr>
        <p:blipFill>
          <a:blip r:embed="rId3"/>
          <a:stretch>
            <a:fillRect/>
          </a:stretch>
        </p:blipFill>
        <p:spPr>
          <a:xfrm>
            <a:off x="1371600" y="2532888"/>
            <a:ext cx="274320" cy="274320"/>
          </a:xfrm>
          <a:prstGeom prst="rect">
            <a:avLst/>
          </a:prstGeom>
        </p:spPr>
      </p:pic>
      <p:sp>
        <p:nvSpPr>
          <p:cNvPr id="7" name="Text 2"/>
          <p:cNvSpPr/>
          <p:nvPr/>
        </p:nvSpPr>
        <p:spPr>
          <a:xfrm>
            <a:off x="1828800" y="2514600"/>
            <a:ext cx="5943600" cy="411480"/>
          </a:xfrm>
          <a:prstGeom prst="rect">
            <a:avLst/>
          </a:prstGeom>
          <a:noFill/>
          <a:ln/>
        </p:spPr>
        <p:txBody>
          <a:bodyPr wrap="square" lIns="0" tIns="0" rIns="0" bIns="0" rtlCol="0" anchor="ctr"/>
          <a:lstStyle/>
          <a:p>
            <a:pPr indent="0" marL="0">
              <a:buNone/>
            </a:pPr>
            <a:r>
              <a:rPr lang="en-US" sz="1400" dirty="0">
                <a:solidFill>
                  <a:srgbClr val="E0F2FE"/>
                </a:solidFill>
                <a:latin typeface="Calibri" pitchFamily="34" charset="0"/>
                <a:ea typeface="Calibri" pitchFamily="34" charset="-122"/>
                <a:cs typeface="Calibri" pitchFamily="34" charset="-120"/>
              </a:rPr>
              <a:t>Add AI-specific sections to your next ADR template — model selection, autonomy boundaries</a:t>
            </a:r>
            <a:endParaRPr lang="en-US" sz="1400" dirty="0"/>
          </a:p>
        </p:txBody>
      </p:sp>
      <p:pic>
        <p:nvPicPr>
          <p:cNvPr id="8" name="Image 3" descr="preencoded.png">    </p:cNvPr>
          <p:cNvPicPr>
            <a:picLocks noChangeAspect="1"/>
          </p:cNvPicPr>
          <p:nvPr/>
        </p:nvPicPr>
        <p:blipFill>
          <a:blip r:embed="rId4"/>
          <a:stretch>
            <a:fillRect/>
          </a:stretch>
        </p:blipFill>
        <p:spPr>
          <a:xfrm>
            <a:off x="1371600" y="3081528"/>
            <a:ext cx="274320" cy="274320"/>
          </a:xfrm>
          <a:prstGeom prst="rect">
            <a:avLst/>
          </a:prstGeom>
        </p:spPr>
      </p:pic>
      <p:sp>
        <p:nvSpPr>
          <p:cNvPr id="9" name="Text 3"/>
          <p:cNvSpPr/>
          <p:nvPr/>
        </p:nvSpPr>
        <p:spPr>
          <a:xfrm>
            <a:off x="1828800" y="3063240"/>
            <a:ext cx="5943600" cy="411480"/>
          </a:xfrm>
          <a:prstGeom prst="rect">
            <a:avLst/>
          </a:prstGeom>
          <a:noFill/>
          <a:ln/>
        </p:spPr>
        <p:txBody>
          <a:bodyPr wrap="square" lIns="0" tIns="0" rIns="0" bIns="0" rtlCol="0" anchor="ctr"/>
          <a:lstStyle/>
          <a:p>
            <a:pPr indent="0" marL="0">
              <a:buNone/>
            </a:pPr>
            <a:r>
              <a:rPr lang="en-US" sz="1400" dirty="0">
                <a:solidFill>
                  <a:srgbClr val="E0F2FE"/>
                </a:solidFill>
                <a:latin typeface="Calibri" pitchFamily="34" charset="0"/>
                <a:ea typeface="Calibri" pitchFamily="34" charset="-122"/>
                <a:cs typeface="Calibri" pitchFamily="34" charset="-120"/>
              </a:rPr>
              <a:t>Add an 'autonomy review gate' to your next design review</a:t>
            </a:r>
            <a:endParaRPr lang="en-US" sz="1400" dirty="0"/>
          </a:p>
        </p:txBody>
      </p:sp>
      <p:pic>
        <p:nvPicPr>
          <p:cNvPr id="10" name="Image 4" descr="preencoded.png">    </p:cNvPr>
          <p:cNvPicPr>
            <a:picLocks noChangeAspect="1"/>
          </p:cNvPicPr>
          <p:nvPr/>
        </p:nvPicPr>
        <p:blipFill>
          <a:blip r:embed="rId5"/>
          <a:stretch>
            <a:fillRect/>
          </a:stretch>
        </p:blipFill>
        <p:spPr>
          <a:xfrm>
            <a:off x="1371600" y="3630168"/>
            <a:ext cx="274320" cy="274320"/>
          </a:xfrm>
          <a:prstGeom prst="rect">
            <a:avLst/>
          </a:prstGeom>
        </p:spPr>
      </p:pic>
      <p:sp>
        <p:nvSpPr>
          <p:cNvPr id="11" name="Text 4"/>
          <p:cNvSpPr/>
          <p:nvPr/>
        </p:nvSpPr>
        <p:spPr>
          <a:xfrm>
            <a:off x="1828800" y="3611880"/>
            <a:ext cx="5943600" cy="411480"/>
          </a:xfrm>
          <a:prstGeom prst="rect">
            <a:avLst/>
          </a:prstGeom>
          <a:noFill/>
          <a:ln/>
        </p:spPr>
        <p:txBody>
          <a:bodyPr wrap="square" lIns="0" tIns="0" rIns="0" bIns="0" rtlCol="0" anchor="ctr"/>
          <a:lstStyle/>
          <a:p>
            <a:pPr indent="0" marL="0">
              <a:buNone/>
            </a:pPr>
            <a:r>
              <a:rPr lang="en-US" sz="1400" dirty="0">
                <a:solidFill>
                  <a:srgbClr val="E0F2FE"/>
                </a:solidFill>
                <a:latin typeface="Calibri" pitchFamily="34" charset="0"/>
                <a:ea typeface="Calibri" pitchFamily="34" charset="-122"/>
                <a:cs typeface="Calibri" pitchFamily="34" charset="-120"/>
              </a:rPr>
              <a:t>Map one AI system to the ten Responsible AI dimensions — find the gaps</a:t>
            </a:r>
            <a:endParaRPr lang="en-US" sz="1400" dirty="0"/>
          </a:p>
        </p:txBody>
      </p:sp>
      <p:pic>
        <p:nvPicPr>
          <p:cNvPr id="12" name="Image 5" descr="preencoded.png">    </p:cNvPr>
          <p:cNvPicPr>
            <a:picLocks noChangeAspect="1"/>
          </p:cNvPicPr>
          <p:nvPr/>
        </p:nvPicPr>
        <p:blipFill>
          <a:blip r:embed="rId6"/>
          <a:stretch>
            <a:fillRect/>
          </a:stretch>
        </p:blipFill>
        <p:spPr>
          <a:xfrm>
            <a:off x="1371600" y="4178808"/>
            <a:ext cx="274320" cy="274320"/>
          </a:xfrm>
          <a:prstGeom prst="rect">
            <a:avLst/>
          </a:prstGeom>
        </p:spPr>
      </p:pic>
      <p:sp>
        <p:nvSpPr>
          <p:cNvPr id="13" name="Text 5"/>
          <p:cNvSpPr/>
          <p:nvPr/>
        </p:nvSpPr>
        <p:spPr>
          <a:xfrm>
            <a:off x="1828800" y="4160520"/>
            <a:ext cx="5943600" cy="411480"/>
          </a:xfrm>
          <a:prstGeom prst="rect">
            <a:avLst/>
          </a:prstGeom>
          <a:noFill/>
          <a:ln/>
        </p:spPr>
        <p:txBody>
          <a:bodyPr wrap="square" lIns="0" tIns="0" rIns="0" bIns="0" rtlCol="0" anchor="ctr"/>
          <a:lstStyle/>
          <a:p>
            <a:pPr indent="0" marL="0">
              <a:buNone/>
            </a:pPr>
            <a:r>
              <a:rPr lang="en-US" sz="1400" dirty="0">
                <a:solidFill>
                  <a:srgbClr val="E0F2FE"/>
                </a:solidFill>
                <a:latin typeface="Calibri" pitchFamily="34" charset="0"/>
                <a:ea typeface="Calibri" pitchFamily="34" charset="-122"/>
                <a:cs typeface="Calibri" pitchFamily="34" charset="-120"/>
              </a:rPr>
              <a:t>Schedule one 'no-AI' design session this quarter — preserve your tacit knowledge</a:t>
            </a:r>
            <a:endParaRPr lang="en-US" sz="1400" dirty="0"/>
          </a:p>
        </p:txBody>
      </p:sp>
      <p:sp>
        <p:nvSpPr>
          <p:cNvPr id="14" name="Shape 6"/>
          <p:cNvSpPr/>
          <p:nvPr/>
        </p:nvSpPr>
        <p:spPr>
          <a:xfrm>
            <a:off x="2743200" y="4663440"/>
            <a:ext cx="3657600" cy="0"/>
          </a:xfrm>
          <a:prstGeom prst="line">
            <a:avLst/>
          </a:prstGeom>
          <a:noFill/>
          <a:ln w="12700">
            <a:solidFill>
              <a:srgbClr val="0891B2"/>
            </a:solidFill>
            <a:prstDash val="solid"/>
          </a:ln>
        </p:spPr>
      </p:sp>
      <p:sp>
        <p:nvSpPr>
          <p:cNvPr id="15" name="Text 7"/>
          <p:cNvSpPr/>
          <p:nvPr/>
        </p:nvSpPr>
        <p:spPr>
          <a:xfrm>
            <a:off x="914400" y="4709160"/>
            <a:ext cx="7315200" cy="365760"/>
          </a:xfrm>
          <a:prstGeom prst="rect">
            <a:avLst/>
          </a:prstGeom>
          <a:noFill/>
          <a:ln/>
        </p:spPr>
        <p:txBody>
          <a:bodyPr wrap="square" lIns="0" tIns="0" rIns="0" bIns="0" rtlCol="0" anchor="ctr"/>
          <a:lstStyle/>
          <a:p>
            <a:pPr algn="ctr" indent="0" marL="0">
              <a:buNone/>
            </a:pPr>
            <a:r>
              <a:rPr lang="en-US" sz="1300" i="1" dirty="0">
                <a:solidFill>
                  <a:srgbClr val="22D3EE"/>
                </a:solidFill>
                <a:latin typeface="Calibri" pitchFamily="34" charset="0"/>
                <a:ea typeface="Calibri" pitchFamily="34" charset="-122"/>
                <a:cs typeface="Calibri" pitchFamily="34" charset="-120"/>
              </a:rPr>
              <a:t>The best architectures don't choose between AI and humans.</a:t>
            </a:r>
            <a:endParaRPr lang="en-US" sz="1300" dirty="0"/>
          </a:p>
          <a:p>
            <a:pPr algn="ctr" indent="0" marL="0">
              <a:buNone/>
            </a:pPr>
            <a:r>
              <a:rPr lang="en-US" sz="1300" i="1" dirty="0">
                <a:solidFill>
                  <a:srgbClr val="22D3EE"/>
                </a:solidFill>
                <a:latin typeface="Calibri" pitchFamily="34" charset="0"/>
                <a:ea typeface="Calibri" pitchFamily="34" charset="-122"/>
                <a:cs typeface="Calibri" pitchFamily="34" charset="-120"/>
              </a:rPr>
              <a:t>They design the collaboration.</a:t>
            </a:r>
            <a:endParaRPr lang="en-US" sz="1300" dirty="0"/>
          </a:p>
        </p:txBody>
      </p:sp>
      <p:sp>
        <p:nvSpPr>
          <p:cNvPr id="16" name="Text 8"/>
          <p:cNvSpPr/>
          <p:nvPr/>
        </p:nvSpPr>
        <p:spPr>
          <a:xfrm>
            <a:off x="8229600" y="4800600"/>
            <a:ext cx="73152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20 / 20</a:t>
            </a:r>
            <a:endParaRPr lang="en-US" sz="900" dirty="0"/>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274320"/>
            <a:ext cx="8229600" cy="1828800"/>
          </a:xfrm>
          <a:prstGeom prst="rect">
            <a:avLst/>
          </a:prstGeom>
          <a:noFill/>
        </p:spPr>
        <p:txBody>
          <a:bodyPr wrap="square">
            <a:spAutoFit/>
          </a:bodyPr>
          <a:lstStyle/>
          <a:p>
            <a:pPr algn="ctr">
              <a:defRPr sz="9600" b="1" i="0">
                <a:solidFill>
                  <a:srgbClr val="EF4444"/>
                </a:solidFill>
                <a:latin typeface="Trebuchet MS"/>
              </a:defRPr>
            </a:pPr>
            <a:r>
              <a:t>80%</a:t>
            </a:r>
          </a:p>
        </p:txBody>
      </p:sp>
      <p:sp>
        <p:nvSpPr>
          <p:cNvPr id="3" name="TextBox 2"/>
          <p:cNvSpPr txBox="1"/>
          <p:nvPr/>
        </p:nvSpPr>
        <p:spPr>
          <a:xfrm>
            <a:off x="457200" y="1920240"/>
            <a:ext cx="8229600" cy="731520"/>
          </a:xfrm>
          <a:prstGeom prst="rect">
            <a:avLst/>
          </a:prstGeom>
          <a:noFill/>
        </p:spPr>
        <p:txBody>
          <a:bodyPr wrap="square">
            <a:spAutoFit/>
          </a:bodyPr>
          <a:lstStyle/>
          <a:p>
            <a:pPr algn="ctr">
              <a:defRPr sz="2400" b="1" i="0">
                <a:solidFill>
                  <a:srgbClr val="FFFFFF"/>
                </a:solidFill>
                <a:latin typeface="Trebuchet MS"/>
              </a:defRPr>
            </a:pPr>
            <a:r>
              <a:t>of enterprise AI projects fail to</a:t>
            </a:r>
            <a:br/>
            <a:r>
              <a:t>deliver business value</a:t>
            </a:r>
          </a:p>
        </p:txBody>
      </p:sp>
      <p:sp>
        <p:nvSpPr>
          <p:cNvPr id="4" name="TextBox 3"/>
          <p:cNvSpPr txBox="1"/>
          <p:nvPr/>
        </p:nvSpPr>
        <p:spPr>
          <a:xfrm>
            <a:off x="457200" y="2743200"/>
            <a:ext cx="8229600" cy="365760"/>
          </a:xfrm>
          <a:prstGeom prst="rect">
            <a:avLst/>
          </a:prstGeom>
          <a:noFill/>
        </p:spPr>
        <p:txBody>
          <a:bodyPr wrap="square">
            <a:spAutoFit/>
          </a:bodyPr>
          <a:lstStyle/>
          <a:p>
            <a:pPr algn="ctr">
              <a:defRPr sz="1300" b="0" i="1">
                <a:solidFill>
                  <a:srgbClr val="22D3EE"/>
                </a:solidFill>
                <a:latin typeface="Calibri"/>
              </a:defRPr>
            </a:pPr>
            <a:r>
              <a:t>— RAND Corporation, 2025 (confirmed by Gartner, April 2026)</a:t>
            </a:r>
          </a:p>
        </p:txBody>
      </p:sp>
      <p:sp>
        <p:nvSpPr>
          <p:cNvPr id="5" name="Rectangle 4"/>
          <p:cNvSpPr/>
          <p:nvPr/>
        </p:nvSpPr>
        <p:spPr>
          <a:xfrm>
            <a:off x="640080" y="3291840"/>
            <a:ext cx="2560320" cy="1371600"/>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3291840"/>
            <a:ext cx="2560320" cy="4572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3429000"/>
            <a:ext cx="2286000" cy="320040"/>
          </a:xfrm>
          <a:prstGeom prst="rect">
            <a:avLst/>
          </a:prstGeom>
          <a:noFill/>
        </p:spPr>
        <p:txBody>
          <a:bodyPr wrap="square">
            <a:spAutoFit/>
          </a:bodyPr>
          <a:lstStyle/>
          <a:p>
            <a:pPr algn="l">
              <a:defRPr sz="1300" b="1" i="0">
                <a:solidFill>
                  <a:srgbClr val="EF4444"/>
                </a:solidFill>
                <a:latin typeface="Calibri"/>
              </a:defRPr>
            </a:pPr>
            <a:r>
              <a:t>Poor Data Quality</a:t>
            </a:r>
          </a:p>
        </p:txBody>
      </p:sp>
      <p:sp>
        <p:nvSpPr>
          <p:cNvPr id="8" name="TextBox 7"/>
          <p:cNvSpPr txBox="1"/>
          <p:nvPr/>
        </p:nvSpPr>
        <p:spPr>
          <a:xfrm>
            <a:off x="777240" y="3794760"/>
            <a:ext cx="2286000" cy="685800"/>
          </a:xfrm>
          <a:prstGeom prst="rect">
            <a:avLst/>
          </a:prstGeom>
          <a:noFill/>
        </p:spPr>
        <p:txBody>
          <a:bodyPr wrap="square">
            <a:spAutoFit/>
          </a:bodyPr>
          <a:lstStyle/>
          <a:p>
            <a:pPr algn="l">
              <a:defRPr sz="1100" b="0" i="0">
                <a:solidFill>
                  <a:srgbClr val="E0F2FE"/>
                </a:solidFill>
                <a:latin typeface="Calibri"/>
              </a:defRPr>
            </a:pPr>
            <a:r>
              <a:t>63% of orgs lack AI-ready</a:t>
            </a:r>
            <a:br/>
            <a:r>
              <a:t>data management</a:t>
            </a:r>
          </a:p>
        </p:txBody>
      </p:sp>
      <p:sp>
        <p:nvSpPr>
          <p:cNvPr id="9" name="Rectangle 8"/>
          <p:cNvSpPr/>
          <p:nvPr/>
        </p:nvSpPr>
        <p:spPr>
          <a:xfrm>
            <a:off x="3474720" y="3291840"/>
            <a:ext cx="2560320" cy="1371600"/>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474720" y="3291840"/>
            <a:ext cx="256032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11879" y="3429000"/>
            <a:ext cx="2286000" cy="320040"/>
          </a:xfrm>
          <a:prstGeom prst="rect">
            <a:avLst/>
          </a:prstGeom>
          <a:noFill/>
        </p:spPr>
        <p:txBody>
          <a:bodyPr wrap="square">
            <a:spAutoFit/>
          </a:bodyPr>
          <a:lstStyle/>
          <a:p>
            <a:pPr algn="l">
              <a:defRPr sz="1300" b="1" i="0">
                <a:solidFill>
                  <a:srgbClr val="F59E0B"/>
                </a:solidFill>
                <a:latin typeface="Calibri"/>
              </a:defRPr>
            </a:pPr>
            <a:r>
              <a:t>Inadequate Risk Controls</a:t>
            </a:r>
          </a:p>
        </p:txBody>
      </p:sp>
      <p:sp>
        <p:nvSpPr>
          <p:cNvPr id="12" name="TextBox 11"/>
          <p:cNvSpPr txBox="1"/>
          <p:nvPr/>
        </p:nvSpPr>
        <p:spPr>
          <a:xfrm>
            <a:off x="3611879" y="3794760"/>
            <a:ext cx="2286000" cy="685800"/>
          </a:xfrm>
          <a:prstGeom prst="rect">
            <a:avLst/>
          </a:prstGeom>
          <a:noFill/>
        </p:spPr>
        <p:txBody>
          <a:bodyPr wrap="square">
            <a:spAutoFit/>
          </a:bodyPr>
          <a:lstStyle/>
          <a:p>
            <a:pPr algn="l">
              <a:defRPr sz="1100" b="0" i="0">
                <a:solidFill>
                  <a:srgbClr val="E0F2FE"/>
                </a:solidFill>
                <a:latin typeface="Calibri"/>
              </a:defRPr>
            </a:pPr>
            <a:r>
              <a:t>No governance, no guardrails,</a:t>
            </a:r>
            <a:br/>
            <a:r>
              <a:t>no human oversight</a:t>
            </a:r>
          </a:p>
        </p:txBody>
      </p:sp>
      <p:sp>
        <p:nvSpPr>
          <p:cNvPr id="13" name="Rectangle 12"/>
          <p:cNvSpPr/>
          <p:nvPr/>
        </p:nvSpPr>
        <p:spPr>
          <a:xfrm>
            <a:off x="6309360" y="3291840"/>
            <a:ext cx="2560320" cy="1371600"/>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309360" y="3291840"/>
            <a:ext cx="2560320" cy="45720"/>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6520" y="3429000"/>
            <a:ext cx="2286000" cy="320040"/>
          </a:xfrm>
          <a:prstGeom prst="rect">
            <a:avLst/>
          </a:prstGeom>
          <a:noFill/>
        </p:spPr>
        <p:txBody>
          <a:bodyPr wrap="square">
            <a:spAutoFit/>
          </a:bodyPr>
          <a:lstStyle/>
          <a:p>
            <a:pPr algn="l">
              <a:defRPr sz="1300" b="1" i="0">
                <a:solidFill>
                  <a:srgbClr val="64748B"/>
                </a:solidFill>
                <a:latin typeface="Calibri"/>
              </a:defRPr>
            </a:pPr>
            <a:r>
              <a:t>Unclear Business Value</a:t>
            </a:r>
          </a:p>
        </p:txBody>
      </p:sp>
      <p:sp>
        <p:nvSpPr>
          <p:cNvPr id="16" name="TextBox 15"/>
          <p:cNvSpPr txBox="1"/>
          <p:nvPr/>
        </p:nvSpPr>
        <p:spPr>
          <a:xfrm>
            <a:off x="6446520" y="3794760"/>
            <a:ext cx="2286000" cy="685800"/>
          </a:xfrm>
          <a:prstGeom prst="rect">
            <a:avLst/>
          </a:prstGeom>
          <a:noFill/>
        </p:spPr>
        <p:txBody>
          <a:bodyPr wrap="square">
            <a:spAutoFit/>
          </a:bodyPr>
          <a:lstStyle/>
          <a:p>
            <a:pPr algn="l">
              <a:defRPr sz="1100" b="0" i="0">
                <a:solidFill>
                  <a:srgbClr val="E0F2FE"/>
                </a:solidFill>
                <a:latin typeface="Calibri"/>
              </a:defRPr>
            </a:pPr>
            <a:r>
              <a:t>Chasing demos instead of</a:t>
            </a:r>
            <a:br/>
            <a:r>
              <a:t>solving real problems</a:t>
            </a:r>
          </a:p>
        </p:txBody>
      </p:sp>
      <p:sp>
        <p:nvSpPr>
          <p:cNvPr id="17" name="TextBox 16"/>
          <p:cNvSpPr txBox="1"/>
          <p:nvPr/>
        </p:nvSpPr>
        <p:spPr>
          <a:xfrm>
            <a:off x="457200" y="4754880"/>
            <a:ext cx="8229600" cy="274320"/>
          </a:xfrm>
          <a:prstGeom prst="rect">
            <a:avLst/>
          </a:prstGeom>
          <a:noFill/>
        </p:spPr>
        <p:txBody>
          <a:bodyPr wrap="square">
            <a:spAutoFit/>
          </a:bodyPr>
          <a:lstStyle/>
          <a:p>
            <a:pPr algn="ctr">
              <a:defRPr sz="1400" b="1" i="1">
                <a:solidFill>
                  <a:srgbClr val="F59E0B"/>
                </a:solidFill>
                <a:latin typeface="Calibri"/>
              </a:defRPr>
            </a:pPr>
            <a:r>
              <a:t>This is an architecture problem. Not a technology problem.</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640080" y="182880"/>
            <a:ext cx="7772400" cy="502920"/>
          </a:xfrm>
          <a:prstGeom prst="rect">
            <a:avLst/>
          </a:prstGeom>
          <a:noFill/>
        </p:spPr>
        <p:txBody>
          <a:bodyPr wrap="square">
            <a:spAutoFit/>
          </a:bodyPr>
          <a:lstStyle/>
          <a:p>
            <a:pPr algn="l">
              <a:defRPr sz="3000" b="1" i="0">
                <a:solidFill>
                  <a:srgbClr val="1E293B"/>
                </a:solidFill>
                <a:latin typeface="Trebuchet MS"/>
              </a:defRPr>
            </a:pPr>
            <a:r>
              <a:t>The Confidence Trap</a:t>
            </a:r>
          </a:p>
        </p:txBody>
      </p:sp>
      <p:sp>
        <p:nvSpPr>
          <p:cNvPr id="3" name="TextBox 2"/>
          <p:cNvSpPr txBox="1"/>
          <p:nvPr/>
        </p:nvSpPr>
        <p:spPr>
          <a:xfrm>
            <a:off x="640080" y="685800"/>
            <a:ext cx="6400800" cy="320040"/>
          </a:xfrm>
          <a:prstGeom prst="rect">
            <a:avLst/>
          </a:prstGeom>
          <a:noFill/>
        </p:spPr>
        <p:txBody>
          <a:bodyPr wrap="square">
            <a:spAutoFit/>
          </a:bodyPr>
          <a:lstStyle/>
          <a:p>
            <a:pPr algn="l">
              <a:defRPr sz="1400" b="0" i="1">
                <a:solidFill>
                  <a:srgbClr val="EF4444"/>
                </a:solidFill>
                <a:latin typeface="Calibri"/>
              </a:defRPr>
            </a:pPr>
            <a:r>
              <a:t>The more wrong AI is, the more certain it sounds</a:t>
            </a:r>
          </a:p>
        </p:txBody>
      </p:sp>
      <p:sp>
        <p:nvSpPr>
          <p:cNvPr id="4" name="Rectangle 3"/>
          <p:cNvSpPr/>
          <p:nvPr/>
        </p:nvSpPr>
        <p:spPr>
          <a:xfrm>
            <a:off x="457200" y="1188720"/>
            <a:ext cx="8229600" cy="1280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234440"/>
            <a:ext cx="1828800" cy="731520"/>
          </a:xfrm>
          <a:prstGeom prst="rect">
            <a:avLst/>
          </a:prstGeom>
          <a:noFill/>
        </p:spPr>
        <p:txBody>
          <a:bodyPr wrap="square">
            <a:spAutoFit/>
          </a:bodyPr>
          <a:lstStyle/>
          <a:p>
            <a:pPr algn="l">
              <a:defRPr sz="5200" b="1" i="0">
                <a:solidFill>
                  <a:srgbClr val="EF4444"/>
                </a:solidFill>
                <a:latin typeface="Trebuchet MS"/>
              </a:defRPr>
            </a:pPr>
            <a:r>
              <a:t>34%</a:t>
            </a:r>
          </a:p>
        </p:txBody>
      </p:sp>
      <p:sp>
        <p:nvSpPr>
          <p:cNvPr id="6" name="TextBox 5"/>
          <p:cNvSpPr txBox="1"/>
          <p:nvPr/>
        </p:nvSpPr>
        <p:spPr>
          <a:xfrm>
            <a:off x="2560320" y="1280160"/>
            <a:ext cx="3657600" cy="914400"/>
          </a:xfrm>
          <a:prstGeom prst="rect">
            <a:avLst/>
          </a:prstGeom>
          <a:noFill/>
        </p:spPr>
        <p:txBody>
          <a:bodyPr wrap="square">
            <a:spAutoFit/>
          </a:bodyPr>
          <a:lstStyle/>
          <a:p>
            <a:pPr algn="l">
              <a:defRPr sz="1400" b="0" i="0">
                <a:solidFill>
                  <a:srgbClr val="1E293B"/>
                </a:solidFill>
                <a:latin typeface="Calibri"/>
              </a:defRPr>
            </a:pPr>
            <a:r>
              <a:t>more likely to use words like</a:t>
            </a:r>
            <a:br/>
            <a:r>
              <a:t>"definitely" and "certainly"</a:t>
            </a:r>
            <a:br/>
            <a:r>
              <a:t>when generating INCORRECT info</a:t>
            </a:r>
          </a:p>
        </p:txBody>
      </p:sp>
      <p:sp>
        <p:nvSpPr>
          <p:cNvPr id="7" name="TextBox 6"/>
          <p:cNvSpPr txBox="1"/>
          <p:nvPr/>
        </p:nvSpPr>
        <p:spPr>
          <a:xfrm>
            <a:off x="6400800" y="1280160"/>
            <a:ext cx="2286000" cy="274320"/>
          </a:xfrm>
          <a:prstGeom prst="rect">
            <a:avLst/>
          </a:prstGeom>
          <a:noFill/>
        </p:spPr>
        <p:txBody>
          <a:bodyPr wrap="square">
            <a:spAutoFit/>
          </a:bodyPr>
          <a:lstStyle/>
          <a:p>
            <a:pPr algn="l">
              <a:defRPr sz="1100" b="0" i="1">
                <a:solidFill>
                  <a:srgbClr val="64748B"/>
                </a:solidFill>
                <a:latin typeface="Calibri"/>
              </a:defRPr>
            </a:pPr>
            <a:r>
              <a:t>— MIT Research, Jan 2025</a:t>
            </a:r>
          </a:p>
        </p:txBody>
      </p:sp>
      <p:sp>
        <p:nvSpPr>
          <p:cNvPr id="8" name="TextBox 7"/>
          <p:cNvSpPr txBox="1"/>
          <p:nvPr/>
        </p:nvSpPr>
        <p:spPr>
          <a:xfrm>
            <a:off x="640080" y="2743200"/>
            <a:ext cx="7315200" cy="320040"/>
          </a:xfrm>
          <a:prstGeom prst="rect">
            <a:avLst/>
          </a:prstGeom>
          <a:noFill/>
        </p:spPr>
        <p:txBody>
          <a:bodyPr wrap="square">
            <a:spAutoFit/>
          </a:bodyPr>
          <a:lstStyle/>
          <a:p>
            <a:pPr algn="l">
              <a:defRPr sz="1600" b="1" i="0">
                <a:solidFill>
                  <a:srgbClr val="1E293B"/>
                </a:solidFill>
                <a:latin typeface="Trebuchet MS"/>
              </a:defRPr>
            </a:pPr>
            <a:r>
              <a:t>Real-World Consequences:</a:t>
            </a:r>
          </a:p>
        </p:txBody>
      </p:sp>
      <p:sp>
        <p:nvSpPr>
          <p:cNvPr id="9" name="Rectangle 8"/>
          <p:cNvSpPr/>
          <p:nvPr/>
        </p:nvSpPr>
        <p:spPr>
          <a:xfrm>
            <a:off x="457200" y="3200400"/>
            <a:ext cx="822960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3200400"/>
            <a:ext cx="54864" cy="438912"/>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3227832"/>
            <a:ext cx="1828800" cy="228600"/>
          </a:xfrm>
          <a:prstGeom prst="rect">
            <a:avLst/>
          </a:prstGeom>
          <a:noFill/>
        </p:spPr>
        <p:txBody>
          <a:bodyPr wrap="square">
            <a:spAutoFit/>
          </a:bodyPr>
          <a:lstStyle/>
          <a:p>
            <a:pPr algn="l">
              <a:defRPr sz="1200" b="1" i="0">
                <a:solidFill>
                  <a:srgbClr val="EF4444"/>
                </a:solidFill>
                <a:latin typeface="Calibri"/>
              </a:defRPr>
            </a:pPr>
            <a:r>
              <a:t>Lawyer sanctioned</a:t>
            </a:r>
          </a:p>
        </p:txBody>
      </p:sp>
      <p:sp>
        <p:nvSpPr>
          <p:cNvPr id="12" name="TextBox 11"/>
          <p:cNvSpPr txBox="1"/>
          <p:nvPr/>
        </p:nvSpPr>
        <p:spPr>
          <a:xfrm>
            <a:off x="2560320" y="3227832"/>
            <a:ext cx="5943600" cy="347472"/>
          </a:xfrm>
          <a:prstGeom prst="rect">
            <a:avLst/>
          </a:prstGeom>
          <a:noFill/>
        </p:spPr>
        <p:txBody>
          <a:bodyPr wrap="square">
            <a:spAutoFit/>
          </a:bodyPr>
          <a:lstStyle/>
          <a:p>
            <a:pPr algn="l">
              <a:defRPr sz="1100" b="0" i="0">
                <a:solidFill>
                  <a:srgbClr val="64748B"/>
                </a:solidFill>
                <a:latin typeface="Calibri"/>
              </a:defRPr>
            </a:pPr>
            <a:r>
              <a:t>Submitted AI brief with fabricated case citations that didn't exist</a:t>
            </a:r>
          </a:p>
        </p:txBody>
      </p:sp>
      <p:sp>
        <p:nvSpPr>
          <p:cNvPr id="13" name="Rectangle 12"/>
          <p:cNvSpPr/>
          <p:nvPr/>
        </p:nvSpPr>
        <p:spPr>
          <a:xfrm>
            <a:off x="457200" y="3749039"/>
            <a:ext cx="822960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3749039"/>
            <a:ext cx="54864" cy="43891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776472"/>
            <a:ext cx="1828800" cy="228600"/>
          </a:xfrm>
          <a:prstGeom prst="rect">
            <a:avLst/>
          </a:prstGeom>
          <a:noFill/>
        </p:spPr>
        <p:txBody>
          <a:bodyPr wrap="square">
            <a:spAutoFit/>
          </a:bodyPr>
          <a:lstStyle/>
          <a:p>
            <a:pPr algn="l">
              <a:defRPr sz="1200" b="1" i="0">
                <a:solidFill>
                  <a:srgbClr val="F59E0B"/>
                </a:solidFill>
                <a:latin typeface="Calibri"/>
              </a:defRPr>
            </a:pPr>
            <a:r>
              <a:t>Tourist trap</a:t>
            </a:r>
          </a:p>
        </p:txBody>
      </p:sp>
      <p:sp>
        <p:nvSpPr>
          <p:cNvPr id="16" name="TextBox 15"/>
          <p:cNvSpPr txBox="1"/>
          <p:nvPr/>
        </p:nvSpPr>
        <p:spPr>
          <a:xfrm>
            <a:off x="2560320" y="3776472"/>
            <a:ext cx="5943600" cy="347472"/>
          </a:xfrm>
          <a:prstGeom prst="rect">
            <a:avLst/>
          </a:prstGeom>
          <a:noFill/>
        </p:spPr>
        <p:txBody>
          <a:bodyPr wrap="square">
            <a:spAutoFit/>
          </a:bodyPr>
          <a:lstStyle/>
          <a:p>
            <a:pPr algn="l">
              <a:defRPr sz="1100" b="0" i="0">
                <a:solidFill>
                  <a:srgbClr val="64748B"/>
                </a:solidFill>
                <a:latin typeface="Calibri"/>
              </a:defRPr>
            </a:pPr>
            <a:r>
              <a:t>Travel company published AI blog recommending hot springs that don't exist</a:t>
            </a:r>
          </a:p>
        </p:txBody>
      </p:sp>
      <p:sp>
        <p:nvSpPr>
          <p:cNvPr id="17" name="Rectangle 16"/>
          <p:cNvSpPr/>
          <p:nvPr/>
        </p:nvSpPr>
        <p:spPr>
          <a:xfrm>
            <a:off x="457200" y="4297680"/>
            <a:ext cx="822960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4297680"/>
            <a:ext cx="54864" cy="438912"/>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4325112"/>
            <a:ext cx="1828800" cy="228600"/>
          </a:xfrm>
          <a:prstGeom prst="rect">
            <a:avLst/>
          </a:prstGeom>
          <a:noFill/>
        </p:spPr>
        <p:txBody>
          <a:bodyPr wrap="square">
            <a:spAutoFit/>
          </a:bodyPr>
          <a:lstStyle/>
          <a:p>
            <a:pPr algn="l">
              <a:defRPr sz="1200" b="1" i="0">
                <a:solidFill>
                  <a:srgbClr val="8B5CF6"/>
                </a:solidFill>
                <a:latin typeface="Calibri"/>
              </a:defRPr>
            </a:pPr>
            <a:r>
              <a:t>Glue on pizza</a:t>
            </a:r>
          </a:p>
        </p:txBody>
      </p:sp>
      <p:sp>
        <p:nvSpPr>
          <p:cNvPr id="20" name="TextBox 19"/>
          <p:cNvSpPr txBox="1"/>
          <p:nvPr/>
        </p:nvSpPr>
        <p:spPr>
          <a:xfrm>
            <a:off x="2560320" y="4325112"/>
            <a:ext cx="5943600" cy="347472"/>
          </a:xfrm>
          <a:prstGeom prst="rect">
            <a:avLst/>
          </a:prstGeom>
          <a:noFill/>
        </p:spPr>
        <p:txBody>
          <a:bodyPr wrap="square">
            <a:spAutoFit/>
          </a:bodyPr>
          <a:lstStyle/>
          <a:p>
            <a:pPr algn="l">
              <a:defRPr sz="1100" b="0" i="0">
                <a:solidFill>
                  <a:srgbClr val="64748B"/>
                </a:solidFill>
                <a:latin typeface="Calibri"/>
              </a:defRPr>
            </a:pPr>
            <a:r>
              <a:t>Google AI Overview recommended adding glue to pizza. Based on a Reddit joke.</a:t>
            </a:r>
          </a:p>
        </p:txBody>
      </p:sp>
      <p:sp>
        <p:nvSpPr>
          <p:cNvPr id="21" name="TextBox 20"/>
          <p:cNvSpPr txBox="1"/>
          <p:nvPr/>
        </p:nvSpPr>
        <p:spPr>
          <a:xfrm>
            <a:off x="457200" y="4663440"/>
            <a:ext cx="8229600" cy="320040"/>
          </a:xfrm>
          <a:prstGeom prst="rect">
            <a:avLst/>
          </a:prstGeom>
          <a:noFill/>
        </p:spPr>
        <p:txBody>
          <a:bodyPr wrap="square">
            <a:spAutoFit/>
          </a:bodyPr>
          <a:lstStyle/>
          <a:p>
            <a:pPr algn="ctr">
              <a:defRPr sz="1300" b="1" i="1">
                <a:solidFill>
                  <a:srgbClr val="EF4444"/>
                </a:solidFill>
                <a:latin typeface="Calibri"/>
              </a:defRPr>
            </a:pPr>
            <a:r>
              <a:t>In financial services, a confident hallucination isn't embarrassing — it's a regulatory event.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640080" y="137160"/>
            <a:ext cx="7772400" cy="457200"/>
          </a:xfrm>
          <a:prstGeom prst="rect">
            <a:avLst/>
          </a:prstGeom>
          <a:noFill/>
        </p:spPr>
        <p:txBody>
          <a:bodyPr wrap="square">
            <a:spAutoFit/>
          </a:bodyPr>
          <a:lstStyle/>
          <a:p>
            <a:pPr algn="l">
              <a:defRPr sz="2800" b="1" i="0">
                <a:solidFill>
                  <a:srgbClr val="FFFFFF"/>
                </a:solidFill>
                <a:latin typeface="Trebuchet MS"/>
              </a:defRPr>
            </a:pPr>
            <a:r>
              <a:t>A Tale of Two Teams</a:t>
            </a:r>
          </a:p>
        </p:txBody>
      </p:sp>
      <p:sp>
        <p:nvSpPr>
          <p:cNvPr id="3" name="Rectangle 2"/>
          <p:cNvSpPr/>
          <p:nvPr/>
        </p:nvSpPr>
        <p:spPr>
          <a:xfrm>
            <a:off x="457200" y="685800"/>
            <a:ext cx="3931920" cy="4023360"/>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685800"/>
            <a:ext cx="3931920" cy="54864"/>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22960"/>
            <a:ext cx="3474720" cy="320040"/>
          </a:xfrm>
          <a:prstGeom prst="rect">
            <a:avLst/>
          </a:prstGeom>
          <a:noFill/>
        </p:spPr>
        <p:txBody>
          <a:bodyPr wrap="square">
            <a:spAutoFit/>
          </a:bodyPr>
          <a:lstStyle/>
          <a:p>
            <a:pPr algn="l">
              <a:defRPr sz="1400" b="1" i="0">
                <a:solidFill>
                  <a:srgbClr val="EF4444"/>
                </a:solidFill>
                <a:latin typeface="Calibri"/>
              </a:defRPr>
            </a:pPr>
            <a:r>
              <a:t>Team A — No Architect in the Loop</a:t>
            </a:r>
          </a:p>
        </p:txBody>
      </p:sp>
      <p:sp>
        <p:nvSpPr>
          <p:cNvPr id="6" name="TextBox 5"/>
          <p:cNvSpPr txBox="1"/>
          <p:nvPr/>
        </p:nvSpPr>
        <p:spPr>
          <a:xfrm>
            <a:off x="640080" y="1234440"/>
            <a:ext cx="3474720" cy="320040"/>
          </a:xfrm>
          <a:prstGeom prst="rect">
            <a:avLst/>
          </a:prstGeom>
          <a:noFill/>
        </p:spPr>
        <p:txBody>
          <a:bodyPr wrap="square">
            <a:spAutoFit/>
          </a:bodyPr>
          <a:lstStyle/>
          <a:p>
            <a:pPr algn="l">
              <a:defRPr sz="1100" b="0" i="0">
                <a:solidFill>
                  <a:srgbClr val="E0F2FE"/>
                </a:solidFill>
                <a:latin typeface="Calibri"/>
              </a:defRPr>
            </a:pPr>
            <a:r>
              <a:t>✗  Picked model because it was popular</a:t>
            </a:r>
          </a:p>
        </p:txBody>
      </p:sp>
      <p:sp>
        <p:nvSpPr>
          <p:cNvPr id="7" name="TextBox 6"/>
          <p:cNvSpPr txBox="1"/>
          <p:nvPr/>
        </p:nvSpPr>
        <p:spPr>
          <a:xfrm>
            <a:off x="640080" y="1636776"/>
            <a:ext cx="3474720" cy="320040"/>
          </a:xfrm>
          <a:prstGeom prst="rect">
            <a:avLst/>
          </a:prstGeom>
          <a:noFill/>
        </p:spPr>
        <p:txBody>
          <a:bodyPr wrap="square">
            <a:spAutoFit/>
          </a:bodyPr>
          <a:lstStyle/>
          <a:p>
            <a:pPr algn="l">
              <a:defRPr sz="1100" b="0" i="0">
                <a:solidFill>
                  <a:srgbClr val="E0F2FE"/>
                </a:solidFill>
                <a:latin typeface="Calibri"/>
              </a:defRPr>
            </a:pPr>
            <a:r>
              <a:t>✗  No ADR documenting the decision</a:t>
            </a:r>
          </a:p>
        </p:txBody>
      </p:sp>
      <p:sp>
        <p:nvSpPr>
          <p:cNvPr id="8" name="TextBox 7"/>
          <p:cNvSpPr txBox="1"/>
          <p:nvPr/>
        </p:nvSpPr>
        <p:spPr>
          <a:xfrm>
            <a:off x="640080" y="2039112"/>
            <a:ext cx="3474720" cy="320040"/>
          </a:xfrm>
          <a:prstGeom prst="rect">
            <a:avLst/>
          </a:prstGeom>
          <a:noFill/>
        </p:spPr>
        <p:txBody>
          <a:bodyPr wrap="square">
            <a:spAutoFit/>
          </a:bodyPr>
          <a:lstStyle/>
          <a:p>
            <a:pPr algn="l">
              <a:defRPr sz="1100" b="0" i="0">
                <a:solidFill>
                  <a:srgbClr val="E0F2FE"/>
                </a:solidFill>
                <a:latin typeface="Calibri"/>
              </a:defRPr>
            </a:pPr>
            <a:r>
              <a:t>✗  Skipped design review — 'just an API call'</a:t>
            </a:r>
          </a:p>
        </p:txBody>
      </p:sp>
      <p:sp>
        <p:nvSpPr>
          <p:cNvPr id="9" name="TextBox 8"/>
          <p:cNvSpPr txBox="1"/>
          <p:nvPr/>
        </p:nvSpPr>
        <p:spPr>
          <a:xfrm>
            <a:off x="640080" y="2441448"/>
            <a:ext cx="3474720" cy="320040"/>
          </a:xfrm>
          <a:prstGeom prst="rect">
            <a:avLst/>
          </a:prstGeom>
          <a:noFill/>
        </p:spPr>
        <p:txBody>
          <a:bodyPr wrap="square">
            <a:spAutoFit/>
          </a:bodyPr>
          <a:lstStyle/>
          <a:p>
            <a:pPr algn="l">
              <a:defRPr sz="1100" b="0" i="0">
                <a:solidFill>
                  <a:srgbClr val="E0F2FE"/>
                </a:solidFill>
                <a:latin typeface="Calibri"/>
              </a:defRPr>
            </a:pPr>
            <a:r>
              <a:t>✗  No output validation layer</a:t>
            </a:r>
          </a:p>
        </p:txBody>
      </p:sp>
      <p:sp>
        <p:nvSpPr>
          <p:cNvPr id="10" name="TextBox 9"/>
          <p:cNvSpPr txBox="1"/>
          <p:nvPr/>
        </p:nvSpPr>
        <p:spPr>
          <a:xfrm>
            <a:off x="640080" y="2843784"/>
            <a:ext cx="3474720" cy="320040"/>
          </a:xfrm>
          <a:prstGeom prst="rect">
            <a:avLst/>
          </a:prstGeom>
          <a:noFill/>
        </p:spPr>
        <p:txBody>
          <a:bodyPr wrap="square">
            <a:spAutoFit/>
          </a:bodyPr>
          <a:lstStyle/>
          <a:p>
            <a:pPr algn="l">
              <a:defRPr sz="1100" b="0" i="0">
                <a:solidFill>
                  <a:srgbClr val="E0F2FE"/>
                </a:solidFill>
                <a:latin typeface="Calibri"/>
              </a:defRPr>
            </a:pPr>
            <a:r>
              <a:t>✗  No autonomy boundaries defined</a:t>
            </a:r>
          </a:p>
        </p:txBody>
      </p:sp>
      <p:sp>
        <p:nvSpPr>
          <p:cNvPr id="11" name="TextBox 10"/>
          <p:cNvSpPr txBox="1"/>
          <p:nvPr/>
        </p:nvSpPr>
        <p:spPr>
          <a:xfrm>
            <a:off x="640080" y="3246120"/>
            <a:ext cx="3474720" cy="320040"/>
          </a:xfrm>
          <a:prstGeom prst="rect">
            <a:avLst/>
          </a:prstGeom>
          <a:noFill/>
        </p:spPr>
        <p:txBody>
          <a:bodyPr wrap="square">
            <a:spAutoFit/>
          </a:bodyPr>
          <a:lstStyle/>
          <a:p>
            <a:pPr algn="l">
              <a:defRPr sz="1100" b="0" i="0">
                <a:solidFill>
                  <a:srgbClr val="E0F2FE"/>
                </a:solidFill>
                <a:latin typeface="Calibri"/>
              </a:defRPr>
            </a:pPr>
            <a:r>
              <a:t>✗  No observability for AI behavior</a:t>
            </a:r>
          </a:p>
        </p:txBody>
      </p:sp>
      <p:sp>
        <p:nvSpPr>
          <p:cNvPr id="12" name="TextBox 11"/>
          <p:cNvSpPr txBox="1"/>
          <p:nvPr/>
        </p:nvSpPr>
        <p:spPr>
          <a:xfrm>
            <a:off x="640080" y="3648456"/>
            <a:ext cx="3474720" cy="320040"/>
          </a:xfrm>
          <a:prstGeom prst="rect">
            <a:avLst/>
          </a:prstGeom>
          <a:noFill/>
        </p:spPr>
        <p:txBody>
          <a:bodyPr wrap="square">
            <a:spAutoFit/>
          </a:bodyPr>
          <a:lstStyle/>
          <a:p>
            <a:pPr algn="l">
              <a:defRPr sz="1100" b="0" i="0">
                <a:solidFill>
                  <a:srgbClr val="EF4444"/>
                </a:solidFill>
                <a:latin typeface="Calibri"/>
              </a:defRPr>
            </a:pPr>
            <a:r>
              <a:t>✗  Hallucinated financial advice in production</a:t>
            </a:r>
          </a:p>
        </p:txBody>
      </p:sp>
      <p:sp>
        <p:nvSpPr>
          <p:cNvPr id="13" name="TextBox 12"/>
          <p:cNvSpPr txBox="1"/>
          <p:nvPr/>
        </p:nvSpPr>
        <p:spPr>
          <a:xfrm>
            <a:off x="640080" y="4050791"/>
            <a:ext cx="3474720" cy="320040"/>
          </a:xfrm>
          <a:prstGeom prst="rect">
            <a:avLst/>
          </a:prstGeom>
          <a:noFill/>
        </p:spPr>
        <p:txBody>
          <a:bodyPr wrap="square">
            <a:spAutoFit/>
          </a:bodyPr>
          <a:lstStyle/>
          <a:p>
            <a:pPr algn="l">
              <a:defRPr sz="1100" b="0" i="0">
                <a:solidFill>
                  <a:srgbClr val="EF4444"/>
                </a:solidFill>
                <a:latin typeface="Calibri"/>
              </a:defRPr>
            </a:pPr>
            <a:r>
              <a:t>✗  Regulatory inquiry. Project killed.</a:t>
            </a:r>
          </a:p>
        </p:txBody>
      </p:sp>
      <p:sp>
        <p:nvSpPr>
          <p:cNvPr id="14" name="Rectangle 13"/>
          <p:cNvSpPr/>
          <p:nvPr/>
        </p:nvSpPr>
        <p:spPr>
          <a:xfrm>
            <a:off x="4754880" y="685800"/>
            <a:ext cx="3931920" cy="4023360"/>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754880" y="685800"/>
            <a:ext cx="3931920"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937760" y="822960"/>
            <a:ext cx="3474720" cy="320040"/>
          </a:xfrm>
          <a:prstGeom prst="rect">
            <a:avLst/>
          </a:prstGeom>
          <a:noFill/>
        </p:spPr>
        <p:txBody>
          <a:bodyPr wrap="square">
            <a:spAutoFit/>
          </a:bodyPr>
          <a:lstStyle/>
          <a:p>
            <a:pPr algn="l">
              <a:defRPr sz="1400" b="1" i="0">
                <a:solidFill>
                  <a:srgbClr val="10B981"/>
                </a:solidFill>
                <a:latin typeface="Calibri"/>
              </a:defRPr>
            </a:pPr>
            <a:r>
              <a:t>Team B — Architect in the Loop</a:t>
            </a:r>
          </a:p>
        </p:txBody>
      </p:sp>
      <p:sp>
        <p:nvSpPr>
          <p:cNvPr id="17" name="TextBox 16"/>
          <p:cNvSpPr txBox="1"/>
          <p:nvPr/>
        </p:nvSpPr>
        <p:spPr>
          <a:xfrm>
            <a:off x="4937760" y="1234440"/>
            <a:ext cx="3474720" cy="320040"/>
          </a:xfrm>
          <a:prstGeom prst="rect">
            <a:avLst/>
          </a:prstGeom>
          <a:noFill/>
        </p:spPr>
        <p:txBody>
          <a:bodyPr wrap="square">
            <a:spAutoFit/>
          </a:bodyPr>
          <a:lstStyle/>
          <a:p>
            <a:pPr algn="l">
              <a:defRPr sz="1100" b="0" i="0">
                <a:solidFill>
                  <a:srgbClr val="E0F2FE"/>
                </a:solidFill>
                <a:latin typeface="Calibri"/>
              </a:defRPr>
            </a:pPr>
            <a:r>
              <a:t>✓  Model selected via evaluation + ADR</a:t>
            </a:r>
          </a:p>
        </p:txBody>
      </p:sp>
      <p:sp>
        <p:nvSpPr>
          <p:cNvPr id="18" name="TextBox 17"/>
          <p:cNvSpPr txBox="1"/>
          <p:nvPr/>
        </p:nvSpPr>
        <p:spPr>
          <a:xfrm>
            <a:off x="4937760" y="1636776"/>
            <a:ext cx="3474720" cy="320040"/>
          </a:xfrm>
          <a:prstGeom prst="rect">
            <a:avLst/>
          </a:prstGeom>
          <a:noFill/>
        </p:spPr>
        <p:txBody>
          <a:bodyPr wrap="square">
            <a:spAutoFit/>
          </a:bodyPr>
          <a:lstStyle/>
          <a:p>
            <a:pPr algn="l">
              <a:defRPr sz="1100" b="0" i="0">
                <a:solidFill>
                  <a:srgbClr val="E0F2FE"/>
                </a:solidFill>
                <a:latin typeface="Calibri"/>
              </a:defRPr>
            </a:pPr>
            <a:r>
              <a:t>✓  Design review with autonomy gate</a:t>
            </a:r>
          </a:p>
        </p:txBody>
      </p:sp>
      <p:sp>
        <p:nvSpPr>
          <p:cNvPr id="19" name="TextBox 18"/>
          <p:cNvSpPr txBox="1"/>
          <p:nvPr/>
        </p:nvSpPr>
        <p:spPr>
          <a:xfrm>
            <a:off x="4937760" y="2039112"/>
            <a:ext cx="3474720" cy="320040"/>
          </a:xfrm>
          <a:prstGeom prst="rect">
            <a:avLst/>
          </a:prstGeom>
          <a:noFill/>
        </p:spPr>
        <p:txBody>
          <a:bodyPr wrap="square">
            <a:spAutoFit/>
          </a:bodyPr>
          <a:lstStyle/>
          <a:p>
            <a:pPr algn="l">
              <a:defRPr sz="1100" b="0" i="0">
                <a:solidFill>
                  <a:srgbClr val="E0F2FE"/>
                </a:solidFill>
                <a:latin typeface="Calibri"/>
              </a:defRPr>
            </a:pPr>
            <a:r>
              <a:t>✓  Confidence thresholds: 95% auto / 70% human</a:t>
            </a:r>
          </a:p>
        </p:txBody>
      </p:sp>
      <p:sp>
        <p:nvSpPr>
          <p:cNvPr id="20" name="TextBox 19"/>
          <p:cNvSpPr txBox="1"/>
          <p:nvPr/>
        </p:nvSpPr>
        <p:spPr>
          <a:xfrm>
            <a:off x="4937760" y="2441448"/>
            <a:ext cx="3474720" cy="320040"/>
          </a:xfrm>
          <a:prstGeom prst="rect">
            <a:avLst/>
          </a:prstGeom>
          <a:noFill/>
        </p:spPr>
        <p:txBody>
          <a:bodyPr wrap="square">
            <a:spAutoFit/>
          </a:bodyPr>
          <a:lstStyle/>
          <a:p>
            <a:pPr algn="l">
              <a:defRPr sz="1100" b="0" i="0">
                <a:solidFill>
                  <a:srgbClr val="E0F2FE"/>
                </a:solidFill>
                <a:latin typeface="Calibri"/>
              </a:defRPr>
            </a:pPr>
            <a:r>
              <a:t>✓  Output validation before customer-facing</a:t>
            </a:r>
          </a:p>
        </p:txBody>
      </p:sp>
      <p:sp>
        <p:nvSpPr>
          <p:cNvPr id="21" name="TextBox 20"/>
          <p:cNvSpPr txBox="1"/>
          <p:nvPr/>
        </p:nvSpPr>
        <p:spPr>
          <a:xfrm>
            <a:off x="4937760" y="2843784"/>
            <a:ext cx="3474720" cy="320040"/>
          </a:xfrm>
          <a:prstGeom prst="rect">
            <a:avLst/>
          </a:prstGeom>
          <a:noFill/>
        </p:spPr>
        <p:txBody>
          <a:bodyPr wrap="square">
            <a:spAutoFit/>
          </a:bodyPr>
          <a:lstStyle/>
          <a:p>
            <a:pPr algn="l">
              <a:defRPr sz="1100" b="0" i="0">
                <a:solidFill>
                  <a:srgbClr val="E0F2FE"/>
                </a:solidFill>
                <a:latin typeface="Calibri"/>
              </a:defRPr>
            </a:pPr>
            <a:r>
              <a:t>✓  Responsible AI review — 10 dimensions</a:t>
            </a:r>
          </a:p>
        </p:txBody>
      </p:sp>
      <p:sp>
        <p:nvSpPr>
          <p:cNvPr id="22" name="TextBox 21"/>
          <p:cNvSpPr txBox="1"/>
          <p:nvPr/>
        </p:nvSpPr>
        <p:spPr>
          <a:xfrm>
            <a:off x="4937760" y="3246120"/>
            <a:ext cx="3474720" cy="320040"/>
          </a:xfrm>
          <a:prstGeom prst="rect">
            <a:avLst/>
          </a:prstGeom>
          <a:noFill/>
        </p:spPr>
        <p:txBody>
          <a:bodyPr wrap="square">
            <a:spAutoFit/>
          </a:bodyPr>
          <a:lstStyle/>
          <a:p>
            <a:pPr algn="l">
              <a:defRPr sz="1100" b="0" i="0">
                <a:solidFill>
                  <a:srgbClr val="E0F2FE"/>
                </a:solidFill>
                <a:latin typeface="Calibri"/>
              </a:defRPr>
            </a:pPr>
            <a:r>
              <a:t>✓  Full prompt/response observability</a:t>
            </a:r>
          </a:p>
        </p:txBody>
      </p:sp>
      <p:sp>
        <p:nvSpPr>
          <p:cNvPr id="23" name="TextBox 22"/>
          <p:cNvSpPr txBox="1"/>
          <p:nvPr/>
        </p:nvSpPr>
        <p:spPr>
          <a:xfrm>
            <a:off x="4937760" y="3648456"/>
            <a:ext cx="3474720" cy="320040"/>
          </a:xfrm>
          <a:prstGeom prst="rect">
            <a:avLst/>
          </a:prstGeom>
          <a:noFill/>
        </p:spPr>
        <p:txBody>
          <a:bodyPr wrap="square">
            <a:spAutoFit/>
          </a:bodyPr>
          <a:lstStyle/>
          <a:p>
            <a:pPr algn="l">
              <a:defRPr sz="1100" b="0" i="0">
                <a:solidFill>
                  <a:srgbClr val="10B981"/>
                </a:solidFill>
                <a:latin typeface="Calibri"/>
              </a:defRPr>
            </a:pPr>
            <a:r>
              <a:t>✓  Hallucination caught before production</a:t>
            </a:r>
          </a:p>
        </p:txBody>
      </p:sp>
      <p:sp>
        <p:nvSpPr>
          <p:cNvPr id="24" name="TextBox 23"/>
          <p:cNvSpPr txBox="1"/>
          <p:nvPr/>
        </p:nvSpPr>
        <p:spPr>
          <a:xfrm>
            <a:off x="4937760" y="4050791"/>
            <a:ext cx="3474720" cy="320040"/>
          </a:xfrm>
          <a:prstGeom prst="rect">
            <a:avLst/>
          </a:prstGeom>
          <a:noFill/>
        </p:spPr>
        <p:txBody>
          <a:bodyPr wrap="square">
            <a:spAutoFit/>
          </a:bodyPr>
          <a:lstStyle/>
          <a:p>
            <a:pPr algn="l">
              <a:defRPr sz="1100" b="0" i="0">
                <a:solidFill>
                  <a:srgbClr val="10B981"/>
                </a:solidFill>
                <a:latin typeface="Calibri"/>
              </a:defRPr>
            </a:pPr>
            <a:r>
              <a:t>✓  Scaled to 10M customers. 96% accuracy.</a:t>
            </a:r>
          </a:p>
        </p:txBody>
      </p:sp>
      <p:sp>
        <p:nvSpPr>
          <p:cNvPr id="25" name="TextBox 24"/>
          <p:cNvSpPr txBox="1"/>
          <p:nvPr/>
        </p:nvSpPr>
        <p:spPr>
          <a:xfrm>
            <a:off x="457200" y="4800600"/>
            <a:ext cx="8229600" cy="274320"/>
          </a:xfrm>
          <a:prstGeom prst="rect">
            <a:avLst/>
          </a:prstGeom>
          <a:noFill/>
        </p:spPr>
        <p:txBody>
          <a:bodyPr wrap="square">
            <a:spAutoFit/>
          </a:bodyPr>
          <a:lstStyle/>
          <a:p>
            <a:pPr algn="ctr">
              <a:defRPr sz="1400" b="1" i="1">
                <a:solidFill>
                  <a:srgbClr val="F59E0B"/>
                </a:solidFill>
                <a:latin typeface="Calibri"/>
              </a:defRPr>
            </a:pPr>
            <a:r>
              <a:t>Same technology. Same models. Different architecture. Different outcome.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274320"/>
            <a:ext cx="8229600" cy="914400"/>
          </a:xfrm>
          <a:prstGeom prst="rect">
            <a:avLst/>
          </a:prstGeom>
          <a:noFill/>
        </p:spPr>
        <p:txBody>
          <a:bodyPr wrap="square">
            <a:spAutoFit/>
          </a:bodyPr>
          <a:lstStyle/>
          <a:p>
            <a:pPr algn="ctr">
              <a:defRPr sz="3400" b="1" i="0">
                <a:solidFill>
                  <a:srgbClr val="FFFFFF"/>
                </a:solidFill>
                <a:latin typeface="Trebuchet MS"/>
              </a:defRPr>
            </a:pPr>
            <a:r>
              <a:t>The Architect's Commitment</a:t>
            </a:r>
            <a:br/>
            <a:r>
              <a:t>in the AI Era</a:t>
            </a:r>
          </a:p>
        </p:txBody>
      </p:sp>
      <p:sp>
        <p:nvSpPr>
          <p:cNvPr id="3" name="TextBox 2"/>
          <p:cNvSpPr txBox="1"/>
          <p:nvPr/>
        </p:nvSpPr>
        <p:spPr>
          <a:xfrm>
            <a:off x="640080" y="1645920"/>
            <a:ext cx="320040" cy="320040"/>
          </a:xfrm>
          <a:prstGeom prst="rect">
            <a:avLst/>
          </a:prstGeom>
          <a:noFill/>
        </p:spPr>
        <p:txBody>
          <a:bodyPr wrap="square">
            <a:spAutoFit/>
          </a:bodyPr>
          <a:lstStyle/>
          <a:p>
            <a:pPr algn="l">
              <a:defRPr sz="1600" b="1" i="0">
                <a:solidFill>
                  <a:srgbClr val="0891B2"/>
                </a:solidFill>
                <a:latin typeface="Calibri"/>
              </a:defRPr>
            </a:pPr>
            <a:r>
              <a:t>1</a:t>
            </a:r>
          </a:p>
        </p:txBody>
      </p:sp>
      <p:sp>
        <p:nvSpPr>
          <p:cNvPr id="4" name="TextBox 3"/>
          <p:cNvSpPr txBox="1"/>
          <p:nvPr/>
        </p:nvSpPr>
        <p:spPr>
          <a:xfrm>
            <a:off x="1097280" y="1645920"/>
            <a:ext cx="7132320" cy="502920"/>
          </a:xfrm>
          <a:prstGeom prst="rect">
            <a:avLst/>
          </a:prstGeom>
          <a:noFill/>
        </p:spPr>
        <p:txBody>
          <a:bodyPr wrap="square">
            <a:spAutoFit/>
          </a:bodyPr>
          <a:lstStyle/>
          <a:p>
            <a:pPr algn="l">
              <a:defRPr sz="1400" b="0" i="1">
                <a:solidFill>
                  <a:srgbClr val="E0F2FE"/>
                </a:solidFill>
                <a:latin typeface="Calibri"/>
              </a:defRPr>
            </a:pPr>
            <a:r>
              <a:t>I will design for the failure modes AI introduces — not just the capabilities it enables.</a:t>
            </a:r>
          </a:p>
        </p:txBody>
      </p:sp>
      <p:sp>
        <p:nvSpPr>
          <p:cNvPr id="5" name="TextBox 4"/>
          <p:cNvSpPr txBox="1"/>
          <p:nvPr/>
        </p:nvSpPr>
        <p:spPr>
          <a:xfrm>
            <a:off x="640080" y="2286000"/>
            <a:ext cx="320040" cy="320040"/>
          </a:xfrm>
          <a:prstGeom prst="rect">
            <a:avLst/>
          </a:prstGeom>
          <a:noFill/>
        </p:spPr>
        <p:txBody>
          <a:bodyPr wrap="square">
            <a:spAutoFit/>
          </a:bodyPr>
          <a:lstStyle/>
          <a:p>
            <a:pPr algn="l">
              <a:defRPr sz="1600" b="1" i="0">
                <a:solidFill>
                  <a:srgbClr val="0891B2"/>
                </a:solidFill>
                <a:latin typeface="Calibri"/>
              </a:defRPr>
            </a:pPr>
            <a:r>
              <a:t>2</a:t>
            </a:r>
          </a:p>
        </p:txBody>
      </p:sp>
      <p:sp>
        <p:nvSpPr>
          <p:cNvPr id="6" name="TextBox 5"/>
          <p:cNvSpPr txBox="1"/>
          <p:nvPr/>
        </p:nvSpPr>
        <p:spPr>
          <a:xfrm>
            <a:off x="1097280" y="2286000"/>
            <a:ext cx="7132320" cy="502920"/>
          </a:xfrm>
          <a:prstGeom prst="rect">
            <a:avLst/>
          </a:prstGeom>
          <a:noFill/>
        </p:spPr>
        <p:txBody>
          <a:bodyPr wrap="square">
            <a:spAutoFit/>
          </a:bodyPr>
          <a:lstStyle/>
          <a:p>
            <a:pPr algn="l">
              <a:defRPr sz="1400" b="0" i="1">
                <a:solidFill>
                  <a:srgbClr val="E0F2FE"/>
                </a:solidFill>
                <a:latin typeface="Calibri"/>
              </a:defRPr>
            </a:pPr>
            <a:r>
              <a:t>I will document WHY, not just WHAT — because the next engineer needs to understand.</a:t>
            </a:r>
          </a:p>
        </p:txBody>
      </p:sp>
      <p:sp>
        <p:nvSpPr>
          <p:cNvPr id="7" name="TextBox 6"/>
          <p:cNvSpPr txBox="1"/>
          <p:nvPr/>
        </p:nvSpPr>
        <p:spPr>
          <a:xfrm>
            <a:off x="640080" y="2926080"/>
            <a:ext cx="320040" cy="320040"/>
          </a:xfrm>
          <a:prstGeom prst="rect">
            <a:avLst/>
          </a:prstGeom>
          <a:noFill/>
        </p:spPr>
        <p:txBody>
          <a:bodyPr wrap="square">
            <a:spAutoFit/>
          </a:bodyPr>
          <a:lstStyle/>
          <a:p>
            <a:pPr algn="l">
              <a:defRPr sz="1600" b="1" i="0">
                <a:solidFill>
                  <a:srgbClr val="0891B2"/>
                </a:solidFill>
                <a:latin typeface="Calibri"/>
              </a:defRPr>
            </a:pPr>
            <a:r>
              <a:t>3</a:t>
            </a:r>
          </a:p>
        </p:txBody>
      </p:sp>
      <p:sp>
        <p:nvSpPr>
          <p:cNvPr id="8" name="TextBox 7"/>
          <p:cNvSpPr txBox="1"/>
          <p:nvPr/>
        </p:nvSpPr>
        <p:spPr>
          <a:xfrm>
            <a:off x="1097280" y="2926080"/>
            <a:ext cx="7132320" cy="502920"/>
          </a:xfrm>
          <a:prstGeom prst="rect">
            <a:avLst/>
          </a:prstGeom>
          <a:noFill/>
        </p:spPr>
        <p:txBody>
          <a:bodyPr wrap="square">
            <a:spAutoFit/>
          </a:bodyPr>
          <a:lstStyle/>
          <a:p>
            <a:pPr algn="l">
              <a:defRPr sz="1400" b="0" i="1">
                <a:solidFill>
                  <a:srgbClr val="E0F2FE"/>
                </a:solidFill>
                <a:latin typeface="Calibri"/>
              </a:defRPr>
            </a:pPr>
            <a:r>
              <a:t>I will build approval gates that cannot be bypassed — because accountability requires architecture.</a:t>
            </a:r>
          </a:p>
        </p:txBody>
      </p:sp>
      <p:sp>
        <p:nvSpPr>
          <p:cNvPr id="9" name="TextBox 8"/>
          <p:cNvSpPr txBox="1"/>
          <p:nvPr/>
        </p:nvSpPr>
        <p:spPr>
          <a:xfrm>
            <a:off x="640080" y="3566159"/>
            <a:ext cx="320040" cy="320040"/>
          </a:xfrm>
          <a:prstGeom prst="rect">
            <a:avLst/>
          </a:prstGeom>
          <a:noFill/>
        </p:spPr>
        <p:txBody>
          <a:bodyPr wrap="square">
            <a:spAutoFit/>
          </a:bodyPr>
          <a:lstStyle/>
          <a:p>
            <a:pPr algn="l">
              <a:defRPr sz="1600" b="1" i="0">
                <a:solidFill>
                  <a:srgbClr val="0891B2"/>
                </a:solidFill>
                <a:latin typeface="Calibri"/>
              </a:defRPr>
            </a:pPr>
            <a:r>
              <a:t>4</a:t>
            </a:r>
          </a:p>
        </p:txBody>
      </p:sp>
      <p:sp>
        <p:nvSpPr>
          <p:cNvPr id="10" name="TextBox 9"/>
          <p:cNvSpPr txBox="1"/>
          <p:nvPr/>
        </p:nvSpPr>
        <p:spPr>
          <a:xfrm>
            <a:off x="1097280" y="3566159"/>
            <a:ext cx="7132320" cy="502920"/>
          </a:xfrm>
          <a:prstGeom prst="rect">
            <a:avLst/>
          </a:prstGeom>
          <a:noFill/>
        </p:spPr>
        <p:txBody>
          <a:bodyPr wrap="square">
            <a:spAutoFit/>
          </a:bodyPr>
          <a:lstStyle/>
          <a:p>
            <a:pPr algn="l">
              <a:defRPr sz="1400" b="0" i="1">
                <a:solidFill>
                  <a:srgbClr val="E0F2FE"/>
                </a:solidFill>
                <a:latin typeface="Calibri"/>
              </a:defRPr>
            </a:pPr>
            <a:r>
              <a:t>I will preserve my own judgment through deliberate practice — because atrophied skills make the loop meaningless.</a:t>
            </a:r>
          </a:p>
        </p:txBody>
      </p:sp>
      <p:sp>
        <p:nvSpPr>
          <p:cNvPr id="11" name="TextBox 10"/>
          <p:cNvSpPr txBox="1"/>
          <p:nvPr/>
        </p:nvSpPr>
        <p:spPr>
          <a:xfrm>
            <a:off x="640080" y="4206240"/>
            <a:ext cx="320040" cy="320040"/>
          </a:xfrm>
          <a:prstGeom prst="rect">
            <a:avLst/>
          </a:prstGeom>
          <a:noFill/>
        </p:spPr>
        <p:txBody>
          <a:bodyPr wrap="square">
            <a:spAutoFit/>
          </a:bodyPr>
          <a:lstStyle/>
          <a:p>
            <a:pPr algn="l">
              <a:defRPr sz="1600" b="1" i="0">
                <a:solidFill>
                  <a:srgbClr val="0891B2"/>
                </a:solidFill>
                <a:latin typeface="Calibri"/>
              </a:defRPr>
            </a:pPr>
            <a:r>
              <a:t>5</a:t>
            </a:r>
          </a:p>
        </p:txBody>
      </p:sp>
      <p:sp>
        <p:nvSpPr>
          <p:cNvPr id="12" name="TextBox 11"/>
          <p:cNvSpPr txBox="1"/>
          <p:nvPr/>
        </p:nvSpPr>
        <p:spPr>
          <a:xfrm>
            <a:off x="1097280" y="4206240"/>
            <a:ext cx="7132320" cy="502920"/>
          </a:xfrm>
          <a:prstGeom prst="rect">
            <a:avLst/>
          </a:prstGeom>
          <a:noFill/>
        </p:spPr>
        <p:txBody>
          <a:bodyPr wrap="square">
            <a:spAutoFit/>
          </a:bodyPr>
          <a:lstStyle/>
          <a:p>
            <a:pPr algn="l">
              <a:defRPr sz="1400" b="0" i="1">
                <a:solidFill>
                  <a:srgbClr val="E0F2FE"/>
                </a:solidFill>
                <a:latin typeface="Calibri"/>
              </a:defRPr>
            </a:pPr>
            <a:r>
              <a:t>I will treat every AI output as a hypothesis until validated — because confidence is not correctness.</a:t>
            </a:r>
          </a:p>
        </p:txBody>
      </p:sp>
      <p:sp>
        <p:nvSpPr>
          <p:cNvPr id="13" name="TextBox 12"/>
          <p:cNvSpPr txBox="1"/>
          <p:nvPr/>
        </p:nvSpPr>
        <p:spPr>
          <a:xfrm>
            <a:off x="457200" y="4754880"/>
            <a:ext cx="8229600" cy="320040"/>
          </a:xfrm>
          <a:prstGeom prst="rect">
            <a:avLst/>
          </a:prstGeom>
          <a:noFill/>
        </p:spPr>
        <p:txBody>
          <a:bodyPr wrap="square">
            <a:spAutoFit/>
          </a:bodyPr>
          <a:lstStyle/>
          <a:p>
            <a:pPr algn="ctr">
              <a:defRPr sz="1500" b="1" i="0">
                <a:solidFill>
                  <a:srgbClr val="F59E0B"/>
                </a:solidFill>
                <a:latin typeface="Calibri"/>
              </a:defRPr>
            </a:pPr>
            <a:r>
              <a:t>This is what it means to be the human in the loop.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Architecture in the AI Era</dc:title>
  <dc:subject>PptxGenJS Presentation</dc:subject>
  <dc:creator>Capital One Architecture</dc:creator>
  <cp:lastModifiedBy>Capital One Architecture</cp:lastModifiedBy>
  <cp:revision>1</cp:revision>
  <dcterms:created xsi:type="dcterms:W3CDTF">2026-04-29T00:28:23Z</dcterms:created>
  <dcterms:modified xsi:type="dcterms:W3CDTF">2026-04-29T00:28:23Z</dcterms:modified>
</cp:coreProperties>
</file>