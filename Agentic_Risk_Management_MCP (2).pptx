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280160"/>
            <a:ext cx="109728" cy="25603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1097280" cy="10972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Risk Management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640080" y="2468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MCP for Intelligent, Connected Risk Operations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40080" y="329184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&amp; AI Strategy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Risk Landscape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independent, API-first applications powering modern risk management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463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783080"/>
            <a:ext cx="457200" cy="45720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18562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94560" y="1554480"/>
            <a:ext cx="1463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97480" y="1783080"/>
            <a:ext cx="457200" cy="457200"/>
          </a:xfrm>
          <a:prstGeom prst="ellipse">
            <a:avLst/>
          </a:prstGeom>
          <a:solidFill>
            <a:srgbClr val="7C3AED">
              <a:alpha val="8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85623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456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840480" y="1554480"/>
            <a:ext cx="1463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43400" y="1783080"/>
            <a:ext cx="457200" cy="457200"/>
          </a:xfrm>
          <a:prstGeom prst="ellipse">
            <a:avLst/>
          </a:prstGeom>
          <a:solidFill>
            <a:srgbClr val="2563EB">
              <a:alpha val="85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85623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4048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Mgmt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0" y="1554480"/>
            <a:ext cx="1463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D97706">
              <a:alpha val="85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85623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132320" y="1554480"/>
            <a:ext cx="1463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635240" y="1783080"/>
            <a:ext cx="457200" cy="457200"/>
          </a:xfrm>
          <a:prstGeom prst="ellipse">
            <a:avLst/>
          </a:prstGeom>
          <a:solidFill>
            <a:srgbClr val="059669">
              <a:alpha val="85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185623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3232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3474720"/>
            <a:ext cx="80467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31520" y="3474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 exposes RESTful APIs — enabling integration but currently lacking intelligent orchestration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9728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0"/>
          <p:cNvSpPr/>
          <p:nvPr/>
        </p:nvSpPr>
        <p:spPr>
          <a:xfrm>
            <a:off x="109728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Systems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84048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100+</a:t>
            </a:r>
            <a:endParaRPr lang="en-US" sz="2800" dirty="0"/>
          </a:p>
        </p:txBody>
      </p:sp>
      <p:sp>
        <p:nvSpPr>
          <p:cNvPr id="29" name="Text 22"/>
          <p:cNvSpPr/>
          <p:nvPr/>
        </p:nvSpPr>
        <p:spPr>
          <a:xfrm>
            <a:off x="384048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58368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</a:t>
            </a:r>
            <a:endParaRPr lang="en-US" sz="2800" dirty="0"/>
          </a:p>
        </p:txBody>
      </p:sp>
      <p:sp>
        <p:nvSpPr>
          <p:cNvPr id="31" name="Text 24"/>
          <p:cNvSpPr/>
          <p:nvPr/>
        </p:nvSpPr>
        <p:spPr>
          <a:xfrm>
            <a:off x="658368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Challenge: Siloed Risk Intelligence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Fragmentation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88720" y="1719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 scattered across five systems with no unified view; analysts toggle between dashboards to piece together the full picture.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840480" cy="1463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Handoffs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394960" y="17190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escalations, model validation requests, and audit findings travel via email and spreadsheets — slow and error-prone.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926080"/>
            <a:ext cx="3840480" cy="1463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Delayed Response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88720" y="34564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exposure changes trigger no automatic re-assessment in ERM; model drift goes unnoticed until the next scheduled review.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54880" y="2926080"/>
            <a:ext cx="3840480" cy="1463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496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Gaps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394960" y="34564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actions lack a unified audit trail, making it difficult to demonstrate compliance or reconstruct decision chains.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Context Protocol (MCP)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standard for connecting AI models to tools, data sources, and APIs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Interface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901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 for AI agents to discover and invoke tools across any application.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7744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Communication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43000" y="26151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both read context from and write actions to connected systems.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9067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3072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Tool Discovery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43000" y="33284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learn available capabilities at runtime — no hard-coded integrations.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0390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7856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Governed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143000" y="4041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authentication, authorization, and audit logging for every interaction.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029200" y="1463040"/>
            <a:ext cx="3657600" cy="3108960"/>
          </a:xfrm>
          <a:prstGeom prst="rect">
            <a:avLst/>
          </a:prstGeom>
          <a:solidFill>
            <a:srgbClr val="0F1B3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69164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0352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5394960" y="2926080"/>
            <a:ext cx="86868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4"/>
          <p:cNvSpPr/>
          <p:nvPr/>
        </p:nvSpPr>
        <p:spPr>
          <a:xfrm>
            <a:off x="5394960" y="29260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6400800" y="2926080"/>
            <a:ext cx="8686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16"/>
          <p:cNvSpPr/>
          <p:nvPr/>
        </p:nvSpPr>
        <p:spPr>
          <a:xfrm>
            <a:off x="6400800" y="29260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7406640" y="2926080"/>
            <a:ext cx="8686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18"/>
          <p:cNvSpPr/>
          <p:nvPr/>
        </p:nvSpPr>
        <p:spPr>
          <a:xfrm>
            <a:off x="7406640" y="29260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CPRM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394960" y="3474720"/>
            <a:ext cx="8686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0"/>
          <p:cNvSpPr/>
          <p:nvPr/>
        </p:nvSpPr>
        <p:spPr>
          <a:xfrm>
            <a:off x="5394960" y="34747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400800" y="3474720"/>
            <a:ext cx="86868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2"/>
          <p:cNvSpPr/>
          <p:nvPr/>
        </p:nvSpPr>
        <p:spPr>
          <a:xfrm>
            <a:off x="6400800" y="34747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530352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discovers &amp; invokes tools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risk applications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Architecture with MCP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agents orchestrate across risk applications via MCP servers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566160" y="2011680"/>
            <a:ext cx="2011680" cy="2011680"/>
          </a:xfrm>
          <a:prstGeom prst="ellipse">
            <a:avLst/>
          </a:prstGeom>
          <a:solidFill>
            <a:srgbClr val="0F1B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2860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6616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Agent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182880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1188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188720"/>
            <a:ext cx="1828800" cy="82296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0" y="1188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0" y="3108960"/>
            <a:ext cx="1828800" cy="8229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0" y="4023360"/>
            <a:ext cx="1828800" cy="82296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57600" y="4023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194560" y="1600200"/>
            <a:ext cx="15544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2194560" y="3520440"/>
            <a:ext cx="15544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5394960" y="1600200"/>
            <a:ext cx="14630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5394960" y="3520440"/>
            <a:ext cx="14630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 Design Per Application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application exposes an MCP server wrapping its existing APIs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3152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325880"/>
            <a:ext cx="7973568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MCP Server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6184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get_risk_register, assess_risk, update_controls, get_kri_dashboard, escalate_risk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039112"/>
            <a:ext cx="73152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2039112"/>
            <a:ext cx="7973568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 MCP 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list_models, get_validation_status, trigger_backtest, check_model_drift, submit_findings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73152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2752344"/>
            <a:ext cx="7973568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770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CPRM MCP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0449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get_exposure, evaluate_counterparty, get_credit_limits, update_rating, alert_breach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73152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3465576"/>
            <a:ext cx="7973568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83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MCP Server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7581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list_exceptions, create_exception, get_approval_chain, check_expiry, link_to_risk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178808"/>
            <a:ext cx="73152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" y="4178808"/>
            <a:ext cx="7973568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97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MCP Server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4714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get_findings, create_issue, track_remediation, generate_report, log_action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Case: Cross-Domain Risk Intelligence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11887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783080" y="1463040"/>
            <a:ext cx="7772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CPRM MCP detects counterparty credit downgrade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931920" y="1463040"/>
            <a:ext cx="7772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6974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21945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queries ERM MCP for enterprise exposure to that counterparty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118872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80760" y="1463040"/>
            <a:ext cx="77724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84632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21945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checks MRM MCP for models relying on that counterparty's data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43800" y="118872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21945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creates exception in Exceptions MCP and logs trail in Audit MCP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383280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34440" y="33649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Result: Fully Automated Response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34440" y="3749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previously required 3-5 business days of manual coordination across teams is now executed in under 60 seconds, with a complete audit trail automatically generated across all five systems.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Data Flow: Cross-Domain Risk Intelligence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675120" y="137160"/>
            <a:ext cx="27432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995160" y="118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589520" y="137160"/>
            <a:ext cx="2743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909560" y="1188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675120" y="365760"/>
            <a:ext cx="274320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731520"/>
            <a:ext cx="2743200" cy="502920"/>
          </a:xfrm>
          <a:prstGeom prst="rect">
            <a:avLst/>
          </a:prstGeom>
          <a:solidFill>
            <a:srgbClr val="16255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79552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0" y="731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Orchestrator Agent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123444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1691640"/>
            <a:ext cx="4114800" cy="77724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760" y="1764792"/>
            <a:ext cx="50292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1764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9601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Agent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60120" y="1947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get_exposure(entity_id)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2194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Exposure: $420M  |  Limit: $350M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4320" y="2697480"/>
            <a:ext cx="4114800" cy="77724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20" name="Shape 17"/>
          <p:cNvSpPr/>
          <p:nvPr/>
        </p:nvSpPr>
        <p:spPr>
          <a:xfrm>
            <a:off x="365760" y="2770632"/>
            <a:ext cx="502920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2770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96012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Agent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29535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 &gt; limit?  →  BREACH = TRUE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3200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Severity: HIGH  |  Route to Orchestrator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74320" y="3703320"/>
            <a:ext cx="4114800" cy="77724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26" name="Shape 23"/>
          <p:cNvSpPr/>
          <p:nvPr/>
        </p:nvSpPr>
        <p:spPr>
          <a:xfrm>
            <a:off x="365760" y="3776472"/>
            <a:ext cx="50292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37764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96012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 Agent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60120" y="39593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get_risk_register(counterparty=entity_id)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65760" y="4206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Found: 3 linked risks, 2 controls impacted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663440" y="1691640"/>
            <a:ext cx="4114800" cy="77724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32" name="Shape 29"/>
          <p:cNvSpPr/>
          <p:nvPr/>
        </p:nvSpPr>
        <p:spPr>
          <a:xfrm>
            <a:off x="4754880" y="1764792"/>
            <a:ext cx="50292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0"/>
          <p:cNvSpPr/>
          <p:nvPr/>
        </p:nvSpPr>
        <p:spPr>
          <a:xfrm>
            <a:off x="4754880" y="17647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34924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Agent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349240" y="19476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check_model_drift(counterparty=entity_id)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54880" y="2194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 models flagged for dependency review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663440" y="2697480"/>
            <a:ext cx="4114800" cy="77724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38" name="Shape 35"/>
          <p:cNvSpPr/>
          <p:nvPr/>
        </p:nvSpPr>
        <p:spPr>
          <a:xfrm>
            <a:off x="4754880" y="2770632"/>
            <a:ext cx="50292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6"/>
          <p:cNvSpPr/>
          <p:nvPr/>
        </p:nvSpPr>
        <p:spPr>
          <a:xfrm>
            <a:off x="4754880" y="2770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34924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Agent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349240" y="29535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create_exception(type=breach, severity=HIGH)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754880" y="3200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Exception #4821 created → routed to SVP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663440" y="3703320"/>
            <a:ext cx="4114800" cy="77724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44" name="Shape 41"/>
          <p:cNvSpPr/>
          <p:nvPr/>
        </p:nvSpPr>
        <p:spPr>
          <a:xfrm>
            <a:off x="4754880" y="3776472"/>
            <a:ext cx="50292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2"/>
          <p:cNvSpPr/>
          <p:nvPr/>
        </p:nvSpPr>
        <p:spPr>
          <a:xfrm>
            <a:off x="4754880" y="37764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5349240" y="374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349240" y="39593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log_action(chain=[detect,assess,validate,act])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754880" y="4206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Audit trail #TR-9930 with full causal chain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2331720" y="246888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2331720" y="347472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1" name="Shape 48"/>
          <p:cNvSpPr/>
          <p:nvPr/>
        </p:nvSpPr>
        <p:spPr>
          <a:xfrm>
            <a:off x="6720840" y="246888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2" name="Shape 49"/>
          <p:cNvSpPr/>
          <p:nvPr/>
        </p:nvSpPr>
        <p:spPr>
          <a:xfrm>
            <a:off x="6720840" y="347472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3" name="Shape 50"/>
          <p:cNvSpPr/>
          <p:nvPr/>
        </p:nvSpPr>
        <p:spPr>
          <a:xfrm>
            <a:off x="3200400" y="150876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943600" y="1508760"/>
            <a:ext cx="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56" name="Text 53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MCP tool calls  ·  3 READ  ·  2 WRITE  ·  1 DECIDE  ·  4 agents  ·  5 systems  ·  Total elapsed: &lt; 60 seconds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Case: Proactive Model Risk Monitoring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MCP Agents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model validation cycles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drift detection via reports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model inventory in MRM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created manually in a separate system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 disconnected from model changes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MCP Agents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83480" y="173736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event-driven monitoring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drift alerts trigger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cross-references ERM risk register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exceptions with approval routing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audit trail across all actions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Case: Regulatory Change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regulation is published — the agent maps its blast radius across the entire risk ecosystem in minutes.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 New Basel IV amendment impacts credit risk model requirements and counterparty exposure limits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73152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2103120"/>
            <a:ext cx="7973568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76272"/>
            <a:ext cx="77724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762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risk register for affected risk categories and controls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73152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2633472"/>
            <a:ext cx="7973568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706624"/>
            <a:ext cx="77724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066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633472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models using impacted methodologies; flag for re-validation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63824"/>
            <a:ext cx="73152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3163824"/>
            <a:ext cx="7973568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236976"/>
            <a:ext cx="77724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369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3163824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exposure limits under new regulatory thresholds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94176"/>
            <a:ext cx="73152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" y="3694176"/>
            <a:ext cx="7973568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767328"/>
            <a:ext cx="7772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7673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37360" y="3694176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Auto-expire exceptions that conflict with new requirements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224528"/>
            <a:ext cx="73152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" y="4224528"/>
            <a:ext cx="7973568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297680"/>
            <a:ext cx="77724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2976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37360" y="4224528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gap analysis report and create remediation issues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663440"/>
            <a:ext cx="384048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663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Previous: 4–6 weeks manual assessment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4663440"/>
            <a:ext cx="38404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4663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 Agent: &lt; 2 hours end-to-end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Flow: Regulatory Change Cascade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675120" y="137160"/>
            <a:ext cx="27432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995160" y="1188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37160"/>
            <a:ext cx="2743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818120" y="1188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675120" y="347472"/>
            <a:ext cx="274320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685800"/>
            <a:ext cx="4023360" cy="41148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685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 New Basel IV amendment published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0" cy="365760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41732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" y="1234440"/>
            <a:ext cx="411480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" y="1289304"/>
            <a:ext cx="45720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12893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77240" y="12710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Agent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14538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parse_regulation(doc_id)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" y="1673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Extracted: 12 impacted clauses on credit risk methodology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1234440"/>
            <a:ext cx="411480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21" name="Shape 19"/>
          <p:cNvSpPr/>
          <p:nvPr/>
        </p:nvSpPr>
        <p:spPr>
          <a:xfrm>
            <a:off x="4919472" y="1289304"/>
            <a:ext cx="45720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12893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40680" y="12710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Agent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0680" y="14538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get_risk_register(category=credit)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19472" y="1673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Found: 8 risk entries, 5 controls to reassess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34840" y="224028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182880" y="2057400"/>
            <a:ext cx="411480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28" name="Shape 26"/>
          <p:cNvSpPr/>
          <p:nvPr/>
        </p:nvSpPr>
        <p:spPr>
          <a:xfrm>
            <a:off x="256032" y="2112264"/>
            <a:ext cx="4572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" y="2112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7240" y="20939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Agent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22768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update_controls(ids=[...], status=under_review)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56032" y="24963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controls flagged  →  owners notified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17720" y="2240280"/>
            <a:ext cx="137160" cy="1371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4" name="Shape 32"/>
          <p:cNvSpPr/>
          <p:nvPr/>
        </p:nvSpPr>
        <p:spPr>
          <a:xfrm>
            <a:off x="4846320" y="2057400"/>
            <a:ext cx="411480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35" name="Shape 33"/>
          <p:cNvSpPr/>
          <p:nvPr/>
        </p:nvSpPr>
        <p:spPr>
          <a:xfrm>
            <a:off x="4919472" y="2112264"/>
            <a:ext cx="457200" cy="1828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6" name="Text 34"/>
          <p:cNvSpPr/>
          <p:nvPr/>
        </p:nvSpPr>
        <p:spPr>
          <a:xfrm>
            <a:off x="4919472" y="2112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440680" y="20939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 Agent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40680" y="22768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 ∈ impacted_clauses?  →  3 models YES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919472" y="24963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Models M-102, M-117, M-204 require re-validation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434840" y="306324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" y="2880360"/>
            <a:ext cx="411480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42" name="Shape 40"/>
          <p:cNvSpPr/>
          <p:nvPr/>
        </p:nvSpPr>
        <p:spPr>
          <a:xfrm>
            <a:off x="256032" y="2935224"/>
            <a:ext cx="4572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256032" y="29352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77240" y="29169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 Agent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" y="3099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submit_findings(models=[M-102,M-117,M-204])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6032" y="33192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Re-validation tickets created  →  MRM team queue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617720" y="306324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Shape 46"/>
          <p:cNvSpPr/>
          <p:nvPr/>
        </p:nvSpPr>
        <p:spPr>
          <a:xfrm>
            <a:off x="4846320" y="2880360"/>
            <a:ext cx="411480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49" name="Shape 47"/>
          <p:cNvSpPr/>
          <p:nvPr/>
        </p:nvSpPr>
        <p:spPr>
          <a:xfrm>
            <a:off x="4919472" y="2935224"/>
            <a:ext cx="4572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4919472" y="29352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440680" y="29169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CPRM Agent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40680" y="3099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recalculate_limits(regulation=BaselIV_v2)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19472" y="33192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14 counterparty limits recalculated  ·  3 breached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434840" y="388620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5" name="Shape 53"/>
          <p:cNvSpPr/>
          <p:nvPr/>
        </p:nvSpPr>
        <p:spPr>
          <a:xfrm>
            <a:off x="182880" y="3703320"/>
            <a:ext cx="411480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56" name="Shape 54"/>
          <p:cNvSpPr/>
          <p:nvPr/>
        </p:nvSpPr>
        <p:spPr>
          <a:xfrm>
            <a:off x="256032" y="3758184"/>
            <a:ext cx="4572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256032" y="37581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77240" y="3739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Agent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77240" y="39227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auto_expire(conflicting_with=BaselIV_v2)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56032" y="4142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 exceptions expired  ·  3 new breach exceptions created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617720" y="388620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2" name="Shape 60"/>
          <p:cNvSpPr/>
          <p:nvPr/>
        </p:nvSpPr>
        <p:spPr>
          <a:xfrm>
            <a:off x="4846320" y="3703320"/>
            <a:ext cx="411480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63" name="Shape 61"/>
          <p:cNvSpPr/>
          <p:nvPr/>
        </p:nvSpPr>
        <p:spPr>
          <a:xfrm>
            <a:off x="4919472" y="3758184"/>
            <a:ext cx="4572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4919472" y="37581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440680" y="3739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40680" y="39227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generate_report(type=gap_analysis, reg=BaselIV)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919472" y="4142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Gap analysis report #GA-441 with remediation plan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82880" y="4617720"/>
            <a:ext cx="8778240" cy="38404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69" name="Text 67"/>
          <p:cNvSpPr/>
          <p:nvPr/>
        </p:nvSpPr>
        <p:spPr>
          <a:xfrm>
            <a:off x="182880" y="46177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agent actions  ·  2 READ  ·  5 WRITE  ·  1 DECIDE  ·  5 agents  ·  Cascade completed in &lt; 2 hours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Case: Real-Time Limit Breach Response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051560"/>
            <a:ext cx="36576" cy="34747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" name="Shape 2"/>
          <p:cNvSpPr/>
          <p:nvPr/>
        </p:nvSpPr>
        <p:spPr>
          <a:xfrm>
            <a:off x="1207008" y="105156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207008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10698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005840"/>
            <a:ext cx="65836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005840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005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CPRM detects counterparty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limit breach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07008" y="174650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207008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" y="1764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T+5s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1700784"/>
            <a:ext cx="65836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1700784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057400" y="170078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queries ERM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exposure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same counterparty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2441448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207008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" y="24597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T+12s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0" y="2395728"/>
            <a:ext cx="65836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2395728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057400" y="23957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checks MRM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with dependency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breached entity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07008" y="3136392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" y="3154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T+20s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0" y="3090672"/>
            <a:ext cx="65836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3090672"/>
            <a:ext cx="548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2057400" y="309067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creates exception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pre-filled justification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routes for approval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207008" y="3831336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1207008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" y="384962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T+25s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828800" y="3785616"/>
            <a:ext cx="65836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0" y="3785616"/>
            <a:ext cx="54864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2057400" y="378561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logged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 chain across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systems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663440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097280" y="4617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breach response in under 30 seconds — previously took 2–3 business days with email-based coordination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Chain: Limit Breach Response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675120" y="137160"/>
            <a:ext cx="27432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995160" y="1188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37160"/>
            <a:ext cx="2743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818120" y="1188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675120" y="347472"/>
            <a:ext cx="274320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777240"/>
            <a:ext cx="16459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777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CPRM Agent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77724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12" name="Shape 10"/>
          <p:cNvSpPr/>
          <p:nvPr/>
        </p:nvSpPr>
        <p:spPr>
          <a:xfrm>
            <a:off x="2066544" y="832104"/>
            <a:ext cx="411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066544" y="832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066544" y="10332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get_exposure(entity_id=CP-442)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066544" y="12344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Exposure: $420M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206240" y="1120140"/>
            <a:ext cx="3657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0" y="77724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18" name="Shape 16"/>
          <p:cNvSpPr/>
          <p:nvPr/>
        </p:nvSpPr>
        <p:spPr>
          <a:xfrm>
            <a:off x="4626864" y="832104"/>
            <a:ext cx="411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626864" y="832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626864" y="10332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get_credit_limits(entity_id=CP-442)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26864" y="12344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Limit: $350M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766560" y="1120140"/>
            <a:ext cx="1828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949440" y="77724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24" name="Shape 22"/>
          <p:cNvSpPr/>
          <p:nvPr/>
        </p:nvSpPr>
        <p:spPr>
          <a:xfrm>
            <a:off x="7004304" y="832104"/>
            <a:ext cx="411480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7004304" y="832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7004304" y="10332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$420M &gt; $350M → BREACH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004304" y="12344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Severity: HIGH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82880" y="1691640"/>
            <a:ext cx="16459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1691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Agent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0" y="169164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31" name="Shape 29"/>
          <p:cNvSpPr/>
          <p:nvPr/>
        </p:nvSpPr>
        <p:spPr>
          <a:xfrm>
            <a:off x="2066544" y="1746504"/>
            <a:ext cx="411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2066544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066544" y="19476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get_risk_register(cp=CP-442)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066544" y="21488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linked enterprise risks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206240" y="2034540"/>
            <a:ext cx="3657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572000" y="169164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37" name="Shape 35"/>
          <p:cNvSpPr/>
          <p:nvPr/>
        </p:nvSpPr>
        <p:spPr>
          <a:xfrm>
            <a:off x="4626864" y="1746504"/>
            <a:ext cx="411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4626864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4626864" y="19476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assess_risk(ids=[R-12,R-18,R-31])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626864" y="21488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Aggregate impact: $62M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766560" y="2034540"/>
            <a:ext cx="1828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949440" y="169164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43" name="Shape 41"/>
          <p:cNvSpPr/>
          <p:nvPr/>
        </p:nvSpPr>
        <p:spPr>
          <a:xfrm>
            <a:off x="7004304" y="174650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7004304" y="17465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004304" y="19476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update_controls(escalate=true)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004304" y="21488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controls escalated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82880" y="2606040"/>
            <a:ext cx="164592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182880" y="26060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 Agent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011680" y="260604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50" name="Shape 48"/>
          <p:cNvSpPr/>
          <p:nvPr/>
        </p:nvSpPr>
        <p:spPr>
          <a:xfrm>
            <a:off x="2066544" y="2660904"/>
            <a:ext cx="411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1" name="Text 49"/>
          <p:cNvSpPr/>
          <p:nvPr/>
        </p:nvSpPr>
        <p:spPr>
          <a:xfrm>
            <a:off x="2066544" y="26609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066544" y="28620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list_models(cp_dependency=CP-442)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066544" y="30632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Models: M-102, M-204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206240" y="2948940"/>
            <a:ext cx="3657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572000" y="260604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56" name="Shape 54"/>
          <p:cNvSpPr/>
          <p:nvPr/>
        </p:nvSpPr>
        <p:spPr>
          <a:xfrm>
            <a:off x="4626864" y="2660904"/>
            <a:ext cx="411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7" name="Text 55"/>
          <p:cNvSpPr/>
          <p:nvPr/>
        </p:nvSpPr>
        <p:spPr>
          <a:xfrm>
            <a:off x="4626864" y="26609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626864" y="28620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check_model_drift(ids=[M-102,M-204])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626864" y="30632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M-204: drift detected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766560" y="2948940"/>
            <a:ext cx="1828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6949440" y="260604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62" name="Shape 60"/>
          <p:cNvSpPr/>
          <p:nvPr/>
        </p:nvSpPr>
        <p:spPr>
          <a:xfrm>
            <a:off x="7004304" y="266090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7004304" y="26609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7004304" y="28620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trigger_backtest(model=M-204)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004304" y="30632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Backtest queued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82880" y="3520440"/>
            <a:ext cx="16459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7" name="Text 65"/>
          <p:cNvSpPr/>
          <p:nvPr/>
        </p:nvSpPr>
        <p:spPr>
          <a:xfrm>
            <a:off x="18288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Agent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011680" y="352044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69" name="Shape 67"/>
          <p:cNvSpPr/>
          <p:nvPr/>
        </p:nvSpPr>
        <p:spPr>
          <a:xfrm>
            <a:off x="2066544" y="3575304"/>
            <a:ext cx="411480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0" name="Text 68"/>
          <p:cNvSpPr/>
          <p:nvPr/>
        </p:nvSpPr>
        <p:spPr>
          <a:xfrm>
            <a:off x="2066544" y="35753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2066544" y="37764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auto_approve? → NO (amount &gt; $100M)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066544" y="39776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Requires SVP approval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206240" y="3863340"/>
            <a:ext cx="3657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4572000" y="352044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75" name="Shape 73"/>
          <p:cNvSpPr/>
          <p:nvPr/>
        </p:nvSpPr>
        <p:spPr>
          <a:xfrm>
            <a:off x="4626864" y="357530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6" name="Text 74"/>
          <p:cNvSpPr/>
          <p:nvPr/>
        </p:nvSpPr>
        <p:spPr>
          <a:xfrm>
            <a:off x="4626864" y="35753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4626864" y="37764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create_exception(type=limit_breach)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626864" y="39776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Exception #EX-4821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766560" y="3863340"/>
            <a:ext cx="1828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6949440" y="352044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81" name="Shape 79"/>
          <p:cNvSpPr/>
          <p:nvPr/>
        </p:nvSpPr>
        <p:spPr>
          <a:xfrm>
            <a:off x="7004304" y="357530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2" name="Text 80"/>
          <p:cNvSpPr/>
          <p:nvPr/>
        </p:nvSpPr>
        <p:spPr>
          <a:xfrm>
            <a:off x="7004304" y="35753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7004304" y="377647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route_approval(to=SVP_CreditRisk)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7004304" y="39776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Routed → SVP notified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182880" y="4343400"/>
            <a:ext cx="16459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6" name="Text 84"/>
          <p:cNvSpPr/>
          <p:nvPr/>
        </p:nvSpPr>
        <p:spPr>
          <a:xfrm>
            <a:off x="182880" y="4343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Agent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2011680" y="434340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88" name="Shape 86"/>
          <p:cNvSpPr/>
          <p:nvPr/>
        </p:nvSpPr>
        <p:spPr>
          <a:xfrm>
            <a:off x="2066544" y="439826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9" name="Text 87"/>
          <p:cNvSpPr/>
          <p:nvPr/>
        </p:nvSpPr>
        <p:spPr>
          <a:xfrm>
            <a:off x="2066544" y="43982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2066544" y="45994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log_action(event=limit_breach)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2066544" y="48006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Trail #TR-9930 opened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4206240" y="4686300"/>
            <a:ext cx="36576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4572000" y="434340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94" name="Shape 92"/>
          <p:cNvSpPr/>
          <p:nvPr/>
        </p:nvSpPr>
        <p:spPr>
          <a:xfrm>
            <a:off x="4626864" y="439826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5" name="Text 93"/>
          <p:cNvSpPr/>
          <p:nvPr/>
        </p:nvSpPr>
        <p:spPr>
          <a:xfrm>
            <a:off x="4626864" y="43982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4626864" y="45994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create_issue(linked=[EX-4821,M-204])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4626864" y="48006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Audit issue #AI-773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6766560" y="4686300"/>
            <a:ext cx="1828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6949440" y="4343400"/>
            <a:ext cx="219456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100" name="Shape 98"/>
          <p:cNvSpPr/>
          <p:nvPr/>
        </p:nvSpPr>
        <p:spPr>
          <a:xfrm>
            <a:off x="7004304" y="439826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1" name="Text 99"/>
          <p:cNvSpPr/>
          <p:nvPr/>
        </p:nvSpPr>
        <p:spPr>
          <a:xfrm>
            <a:off x="7004304" y="43982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102" name="Text 100"/>
          <p:cNvSpPr/>
          <p:nvPr/>
        </p:nvSpPr>
        <p:spPr>
          <a:xfrm>
            <a:off x="7004304" y="459943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generate_report(type=breach_summary)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7004304" y="48006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Report delivered to CRO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Case: Orchestrated Stress Testing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coordinates a multi-system stress test that previously required weeks of manual coordination across teams.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63040" y="1371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Scenario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macro scenario (e.g., 200bp rate shock + 30% equity decline)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ERM MCP for risk factors linked to the scenario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affected counterparties via CPRM MCP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3716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37560" y="201168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201168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 Tests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model re-runs via MRM MCP with stressed parameters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Recalculates counterparty PD/LGD via CPRM MCP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enterprise-level P&amp;L impact via ERM MCP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23760" y="13716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01168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&amp; Act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2606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exceptions for breached limits via Exceptions MCP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audit-ready stress test report via Audit MCP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hedging actions with supporting evidence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1627632"/>
            <a:ext cx="5029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126480" y="1627632"/>
            <a:ext cx="5029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Flow: Multi-Agent Stress Test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675120" y="137160"/>
            <a:ext cx="27432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995160" y="1188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0" y="137160"/>
            <a:ext cx="2743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818120" y="1188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675120" y="347472"/>
            <a:ext cx="274320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3291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731520"/>
            <a:ext cx="128016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731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INIT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685800"/>
            <a:ext cx="224028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12" name="Shape 10"/>
          <p:cNvSpPr/>
          <p:nvPr/>
        </p:nvSpPr>
        <p:spPr>
          <a:xfrm>
            <a:off x="1792224" y="740664"/>
            <a:ext cx="411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792224" y="7406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792224" y="9326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ERM: get_risk_factors(scenario=rate_shock_200bp)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792224" y="11155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18 risk factors identified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977640" y="1024128"/>
            <a:ext cx="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206240" y="685800"/>
            <a:ext cx="224028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18" name="Shape 16"/>
          <p:cNvSpPr/>
          <p:nvPr/>
        </p:nvSpPr>
        <p:spPr>
          <a:xfrm>
            <a:off x="4261104" y="740664"/>
            <a:ext cx="411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261104" y="7406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261104" y="9326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CPRM: get_exposure(risk_factors=[...])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261104" y="11155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42 counterparties exposed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46520" y="1024128"/>
            <a:ext cx="228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675120" y="685800"/>
            <a:ext cx="224028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24" name="Shape 22"/>
          <p:cNvSpPr/>
          <p:nvPr/>
        </p:nvSpPr>
        <p:spPr>
          <a:xfrm>
            <a:off x="6729984" y="740664"/>
            <a:ext cx="411480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6729984" y="7406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729984" y="9326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exposure &gt; materiality?  →  28 counterparties material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729984" y="11155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Fan out to parallel agents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82880" y="1600200"/>
            <a:ext cx="128016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EXECUTE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" y="1938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0" y="137160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0" y="1600200"/>
            <a:ext cx="224028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33" name="Shape 31"/>
          <p:cNvSpPr/>
          <p:nvPr/>
        </p:nvSpPr>
        <p:spPr>
          <a:xfrm>
            <a:off x="1700784" y="165506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700784" y="16550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700784" y="18470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trigger_backtest(params=stressed)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700784" y="20391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28 models re-run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645920" y="2423160"/>
            <a:ext cx="224028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38" name="Shape 36"/>
          <p:cNvSpPr/>
          <p:nvPr/>
        </p:nvSpPr>
        <p:spPr>
          <a:xfrm>
            <a:off x="1700784" y="2478024"/>
            <a:ext cx="411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1700784" y="24780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700784" y="26700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get_validation_status(batch_id)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700784" y="28620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models failed validation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743200" y="2286000"/>
            <a:ext cx="0" cy="13716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114800" y="1600200"/>
            <a:ext cx="224028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44" name="Shape 42"/>
          <p:cNvSpPr/>
          <p:nvPr/>
        </p:nvSpPr>
        <p:spPr>
          <a:xfrm>
            <a:off x="4169664" y="165506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4169664" y="16550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169664" y="18470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recalculate_pd_lgd(stressed=true)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169664" y="20391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PDs increased 2.1x avg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114800" y="2423160"/>
            <a:ext cx="224028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49" name="Shape 47"/>
          <p:cNvSpPr/>
          <p:nvPr/>
        </p:nvSpPr>
        <p:spPr>
          <a:xfrm>
            <a:off x="4169664" y="2478024"/>
            <a:ext cx="411480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0" name="Text 48"/>
          <p:cNvSpPr/>
          <p:nvPr/>
        </p:nvSpPr>
        <p:spPr>
          <a:xfrm>
            <a:off x="4169664" y="24780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169664" y="26700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new_exposure &gt; limit?  →  6 breaches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169664" y="28620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 counterparties breached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212080" y="2286000"/>
            <a:ext cx="0" cy="13716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6583680" y="1600200"/>
            <a:ext cx="224028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55" name="Shape 53"/>
          <p:cNvSpPr/>
          <p:nvPr/>
        </p:nvSpPr>
        <p:spPr>
          <a:xfrm>
            <a:off x="6638544" y="1655064"/>
            <a:ext cx="411480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6" name="Text 54"/>
          <p:cNvSpPr/>
          <p:nvPr/>
        </p:nvSpPr>
        <p:spPr>
          <a:xfrm>
            <a:off x="6638544" y="165506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638544" y="18470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aggregate_pnl(scenario_id)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638544" y="20391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Portfolio impact: -$340M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583680" y="2423160"/>
            <a:ext cx="224028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60" name="Shape 58"/>
          <p:cNvSpPr/>
          <p:nvPr/>
        </p:nvSpPr>
        <p:spPr>
          <a:xfrm>
            <a:off x="6638544" y="247802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6638544" y="24780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638544" y="26700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update_kri(dashboard=stressed)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638544" y="28620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KRI dashboard updated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680960" y="2286000"/>
            <a:ext cx="0" cy="13716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182880" y="3291840"/>
            <a:ext cx="128016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6" name="Text 64"/>
          <p:cNvSpPr/>
          <p:nvPr/>
        </p:nvSpPr>
        <p:spPr>
          <a:xfrm>
            <a:off x="18288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ACT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82880" y="36301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572000" y="31089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645920" y="3291840"/>
            <a:ext cx="224028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70" name="Shape 68"/>
          <p:cNvSpPr/>
          <p:nvPr/>
        </p:nvSpPr>
        <p:spPr>
          <a:xfrm>
            <a:off x="1700784" y="334670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1" name="Text 69"/>
          <p:cNvSpPr/>
          <p:nvPr/>
        </p:nvSpPr>
        <p:spPr>
          <a:xfrm>
            <a:off x="1700784" y="33467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1700784" y="3538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create_exception(breaches=[6], severity=CRITICAL)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1700784" y="37216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 breach exceptions created → CRO routed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114800" y="3291840"/>
            <a:ext cx="224028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75" name="Shape 73"/>
          <p:cNvSpPr/>
          <p:nvPr/>
        </p:nvSpPr>
        <p:spPr>
          <a:xfrm>
            <a:off x="4169664" y="334670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6" name="Text 74"/>
          <p:cNvSpPr/>
          <p:nvPr/>
        </p:nvSpPr>
        <p:spPr>
          <a:xfrm>
            <a:off x="4169664" y="33467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4169664" y="3538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generate_report(type=stress_test, scenario=rate_shock)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169664" y="37216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Regulatory-ready report #ST-2026-Q2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583680" y="3291840"/>
            <a:ext cx="2240280" cy="685800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80" name="Shape 78"/>
          <p:cNvSpPr/>
          <p:nvPr/>
        </p:nvSpPr>
        <p:spPr>
          <a:xfrm>
            <a:off x="6638544" y="3346704"/>
            <a:ext cx="4114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1" name="Text 79"/>
          <p:cNvSpPr/>
          <p:nvPr/>
        </p:nvSpPr>
        <p:spPr>
          <a:xfrm>
            <a:off x="6638544" y="33467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6638544" y="3538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notify_stakeholders(cro, head_mr, head_cp)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6638544" y="37216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Executive briefing with interactive dashboard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182880" y="4206240"/>
            <a:ext cx="8778240" cy="38404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85" name="Text 83"/>
          <p:cNvSpPr/>
          <p:nvPr/>
        </p:nvSpPr>
        <p:spPr>
          <a:xfrm>
            <a:off x="182880" y="42062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  ·  INIT → PARALLEL EXECUTE → CONVERGE &amp; ACT  ·  12 MCP calls  ·  5 agents  ·  28 models stress-tested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82880" y="4663440"/>
            <a:ext cx="8778240" cy="347472"/>
          </a:xfrm>
          <a:prstGeom prst="rect">
            <a:avLst/>
          </a:prstGeom>
          <a:solidFill>
            <a:srgbClr val="162555"/>
          </a:solidFill>
          <a:ln/>
        </p:spPr>
      </p:sp>
      <p:sp>
        <p:nvSpPr>
          <p:cNvPr id="87" name="Text 85"/>
          <p:cNvSpPr/>
          <p:nvPr/>
        </p:nvSpPr>
        <p:spPr>
          <a:xfrm>
            <a:off x="182880" y="466344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Fan-Out / Fan-In  —  Orchestrator delegates to parallel domain agents, then converges results for coordinated action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Case: Audit-Driven Risk Discovery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finding in one domain triggers an intelligent investigation across the entire risk landscape.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0" y="1417320"/>
            <a:ext cx="329184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1417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Finding: Model governance gap identified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4688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468880"/>
            <a:ext cx="64008" cy="1554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MRM Investigation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scans all models for similar governance gaps — finds 3 more models with missing validation sign-offs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24688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468880"/>
            <a:ext cx="64008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ERM Correlation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926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risk register — discovers the gap traces to a control that was marked 'effective' but never tested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24688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468880"/>
            <a:ext cx="64008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CPRM Impact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926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2 counterparty exposure models affected by the governance gap — recalculates potential exposure delta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91640" y="2057400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0" y="2057400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360920" y="2057400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370832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0584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auto-generates: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05840" y="45902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new exception requests  ·  1 control re-assessment in ERM  ·  2 model re-validation tickets  ·  Full audit trail with causal chain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Patterns Enabled by MCP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1554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Triage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645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risk events and autonomously decides which systems to query and what actions to take based on severity and policy.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73152" cy="1554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Multi-Tool Orchestration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0" y="1645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prompt triggers a chain of MCP tool calls across ERM, MRM, CPRM — the agent plans and sequences the workflow.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92608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2926080"/>
            <a:ext cx="73152" cy="1554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08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 Reasoning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80160" y="34747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evaluates its own findings, cross-validates between systems, and only escalates when thresholds are genuinely breached.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292608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2926080"/>
            <a:ext cx="73152" cy="15544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089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0" y="34747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high-impact decisions (limit breaches, model retirement), the agent prepares a recommendation and routes to the right approver.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Projected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improvements across speed, coverage, and compliance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377440"/>
          </a:xfrm>
          <a:prstGeom prst="rect">
            <a:avLst/>
          </a:prstGeom>
          <a:solidFill>
            <a:srgbClr val="16255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handoff time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51760" y="1463040"/>
            <a:ext cx="1920240" cy="2377440"/>
          </a:xfrm>
          <a:prstGeom prst="rect">
            <a:avLst/>
          </a:prstGeom>
          <a:solidFill>
            <a:srgbClr val="1625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5176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265176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coverage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46320" y="1463040"/>
            <a:ext cx="1920240" cy="2377440"/>
          </a:xfrm>
          <a:prstGeom prst="rect">
            <a:avLst/>
          </a:prstGeom>
          <a:solidFill>
            <a:srgbClr val="1625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7373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484632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040880" y="1463040"/>
            <a:ext cx="1920240" cy="2377440"/>
          </a:xfrm>
          <a:prstGeom prst="rect">
            <a:avLst/>
          </a:prstGeom>
          <a:solidFill>
            <a:srgbClr val="1625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7373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5x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704088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exception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operational risk   ·   Stronger compliance posture   ·   Freed-up analyst capacity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804672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1234440" y="1463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828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MCP servers for each risk app wrapping existing APIs. Establish auth &amp; governance.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06040" y="2103120"/>
            <a:ext cx="1828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2103120"/>
            <a:ext cx="1828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487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9748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Single-Domain Agents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agents within each domain (e.g., MRM drift agent, CPRM monitor agent). Validate tool schemas.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14630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3440" y="2103120"/>
            <a:ext cx="1828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103120"/>
            <a:ext cx="1828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487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Cross-Domain Orchestration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multi-MCP agent workflows. Implement human-in-the-loop for high-impact decisions.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06640" y="146304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20840" y="2103120"/>
            <a:ext cx="1828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0840" y="2103120"/>
            <a:ext cx="18288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12280" y="2487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1228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Operations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12280" y="3108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risk management with continuous monitoring, auto-remediation, and self-improving workflows.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2F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097280"/>
            <a:ext cx="109728" cy="2926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188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13055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30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highest-impact cross-system risk workflow for a pilot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263347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33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MCP server frameworks and select the governance model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313639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36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MCP servers for two applications and build a proof-of-concept agent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363931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cycle-time reduction and audit coverage vs. current baseline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297680"/>
            <a:ext cx="3657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risk management is agentic, connected, and intelligent.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Risk Management with MCP</dc:title>
  <dc:subject>PptxGenJS Presentation</dc:subject>
  <dc:creator>Risk Management Team</dc:creator>
  <cp:lastModifiedBy>Risk Management Team</cp:lastModifiedBy>
  <cp:revision>1</cp:revision>
  <dcterms:created xsi:type="dcterms:W3CDTF">2026-05-20T08:09:12Z</dcterms:created>
  <dcterms:modified xsi:type="dcterms:W3CDTF">2026-05-20T08:09:12Z</dcterms:modified>
</cp:coreProperties>
</file>